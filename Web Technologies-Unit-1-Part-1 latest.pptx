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35" r:id="rId6"/>
    <p:sldId id="336" r:id="rId7"/>
    <p:sldId id="337" r:id="rId8"/>
    <p:sldId id="338" r:id="rId9"/>
    <p:sldId id="339" r:id="rId10"/>
    <p:sldId id="340" r:id="rId11"/>
    <p:sldId id="257" r:id="rId12"/>
    <p:sldId id="258" r:id="rId13"/>
    <p:sldId id="331" r:id="rId14"/>
    <p:sldId id="332" r:id="rId15"/>
    <p:sldId id="260" r:id="rId16"/>
    <p:sldId id="265" r:id="rId17"/>
    <p:sldId id="264" r:id="rId18"/>
    <p:sldId id="267" r:id="rId19"/>
    <p:sldId id="268" r:id="rId20"/>
    <p:sldId id="352" r:id="rId21"/>
    <p:sldId id="269" r:id="rId22"/>
    <p:sldId id="270" r:id="rId23"/>
    <p:sldId id="271" r:id="rId24"/>
    <p:sldId id="353" r:id="rId25"/>
    <p:sldId id="354" r:id="rId26"/>
    <p:sldId id="355" r:id="rId27"/>
    <p:sldId id="342" r:id="rId28"/>
    <p:sldId id="323" r:id="rId29"/>
    <p:sldId id="324" r:id="rId30"/>
    <p:sldId id="266" r:id="rId31"/>
    <p:sldId id="272" r:id="rId32"/>
    <p:sldId id="274" r:id="rId33"/>
    <p:sldId id="275" r:id="rId34"/>
    <p:sldId id="276" r:id="rId35"/>
    <p:sldId id="279" r:id="rId36"/>
    <p:sldId id="280" r:id="rId37"/>
    <p:sldId id="341" r:id="rId38"/>
    <p:sldId id="281" r:id="rId39"/>
    <p:sldId id="282" r:id="rId40"/>
    <p:sldId id="285" r:id="rId41"/>
    <p:sldId id="284" r:id="rId42"/>
    <p:sldId id="283" r:id="rId43"/>
    <p:sldId id="286" r:id="rId44"/>
    <p:sldId id="287" r:id="rId45"/>
    <p:sldId id="289" r:id="rId46"/>
    <p:sldId id="347" r:id="rId47"/>
    <p:sldId id="288" r:id="rId48"/>
    <p:sldId id="290" r:id="rId49"/>
    <p:sldId id="292" r:id="rId50"/>
    <p:sldId id="291" r:id="rId51"/>
    <p:sldId id="293" r:id="rId52"/>
    <p:sldId id="343" r:id="rId53"/>
    <p:sldId id="344" r:id="rId54"/>
    <p:sldId id="345" r:id="rId55"/>
    <p:sldId id="346" r:id="rId56"/>
    <p:sldId id="348" r:id="rId57"/>
    <p:sldId id="349" r:id="rId58"/>
    <p:sldId id="350" r:id="rId59"/>
    <p:sldId id="317" r:id="rId60"/>
    <p:sldId id="294" r:id="rId61"/>
    <p:sldId id="295" r:id="rId62"/>
    <p:sldId id="296" r:id="rId63"/>
    <p:sldId id="351" r:id="rId64"/>
    <p:sldId id="297" r:id="rId65"/>
    <p:sldId id="298" r:id="rId66"/>
    <p:sldId id="299" r:id="rId67"/>
    <p:sldId id="300" r:id="rId68"/>
    <p:sldId id="301" r:id="rId69"/>
    <p:sldId id="307" r:id="rId70"/>
    <p:sldId id="308" r:id="rId71"/>
    <p:sldId id="309" r:id="rId72"/>
    <p:sldId id="310" r:id="rId73"/>
    <p:sldId id="311" r:id="rId74"/>
    <p:sldId id="312" r:id="rId75"/>
    <p:sldId id="313" r:id="rId76"/>
    <p:sldId id="314" r:id="rId77"/>
    <p:sldId id="318" r:id="rId78"/>
    <p:sldId id="315" r:id="rId79"/>
    <p:sldId id="316" r:id="rId80"/>
    <p:sldId id="319" r:id="rId81"/>
    <p:sldId id="320" r:id="rId82"/>
    <p:sldId id="321" r:id="rId83"/>
    <p:sldId id="322"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snapToGrid="0">
      <p:cViewPr varScale="1">
        <p:scale>
          <a:sx n="85" d="100"/>
          <a:sy n="85" d="100"/>
        </p:scale>
        <p:origin x="77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A7D6C86-A577-445D-9692-D71041188A9F}"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680789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A7D6C86-A577-445D-9692-D71041188A9F}"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31277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7D6C86-A577-445D-9692-D71041188A9F}"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1667896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A7D6C86-A577-445D-9692-D71041188A9F}"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2477789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A7D6C86-A577-445D-9692-D71041188A9F}" type="datetimeFigureOut">
              <a:rPr lang="en-IN" smtClean="0"/>
              <a:t>01-07-2026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3847462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A7D6C86-A577-445D-9692-D71041188A9F}" type="datetimeFigureOut">
              <a:rPr lang="en-IN" smtClean="0"/>
              <a:t>01-07-2026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450119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7D6C86-A577-445D-9692-D71041188A9F}" type="datetimeFigureOut">
              <a:rPr lang="en-IN" smtClean="0"/>
              <a:t>01-07-2026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3825644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7D6C86-A577-445D-9692-D71041188A9F}"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374448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7D6C86-A577-445D-9692-D71041188A9F}"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3928653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A7D6C86-A577-445D-9692-D71041188A9F}"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1945471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A7D6C86-A577-445D-9692-D71041188A9F}"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22936-F23C-4611-94E2-4B01F5812069}" type="slidenum">
              <a:rPr lang="en-IN" smtClean="0"/>
              <a:t>‹#›</a:t>
            </a:fld>
            <a:endParaRPr lang="en-IN"/>
          </a:p>
        </p:txBody>
      </p:sp>
    </p:spTree>
    <p:extLst>
      <p:ext uri="{BB962C8B-B14F-4D97-AF65-F5344CB8AC3E}">
        <p14:creationId xmlns:p14="http://schemas.microsoft.com/office/powerpoint/2010/main" val="2952342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7D6C86-A577-445D-9692-D71041188A9F}" type="datetimeFigureOut">
              <a:rPr lang="en-IN" smtClean="0"/>
              <a:t>01-07-2026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F22936-F23C-4611-94E2-4B01F5812069}" type="slidenum">
              <a:rPr lang="en-IN" smtClean="0"/>
              <a:t>‹#›</a:t>
            </a:fld>
            <a:endParaRPr lang="en-IN"/>
          </a:p>
        </p:txBody>
      </p:sp>
    </p:spTree>
    <p:extLst>
      <p:ext uri="{BB962C8B-B14F-4D97-AF65-F5344CB8AC3E}">
        <p14:creationId xmlns:p14="http://schemas.microsoft.com/office/powerpoint/2010/main" val="3851806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Web Technologies</a:t>
            </a:r>
            <a:endParaRPr lang="en-IN" dirty="0"/>
          </a:p>
        </p:txBody>
      </p:sp>
      <p:sp>
        <p:nvSpPr>
          <p:cNvPr id="3" name="Subtitle 2"/>
          <p:cNvSpPr>
            <a:spLocks noGrp="1"/>
          </p:cNvSpPr>
          <p:nvPr>
            <p:ph type="subTitle" idx="1"/>
          </p:nvPr>
        </p:nvSpPr>
        <p:spPr/>
        <p:txBody>
          <a:bodyPr>
            <a:normAutofit/>
          </a:bodyPr>
          <a:lstStyle/>
          <a:p>
            <a:r>
              <a:rPr lang="en-IN" b="1" dirty="0"/>
              <a:t>UNIT I JAVA </a:t>
            </a:r>
            <a:r>
              <a:rPr lang="en-IN" b="1" dirty="0" smtClean="0"/>
              <a:t>FUNDAMENTALS</a:t>
            </a:r>
            <a:endParaRPr lang="en-IN" b="1" dirty="0"/>
          </a:p>
        </p:txBody>
      </p:sp>
    </p:spTree>
    <p:extLst>
      <p:ext uri="{BB962C8B-B14F-4D97-AF65-F5344CB8AC3E}">
        <p14:creationId xmlns:p14="http://schemas.microsoft.com/office/powerpoint/2010/main" val="1480356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Java</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1991 – Birth of the </a:t>
            </a:r>
            <a:r>
              <a:rPr lang="en-US" b="1" dirty="0" smtClean="0"/>
              <a:t>Idea</a:t>
            </a:r>
          </a:p>
          <a:p>
            <a:r>
              <a:rPr lang="en-US" dirty="0" smtClean="0"/>
              <a:t>Project </a:t>
            </a:r>
            <a:r>
              <a:rPr lang="en-US" dirty="0"/>
              <a:t>Green: Java began as a project by James Gosling, Mike Sheridan, and Patrick </a:t>
            </a:r>
            <a:r>
              <a:rPr lang="en-US" dirty="0" err="1"/>
              <a:t>Naughton</a:t>
            </a:r>
            <a:r>
              <a:rPr lang="en-US" dirty="0"/>
              <a:t> at Sun Microsystems</a:t>
            </a:r>
            <a:r>
              <a:rPr lang="en-US" dirty="0" smtClean="0"/>
              <a:t>.</a:t>
            </a:r>
          </a:p>
          <a:p>
            <a:r>
              <a:rPr lang="en-US" dirty="0" smtClean="0"/>
              <a:t>Originally </a:t>
            </a:r>
            <a:r>
              <a:rPr lang="en-US" dirty="0"/>
              <a:t>designed for embedded systems and appliances (like set-top boxes</a:t>
            </a:r>
            <a:r>
              <a:rPr lang="en-US" dirty="0" smtClean="0"/>
              <a:t>).</a:t>
            </a:r>
          </a:p>
          <a:p>
            <a:r>
              <a:rPr lang="en-US" dirty="0" smtClean="0"/>
              <a:t>The </a:t>
            </a:r>
            <a:r>
              <a:rPr lang="en-US" dirty="0"/>
              <a:t>language was initially called Oak, named after an oak tree outside Gosling's office</a:t>
            </a:r>
            <a:r>
              <a:rPr lang="en-US" dirty="0" smtClean="0"/>
              <a:t>.</a:t>
            </a:r>
          </a:p>
          <a:p>
            <a:pPr marL="0" indent="0">
              <a:buNone/>
            </a:pPr>
            <a:r>
              <a:rPr lang="en-US" b="1" dirty="0" smtClean="0"/>
              <a:t>1995 </a:t>
            </a:r>
            <a:r>
              <a:rPr lang="en-US" b="1" dirty="0"/>
              <a:t>– Official Launch as </a:t>
            </a:r>
            <a:r>
              <a:rPr lang="en-US" b="1" dirty="0" smtClean="0"/>
              <a:t>Java</a:t>
            </a:r>
          </a:p>
          <a:p>
            <a:r>
              <a:rPr lang="en-US" dirty="0" smtClean="0"/>
              <a:t>Oak </a:t>
            </a:r>
            <a:r>
              <a:rPr lang="en-US" dirty="0"/>
              <a:t>was renamed to Java (Oak was already a trademark</a:t>
            </a:r>
            <a:r>
              <a:rPr lang="en-US" dirty="0" smtClean="0"/>
              <a:t>).</a:t>
            </a:r>
          </a:p>
          <a:p>
            <a:r>
              <a:rPr lang="en-US" dirty="0" smtClean="0"/>
              <a:t>Sun </a:t>
            </a:r>
            <a:r>
              <a:rPr lang="en-US" dirty="0"/>
              <a:t>Microsystems officially launched Java in May 1995</a:t>
            </a:r>
            <a:r>
              <a:rPr lang="en-US" dirty="0" smtClean="0"/>
              <a:t>.</a:t>
            </a:r>
          </a:p>
          <a:p>
            <a:r>
              <a:rPr lang="en-US" dirty="0" smtClean="0"/>
              <a:t>Released </a:t>
            </a:r>
            <a:r>
              <a:rPr lang="en-US" dirty="0"/>
              <a:t>with the slogan: "Write Once, Run Anywhere" (WORA) — thanks to the Java Virtual Machine (JVM).</a:t>
            </a:r>
            <a:endParaRPr lang="en-IN" dirty="0"/>
          </a:p>
        </p:txBody>
      </p:sp>
    </p:spTree>
    <p:extLst>
      <p:ext uri="{BB962C8B-B14F-4D97-AF65-F5344CB8AC3E}">
        <p14:creationId xmlns:p14="http://schemas.microsoft.com/office/powerpoint/2010/main" val="3490150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Java</a:t>
            </a:r>
            <a:endParaRPr lang="en-IN" dirty="0"/>
          </a:p>
        </p:txBody>
      </p:sp>
      <p:sp>
        <p:nvSpPr>
          <p:cNvPr id="3" name="Content Placeholder 2"/>
          <p:cNvSpPr>
            <a:spLocks noGrp="1"/>
          </p:cNvSpPr>
          <p:nvPr>
            <p:ph idx="1"/>
          </p:nvPr>
        </p:nvSpPr>
        <p:spPr>
          <a:xfrm>
            <a:off x="838200" y="1501422"/>
            <a:ext cx="10515600" cy="4675541"/>
          </a:xfrm>
        </p:spPr>
        <p:txBody>
          <a:bodyPr>
            <a:normAutofit fontScale="85000" lnSpcReduction="20000"/>
          </a:bodyPr>
          <a:lstStyle/>
          <a:p>
            <a:pPr marL="0" indent="0">
              <a:buNone/>
            </a:pPr>
            <a:r>
              <a:rPr lang="en-IN" b="1" dirty="0"/>
              <a:t>Key Features </a:t>
            </a:r>
            <a:r>
              <a:rPr lang="en-IN" b="1" dirty="0" smtClean="0"/>
              <a:t>Introduced</a:t>
            </a:r>
          </a:p>
          <a:p>
            <a:r>
              <a:rPr lang="en-IN" dirty="0" smtClean="0"/>
              <a:t>Platform </a:t>
            </a:r>
            <a:r>
              <a:rPr lang="en-IN" dirty="0"/>
              <a:t>independence using the JVM</a:t>
            </a:r>
            <a:r>
              <a:rPr lang="en-IN" dirty="0" smtClean="0"/>
              <a:t>.</a:t>
            </a:r>
          </a:p>
          <a:p>
            <a:r>
              <a:rPr lang="en-IN" dirty="0" smtClean="0"/>
              <a:t>Object-oriented </a:t>
            </a:r>
            <a:r>
              <a:rPr lang="en-IN" dirty="0"/>
              <a:t>design</a:t>
            </a:r>
            <a:r>
              <a:rPr lang="en-IN" dirty="0" smtClean="0"/>
              <a:t>.</a:t>
            </a:r>
          </a:p>
          <a:p>
            <a:r>
              <a:rPr lang="en-IN" dirty="0" smtClean="0"/>
              <a:t>Robust </a:t>
            </a:r>
            <a:r>
              <a:rPr lang="en-IN" dirty="0"/>
              <a:t>memory management (automatic garbage collection</a:t>
            </a:r>
            <a:r>
              <a:rPr lang="en-IN" dirty="0" smtClean="0"/>
              <a:t>).</a:t>
            </a:r>
          </a:p>
          <a:p>
            <a:r>
              <a:rPr lang="en-IN" dirty="0" smtClean="0"/>
              <a:t>Network-centric </a:t>
            </a:r>
            <a:r>
              <a:rPr lang="en-IN" dirty="0"/>
              <a:t>programming</a:t>
            </a:r>
            <a:r>
              <a:rPr lang="en-IN" dirty="0" smtClean="0"/>
              <a:t>.</a:t>
            </a:r>
          </a:p>
          <a:p>
            <a:pPr marL="0" indent="0">
              <a:buNone/>
            </a:pPr>
            <a:r>
              <a:rPr lang="en-IN" b="1" dirty="0" smtClean="0"/>
              <a:t>1996–1999 </a:t>
            </a:r>
            <a:r>
              <a:rPr lang="en-IN" b="1" dirty="0"/>
              <a:t>– Early </a:t>
            </a:r>
            <a:r>
              <a:rPr lang="en-IN" b="1" dirty="0" smtClean="0"/>
              <a:t>Growth</a:t>
            </a:r>
          </a:p>
          <a:p>
            <a:r>
              <a:rPr lang="en-IN" dirty="0" smtClean="0"/>
              <a:t>Java </a:t>
            </a:r>
            <a:r>
              <a:rPr lang="en-IN" dirty="0"/>
              <a:t>Development Kit (JDK) 1.0 and 1.1 released</a:t>
            </a:r>
            <a:r>
              <a:rPr lang="en-IN" dirty="0" smtClean="0"/>
              <a:t>.</a:t>
            </a:r>
          </a:p>
          <a:p>
            <a:r>
              <a:rPr lang="en-IN" dirty="0" smtClean="0"/>
              <a:t>Quickly </a:t>
            </a:r>
            <a:r>
              <a:rPr lang="en-IN" dirty="0"/>
              <a:t>gained popularity for web applets and server-side </a:t>
            </a:r>
            <a:r>
              <a:rPr lang="en-IN" dirty="0" smtClean="0"/>
              <a:t>applications.</a:t>
            </a:r>
          </a:p>
          <a:p>
            <a:r>
              <a:rPr lang="en-IN" dirty="0" smtClean="0"/>
              <a:t>Launch </a:t>
            </a:r>
            <a:r>
              <a:rPr lang="en-IN" dirty="0"/>
              <a:t>of Java 2 (J2SE, J2EE, J2ME</a:t>
            </a:r>
            <a:r>
              <a:rPr lang="en-IN" dirty="0" smtClean="0"/>
              <a:t>):</a:t>
            </a:r>
          </a:p>
          <a:p>
            <a:pPr>
              <a:buFont typeface="Wingdings" panose="05000000000000000000" pitchFamily="2" charset="2"/>
              <a:buChar char="ü"/>
            </a:pPr>
            <a:r>
              <a:rPr lang="en-IN" dirty="0" smtClean="0"/>
              <a:t>J2SE </a:t>
            </a:r>
            <a:r>
              <a:rPr lang="en-IN" dirty="0"/>
              <a:t>– Standard </a:t>
            </a:r>
            <a:r>
              <a:rPr lang="en-IN" dirty="0" smtClean="0"/>
              <a:t>Edition</a:t>
            </a:r>
          </a:p>
          <a:p>
            <a:pPr>
              <a:buFont typeface="Wingdings" panose="05000000000000000000" pitchFamily="2" charset="2"/>
              <a:buChar char="ü"/>
            </a:pPr>
            <a:r>
              <a:rPr lang="en-IN" dirty="0" smtClean="0"/>
              <a:t>J2EE </a:t>
            </a:r>
            <a:r>
              <a:rPr lang="en-IN" dirty="0"/>
              <a:t>– Enterprise </a:t>
            </a:r>
            <a:r>
              <a:rPr lang="en-IN" dirty="0" smtClean="0"/>
              <a:t>Edition</a:t>
            </a:r>
          </a:p>
          <a:p>
            <a:pPr>
              <a:buFont typeface="Wingdings" panose="05000000000000000000" pitchFamily="2" charset="2"/>
              <a:buChar char="ü"/>
            </a:pPr>
            <a:r>
              <a:rPr lang="en-IN" dirty="0" smtClean="0"/>
              <a:t>J2ME </a:t>
            </a:r>
            <a:r>
              <a:rPr lang="en-IN" dirty="0"/>
              <a:t>– Micro Edition (for mobile and embedded)</a:t>
            </a:r>
          </a:p>
        </p:txBody>
      </p:sp>
    </p:spTree>
    <p:extLst>
      <p:ext uri="{BB962C8B-B14F-4D97-AF65-F5344CB8AC3E}">
        <p14:creationId xmlns:p14="http://schemas.microsoft.com/office/powerpoint/2010/main" val="4057078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Java</a:t>
            </a:r>
            <a:endParaRPr lang="en-IN" dirty="0"/>
          </a:p>
        </p:txBody>
      </p:sp>
      <p:sp>
        <p:nvSpPr>
          <p:cNvPr id="3" name="Content Placeholder 2"/>
          <p:cNvSpPr>
            <a:spLocks noGrp="1"/>
          </p:cNvSpPr>
          <p:nvPr>
            <p:ph idx="1"/>
          </p:nvPr>
        </p:nvSpPr>
        <p:spPr/>
        <p:txBody>
          <a:bodyPr>
            <a:normAutofit/>
          </a:bodyPr>
          <a:lstStyle/>
          <a:p>
            <a:pPr marL="0" indent="0">
              <a:buNone/>
            </a:pPr>
            <a:r>
              <a:rPr lang="en-IN" b="1" dirty="0"/>
              <a:t>2000s – Enterprise </a:t>
            </a:r>
            <a:r>
              <a:rPr lang="en-IN" b="1" dirty="0" smtClean="0"/>
              <a:t>Domination</a:t>
            </a:r>
          </a:p>
          <a:p>
            <a:r>
              <a:rPr lang="en-IN" dirty="0" smtClean="0"/>
              <a:t>Java </a:t>
            </a:r>
            <a:r>
              <a:rPr lang="en-IN" dirty="0"/>
              <a:t>became dominant in enterprise applications (banking, web apps</a:t>
            </a:r>
            <a:r>
              <a:rPr lang="en-IN" dirty="0" smtClean="0"/>
              <a:t>).</a:t>
            </a:r>
          </a:p>
          <a:p>
            <a:r>
              <a:rPr lang="en-IN" dirty="0" smtClean="0"/>
              <a:t>Introduction </a:t>
            </a:r>
            <a:r>
              <a:rPr lang="en-IN" dirty="0"/>
              <a:t>of Java Server Pages (JSP) and Servlets</a:t>
            </a:r>
            <a:r>
              <a:rPr lang="en-IN" dirty="0" smtClean="0"/>
              <a:t>.</a:t>
            </a:r>
          </a:p>
          <a:p>
            <a:r>
              <a:rPr lang="en-IN" dirty="0" smtClean="0"/>
              <a:t>Tools </a:t>
            </a:r>
            <a:r>
              <a:rPr lang="en-IN" dirty="0"/>
              <a:t>like Eclipse, NetBeans, and Spring Framework emerged</a:t>
            </a:r>
            <a:r>
              <a:rPr lang="en-IN" dirty="0" smtClean="0"/>
              <a:t>.</a:t>
            </a:r>
          </a:p>
          <a:p>
            <a:pPr marL="0" indent="0">
              <a:buNone/>
            </a:pPr>
            <a:r>
              <a:rPr lang="en-IN" b="1" dirty="0" smtClean="0"/>
              <a:t>2006 </a:t>
            </a:r>
            <a:r>
              <a:rPr lang="en-IN" b="1" dirty="0"/>
              <a:t>– Java Goes Open </a:t>
            </a:r>
            <a:r>
              <a:rPr lang="en-IN" b="1" dirty="0" smtClean="0"/>
              <a:t>Source</a:t>
            </a:r>
          </a:p>
          <a:p>
            <a:r>
              <a:rPr lang="en-IN" dirty="0" smtClean="0"/>
              <a:t>Sun </a:t>
            </a:r>
            <a:r>
              <a:rPr lang="en-IN" dirty="0"/>
              <a:t>open-sourced Java by releasing it under the GNU General Public License (GPL</a:t>
            </a:r>
            <a:r>
              <a:rPr lang="en-IN" dirty="0" smtClean="0"/>
              <a:t>).</a:t>
            </a:r>
          </a:p>
          <a:p>
            <a:r>
              <a:rPr lang="en-IN" dirty="0" smtClean="0"/>
              <a:t>Launch </a:t>
            </a:r>
            <a:r>
              <a:rPr lang="en-IN" dirty="0"/>
              <a:t>of the </a:t>
            </a:r>
            <a:r>
              <a:rPr lang="en-IN" dirty="0" err="1"/>
              <a:t>OpenJDK</a:t>
            </a:r>
            <a:r>
              <a:rPr lang="en-IN" dirty="0"/>
              <a:t> project.</a:t>
            </a:r>
          </a:p>
        </p:txBody>
      </p:sp>
    </p:spTree>
    <p:extLst>
      <p:ext uri="{BB962C8B-B14F-4D97-AF65-F5344CB8AC3E}">
        <p14:creationId xmlns:p14="http://schemas.microsoft.com/office/powerpoint/2010/main" val="946797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Java</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b="1" dirty="0"/>
              <a:t>2010 – Oracle Acquires Sun </a:t>
            </a:r>
            <a:r>
              <a:rPr lang="en-IN" b="1" dirty="0" smtClean="0"/>
              <a:t>Microsystems</a:t>
            </a:r>
          </a:p>
          <a:p>
            <a:r>
              <a:rPr lang="en-IN" dirty="0" smtClean="0"/>
              <a:t>Oracle </a:t>
            </a:r>
            <a:r>
              <a:rPr lang="en-IN" dirty="0"/>
              <a:t>Corporation took over Java’s development</a:t>
            </a:r>
            <a:r>
              <a:rPr lang="en-IN" dirty="0" smtClean="0"/>
              <a:t>.</a:t>
            </a:r>
          </a:p>
          <a:p>
            <a:r>
              <a:rPr lang="en-IN" dirty="0" smtClean="0"/>
              <a:t>Major </a:t>
            </a:r>
            <a:r>
              <a:rPr lang="en-IN" dirty="0"/>
              <a:t>versions began to roll out more consistently</a:t>
            </a:r>
            <a:r>
              <a:rPr lang="en-IN" dirty="0" smtClean="0"/>
              <a:t>.</a:t>
            </a:r>
          </a:p>
          <a:p>
            <a:r>
              <a:rPr lang="en-IN" dirty="0" smtClean="0"/>
              <a:t>Introduction </a:t>
            </a:r>
            <a:r>
              <a:rPr lang="en-IN" dirty="0"/>
              <a:t>of JavaFX for GUI applications</a:t>
            </a:r>
            <a:r>
              <a:rPr lang="en-IN" dirty="0" smtClean="0"/>
              <a:t>.</a:t>
            </a:r>
          </a:p>
          <a:p>
            <a:pPr marL="0" indent="0">
              <a:buNone/>
            </a:pPr>
            <a:r>
              <a:rPr lang="en-IN" b="1" dirty="0" smtClean="0"/>
              <a:t>2014–2017 </a:t>
            </a:r>
            <a:r>
              <a:rPr lang="en-IN" b="1" dirty="0"/>
              <a:t>– Major Language </a:t>
            </a:r>
            <a:r>
              <a:rPr lang="en-IN" b="1" dirty="0" smtClean="0"/>
              <a:t>Enhancements</a:t>
            </a:r>
          </a:p>
          <a:p>
            <a:r>
              <a:rPr lang="en-IN" dirty="0" smtClean="0"/>
              <a:t>Java </a:t>
            </a:r>
            <a:r>
              <a:rPr lang="en-IN" dirty="0"/>
              <a:t>8 introduced</a:t>
            </a:r>
            <a:r>
              <a:rPr lang="en-IN" dirty="0" smtClean="0"/>
              <a:t>:</a:t>
            </a:r>
          </a:p>
          <a:p>
            <a:pPr>
              <a:buFont typeface="Wingdings" panose="05000000000000000000" pitchFamily="2" charset="2"/>
              <a:buChar char="ü"/>
            </a:pPr>
            <a:r>
              <a:rPr lang="en-IN" dirty="0" smtClean="0"/>
              <a:t>Lambdas </a:t>
            </a:r>
            <a:r>
              <a:rPr lang="en-IN" dirty="0"/>
              <a:t>and functional </a:t>
            </a:r>
            <a:r>
              <a:rPr lang="en-IN" dirty="0" smtClean="0"/>
              <a:t>interfaces</a:t>
            </a:r>
          </a:p>
          <a:p>
            <a:pPr>
              <a:buFont typeface="Wingdings" panose="05000000000000000000" pitchFamily="2" charset="2"/>
              <a:buChar char="ü"/>
            </a:pPr>
            <a:r>
              <a:rPr lang="en-IN" dirty="0" smtClean="0"/>
              <a:t>Streams API</a:t>
            </a:r>
          </a:p>
          <a:p>
            <a:pPr>
              <a:buFont typeface="Wingdings" panose="05000000000000000000" pitchFamily="2" charset="2"/>
              <a:buChar char="ü"/>
            </a:pPr>
            <a:r>
              <a:rPr lang="en-IN" dirty="0" smtClean="0"/>
              <a:t>Default </a:t>
            </a:r>
            <a:r>
              <a:rPr lang="en-IN" dirty="0"/>
              <a:t>methods in </a:t>
            </a:r>
            <a:r>
              <a:rPr lang="en-IN" dirty="0" smtClean="0"/>
              <a:t>interfaces</a:t>
            </a:r>
          </a:p>
          <a:p>
            <a:r>
              <a:rPr lang="en-IN" dirty="0" smtClean="0"/>
              <a:t>Java </a:t>
            </a:r>
            <a:r>
              <a:rPr lang="en-IN" dirty="0"/>
              <a:t>9 (2017): Introduced modular programming with the Java Platform Module System (JPMS).</a:t>
            </a:r>
          </a:p>
        </p:txBody>
      </p:sp>
    </p:spTree>
    <p:extLst>
      <p:ext uri="{BB962C8B-B14F-4D97-AF65-F5344CB8AC3E}">
        <p14:creationId xmlns:p14="http://schemas.microsoft.com/office/powerpoint/2010/main" val="2100973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Java</a:t>
            </a:r>
            <a:endParaRPr lang="en-IN" dirty="0"/>
          </a:p>
        </p:txBody>
      </p:sp>
      <p:sp>
        <p:nvSpPr>
          <p:cNvPr id="3" name="Content Placeholder 2"/>
          <p:cNvSpPr>
            <a:spLocks noGrp="1"/>
          </p:cNvSpPr>
          <p:nvPr>
            <p:ph idx="1"/>
          </p:nvPr>
        </p:nvSpPr>
        <p:spPr/>
        <p:txBody>
          <a:bodyPr>
            <a:normAutofit fontScale="92500"/>
          </a:bodyPr>
          <a:lstStyle/>
          <a:p>
            <a:pPr marL="0" indent="0">
              <a:buNone/>
            </a:pPr>
            <a:r>
              <a:rPr lang="en-IN" b="1" dirty="0"/>
              <a:t> 2018 – New Release </a:t>
            </a:r>
            <a:r>
              <a:rPr lang="en-IN" b="1" dirty="0" smtClean="0"/>
              <a:t>Cadence</a:t>
            </a:r>
          </a:p>
          <a:p>
            <a:pPr marL="0" indent="0">
              <a:buNone/>
            </a:pPr>
            <a:r>
              <a:rPr lang="en-IN" dirty="0" smtClean="0"/>
              <a:t>Oracle </a:t>
            </a:r>
            <a:r>
              <a:rPr lang="en-IN" dirty="0"/>
              <a:t>adopted a 6-month release </a:t>
            </a:r>
            <a:r>
              <a:rPr lang="en-IN" dirty="0" smtClean="0"/>
              <a:t>cycle:</a:t>
            </a:r>
          </a:p>
          <a:p>
            <a:pPr marL="0" indent="0">
              <a:buNone/>
            </a:pPr>
            <a:r>
              <a:rPr lang="en-IN" dirty="0" smtClean="0"/>
              <a:t>New </a:t>
            </a:r>
            <a:r>
              <a:rPr lang="en-IN" dirty="0"/>
              <a:t>features added more frequently</a:t>
            </a:r>
            <a:r>
              <a:rPr lang="en-IN" dirty="0" smtClean="0"/>
              <a:t>.</a:t>
            </a:r>
          </a:p>
          <a:p>
            <a:pPr marL="0" indent="0">
              <a:buNone/>
            </a:pPr>
            <a:r>
              <a:rPr lang="en-IN" dirty="0" smtClean="0"/>
              <a:t>LTS </a:t>
            </a:r>
            <a:r>
              <a:rPr lang="en-IN" dirty="0"/>
              <a:t>(Long-Term Support) every 3 years (e.g., Java 8, 11, 17, 21</a:t>
            </a:r>
            <a:r>
              <a:rPr lang="en-IN" dirty="0" smtClean="0"/>
              <a:t>).</a:t>
            </a:r>
          </a:p>
          <a:p>
            <a:pPr marL="0" indent="0">
              <a:buNone/>
            </a:pPr>
            <a:r>
              <a:rPr lang="en-IN" b="1" dirty="0" smtClean="0"/>
              <a:t>Recent </a:t>
            </a:r>
            <a:r>
              <a:rPr lang="en-IN" b="1" dirty="0"/>
              <a:t>Versions (2021–2025</a:t>
            </a:r>
            <a:r>
              <a:rPr lang="en-IN" b="1" dirty="0" smtClean="0"/>
              <a:t>)</a:t>
            </a:r>
          </a:p>
          <a:p>
            <a:pPr marL="0" indent="0">
              <a:buNone/>
            </a:pPr>
            <a:r>
              <a:rPr lang="en-IN" dirty="0" smtClean="0"/>
              <a:t>Java </a:t>
            </a:r>
            <a:r>
              <a:rPr lang="en-IN" dirty="0"/>
              <a:t>17 (2021) – LTS version with performance and syntax improvements</a:t>
            </a:r>
            <a:r>
              <a:rPr lang="en-IN" dirty="0" smtClean="0"/>
              <a:t>.</a:t>
            </a:r>
          </a:p>
          <a:p>
            <a:pPr marL="0" indent="0">
              <a:buNone/>
            </a:pPr>
            <a:r>
              <a:rPr lang="en-IN" dirty="0" smtClean="0"/>
              <a:t>Java </a:t>
            </a:r>
            <a:r>
              <a:rPr lang="en-IN" dirty="0"/>
              <a:t>21 (2023) – Latest LTS with features like record patterns, virtual threads (Project Loom</a:t>
            </a:r>
            <a:r>
              <a:rPr lang="en-IN" dirty="0" smtClean="0"/>
              <a:t>).</a:t>
            </a:r>
          </a:p>
          <a:p>
            <a:pPr marL="0" indent="0">
              <a:buNone/>
            </a:pPr>
            <a:r>
              <a:rPr lang="en-IN" dirty="0" smtClean="0"/>
              <a:t>Continued </a:t>
            </a:r>
            <a:r>
              <a:rPr lang="en-IN" dirty="0"/>
              <a:t>emphasis on performance, modern syntax, and cloud readiness.</a:t>
            </a:r>
          </a:p>
        </p:txBody>
      </p:sp>
    </p:spTree>
    <p:extLst>
      <p:ext uri="{BB962C8B-B14F-4D97-AF65-F5344CB8AC3E}">
        <p14:creationId xmlns:p14="http://schemas.microsoft.com/office/powerpoint/2010/main" val="2436728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t>Powers billions of devices and apps</a:t>
            </a:r>
            <a:r>
              <a:rPr lang="en-US" dirty="0" smtClean="0"/>
              <a:t>.</a:t>
            </a:r>
          </a:p>
          <a:p>
            <a:pPr>
              <a:buFont typeface="Wingdings" panose="05000000000000000000" pitchFamily="2" charset="2"/>
              <a:buChar char="v"/>
            </a:pPr>
            <a:r>
              <a:rPr lang="en-US" dirty="0" smtClean="0"/>
              <a:t>Widely </a:t>
            </a:r>
            <a:r>
              <a:rPr lang="en-US" dirty="0"/>
              <a:t>used in</a:t>
            </a:r>
            <a:r>
              <a:rPr lang="en-US" dirty="0" smtClean="0"/>
              <a:t>:</a:t>
            </a:r>
          </a:p>
          <a:p>
            <a:r>
              <a:rPr lang="en-US" dirty="0" smtClean="0"/>
              <a:t>Enterprise </a:t>
            </a:r>
            <a:r>
              <a:rPr lang="en-US" dirty="0"/>
              <a:t>software (banking, insurance</a:t>
            </a:r>
            <a:r>
              <a:rPr lang="en-US" dirty="0" smtClean="0"/>
              <a:t>)</a:t>
            </a:r>
          </a:p>
          <a:p>
            <a:r>
              <a:rPr lang="en-US" dirty="0" smtClean="0"/>
              <a:t>Android </a:t>
            </a:r>
            <a:r>
              <a:rPr lang="en-US" dirty="0"/>
              <a:t>app </a:t>
            </a:r>
            <a:r>
              <a:rPr lang="en-US" dirty="0" smtClean="0"/>
              <a:t>development</a:t>
            </a:r>
          </a:p>
          <a:p>
            <a:r>
              <a:rPr lang="en-US" dirty="0" smtClean="0"/>
              <a:t>Scientific computing</a:t>
            </a:r>
          </a:p>
          <a:p>
            <a:r>
              <a:rPr lang="en-US" dirty="0" smtClean="0"/>
              <a:t>Cloud </a:t>
            </a:r>
            <a:r>
              <a:rPr lang="en-US" dirty="0"/>
              <a:t>and big data platforms (Hadoop, Spark)</a:t>
            </a:r>
            <a:endParaRPr lang="en-IN" dirty="0"/>
          </a:p>
        </p:txBody>
      </p:sp>
    </p:spTree>
    <p:extLst>
      <p:ext uri="{BB962C8B-B14F-4D97-AF65-F5344CB8AC3E}">
        <p14:creationId xmlns:p14="http://schemas.microsoft.com/office/powerpoint/2010/main" val="3730111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8593"/>
          </a:xfrm>
        </p:spPr>
        <p:txBody>
          <a:bodyPr>
            <a:normAutofit fontScale="90000"/>
          </a:bodyPr>
          <a:lstStyle/>
          <a:p>
            <a:r>
              <a:rPr lang="en-IN" dirty="0" smtClean="0"/>
              <a:t>Introduction to Java</a:t>
            </a:r>
            <a:endParaRPr lang="en-IN" dirty="0"/>
          </a:p>
        </p:txBody>
      </p:sp>
      <p:sp>
        <p:nvSpPr>
          <p:cNvPr id="3" name="Content Placeholder 2"/>
          <p:cNvSpPr>
            <a:spLocks noGrp="1"/>
          </p:cNvSpPr>
          <p:nvPr>
            <p:ph idx="1"/>
          </p:nvPr>
        </p:nvSpPr>
        <p:spPr>
          <a:xfrm>
            <a:off x="838200" y="833718"/>
            <a:ext cx="10515600" cy="5343245"/>
          </a:xfrm>
        </p:spPr>
        <p:txBody>
          <a:bodyPr/>
          <a:lstStyle/>
          <a:p>
            <a:pPr marL="0" indent="0">
              <a:buNone/>
            </a:pPr>
            <a:r>
              <a:rPr lang="en-IN" dirty="0" smtClean="0"/>
              <a:t>Java one of the world’s most widely used computer programming language.</a:t>
            </a:r>
          </a:p>
          <a:p>
            <a:pPr lvl="1"/>
            <a:r>
              <a:rPr lang="en-IN" dirty="0" smtClean="0"/>
              <a:t>Enterprise programming</a:t>
            </a:r>
          </a:p>
          <a:p>
            <a:pPr lvl="1"/>
            <a:r>
              <a:rPr lang="en-IN" dirty="0" smtClean="0"/>
              <a:t>Implement Internet based applications</a:t>
            </a:r>
          </a:p>
          <a:p>
            <a:pPr marL="0" indent="0">
              <a:buNone/>
            </a:pPr>
            <a:r>
              <a:rPr lang="en-IN" dirty="0" smtClean="0"/>
              <a:t>Java Standard Edition</a:t>
            </a:r>
          </a:p>
          <a:p>
            <a:pPr marL="0" indent="0">
              <a:buNone/>
            </a:pPr>
            <a:r>
              <a:rPr lang="en-IN" dirty="0" smtClean="0"/>
              <a:t>Java Enterprise Edition</a:t>
            </a:r>
          </a:p>
          <a:p>
            <a:pPr marL="0" indent="0">
              <a:buNone/>
            </a:pPr>
            <a:r>
              <a:rPr lang="en-IN" dirty="0" smtClean="0"/>
              <a:t>Java Micro Edition</a:t>
            </a:r>
          </a:p>
          <a:p>
            <a:pPr marL="0" indent="0">
              <a:buNone/>
            </a:pPr>
            <a:r>
              <a:rPr lang="en-IN" dirty="0" smtClean="0"/>
              <a:t>Java derives much of its character from C &amp; C++</a:t>
            </a:r>
          </a:p>
          <a:p>
            <a:pPr lvl="1"/>
            <a:r>
              <a:rPr lang="en-IN" dirty="0" smtClean="0"/>
              <a:t>Syntax of C</a:t>
            </a:r>
          </a:p>
          <a:p>
            <a:pPr lvl="1"/>
            <a:r>
              <a:rPr lang="en-IN" dirty="0" smtClean="0"/>
              <a:t>echoing object oriented features of </a:t>
            </a:r>
            <a:r>
              <a:rPr lang="en-IN" dirty="0"/>
              <a:t>C</a:t>
            </a:r>
            <a:r>
              <a:rPr lang="en-IN" dirty="0" smtClean="0"/>
              <a:t>++</a:t>
            </a:r>
          </a:p>
          <a:p>
            <a:pPr marL="0" indent="0">
              <a:buNone/>
            </a:pPr>
            <a:r>
              <a:rPr lang="en-IN" dirty="0" smtClean="0"/>
              <a:t>Java- Programmer’s Language</a:t>
            </a:r>
            <a:endParaRPr lang="en-IN" dirty="0"/>
          </a:p>
        </p:txBody>
      </p:sp>
    </p:spTree>
    <p:extLst>
      <p:ext uri="{BB962C8B-B14F-4D97-AF65-F5344CB8AC3E}">
        <p14:creationId xmlns:p14="http://schemas.microsoft.com/office/powerpoint/2010/main" val="1092702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529" y="0"/>
            <a:ext cx="10515600" cy="468593"/>
          </a:xfrm>
        </p:spPr>
        <p:txBody>
          <a:bodyPr>
            <a:normAutofit fontScale="90000"/>
          </a:bodyPr>
          <a:lstStyle/>
          <a:p>
            <a:r>
              <a:rPr lang="en-IN" dirty="0" smtClean="0"/>
              <a:t>Introduction to Java</a:t>
            </a:r>
            <a:endParaRPr lang="en-IN" dirty="0"/>
          </a:p>
        </p:txBody>
      </p:sp>
      <p:sp>
        <p:nvSpPr>
          <p:cNvPr id="3" name="Content Placeholder 2"/>
          <p:cNvSpPr>
            <a:spLocks noGrp="1"/>
          </p:cNvSpPr>
          <p:nvPr>
            <p:ph idx="1"/>
          </p:nvPr>
        </p:nvSpPr>
        <p:spPr>
          <a:xfrm>
            <a:off x="246529" y="468593"/>
            <a:ext cx="11828930" cy="6268383"/>
          </a:xfrm>
        </p:spPr>
        <p:txBody>
          <a:bodyPr>
            <a:normAutofit fontScale="32500" lnSpcReduction="20000"/>
          </a:bodyPr>
          <a:lstStyle/>
          <a:p>
            <a:pPr marL="0" indent="0">
              <a:buNone/>
            </a:pPr>
            <a:r>
              <a:rPr lang="en-IN" sz="4900" b="1" dirty="0" smtClean="0"/>
              <a:t>Features of Java (Java Buzzwords)</a:t>
            </a:r>
          </a:p>
          <a:p>
            <a:pPr marL="0" indent="0">
              <a:buNone/>
            </a:pPr>
            <a:r>
              <a:rPr lang="en-IN" sz="5500" dirty="0" smtClean="0"/>
              <a:t>The primary objective of Java programming language creation was to make it portable, simple and secure programming language.</a:t>
            </a:r>
          </a:p>
          <a:p>
            <a:r>
              <a:rPr lang="en-IN" sz="5500" b="1" dirty="0"/>
              <a:t>Simple</a:t>
            </a:r>
          </a:p>
          <a:p>
            <a:pPr marL="0" indent="0">
              <a:buNone/>
            </a:pPr>
            <a:r>
              <a:rPr lang="en-IN" sz="5500" dirty="0" smtClean="0"/>
              <a:t>	Java </a:t>
            </a:r>
            <a:r>
              <a:rPr lang="en-IN" sz="5500" dirty="0"/>
              <a:t>is very easy to learn, and its syntax is simple, clean and easy to understand</a:t>
            </a:r>
            <a:r>
              <a:rPr lang="en-IN" sz="5500" dirty="0" smtClean="0"/>
              <a:t>.</a:t>
            </a:r>
          </a:p>
          <a:p>
            <a:r>
              <a:rPr lang="en-IN" sz="5500" b="1" dirty="0" smtClean="0"/>
              <a:t>Object-oriented</a:t>
            </a:r>
          </a:p>
          <a:p>
            <a:pPr marL="0" indent="0">
              <a:buNone/>
            </a:pPr>
            <a:r>
              <a:rPr lang="en-IN" sz="5500" dirty="0" smtClean="0"/>
              <a:t>	Java is an object-oriented programming language. Everything in Java is an object. </a:t>
            </a:r>
          </a:p>
          <a:p>
            <a:r>
              <a:rPr lang="en-IN" sz="5500" b="1" dirty="0" smtClean="0"/>
              <a:t>Platform Independent</a:t>
            </a:r>
          </a:p>
          <a:p>
            <a:pPr marL="0" indent="0">
              <a:buNone/>
            </a:pPr>
            <a:r>
              <a:rPr lang="en-IN" sz="5500" dirty="0" smtClean="0"/>
              <a:t>	Java is platform independent</a:t>
            </a:r>
          </a:p>
          <a:p>
            <a:pPr marL="0" indent="0">
              <a:buNone/>
            </a:pPr>
            <a:r>
              <a:rPr lang="en-IN" sz="5500" dirty="0" smtClean="0"/>
              <a:t>	Java is platform independent because it is different from other languages like C, C++, etc. which are compiled into platform specific machines while Java is a write once, run anywhere language. </a:t>
            </a:r>
          </a:p>
          <a:p>
            <a:pPr marL="0" indent="0">
              <a:buNone/>
            </a:pPr>
            <a:r>
              <a:rPr lang="en-IN" sz="5500" dirty="0" smtClean="0"/>
              <a:t>	A platform is the hardware or software environment in which a program runs.</a:t>
            </a:r>
          </a:p>
          <a:p>
            <a:pPr marL="0" indent="0">
              <a:buNone/>
            </a:pPr>
            <a:r>
              <a:rPr lang="en-IN" sz="5500" dirty="0" smtClean="0"/>
              <a:t>	Java provides a software-based platform.</a:t>
            </a:r>
          </a:p>
          <a:p>
            <a:pPr marL="0" indent="0">
              <a:buNone/>
            </a:pPr>
            <a:r>
              <a:rPr lang="en-IN" sz="5500" dirty="0"/>
              <a:t>	</a:t>
            </a:r>
            <a:r>
              <a:rPr lang="en-IN" sz="5500" dirty="0" smtClean="0"/>
              <a:t>The Java platform differs from most other platforms in the sense that it is a software-based platform that runs on top of other hardware-based platforms. It has two components:</a:t>
            </a:r>
          </a:p>
          <a:p>
            <a:pPr marL="0" indent="0">
              <a:buNone/>
            </a:pPr>
            <a:r>
              <a:rPr lang="en-IN" sz="5500" dirty="0"/>
              <a:t>	</a:t>
            </a:r>
            <a:r>
              <a:rPr lang="en-IN" sz="5500" dirty="0" smtClean="0"/>
              <a:t>Runtime Environment</a:t>
            </a:r>
          </a:p>
          <a:p>
            <a:pPr marL="0" indent="0">
              <a:buNone/>
            </a:pPr>
            <a:r>
              <a:rPr lang="en-IN" sz="5500" dirty="0" smtClean="0"/>
              <a:t>	API(Application Programming Interface)</a:t>
            </a:r>
          </a:p>
          <a:p>
            <a:r>
              <a:rPr lang="en-IN" sz="5500" b="1" dirty="0"/>
              <a:t>Secured</a:t>
            </a:r>
          </a:p>
          <a:p>
            <a:pPr marL="0" indent="0">
              <a:buNone/>
            </a:pPr>
            <a:r>
              <a:rPr lang="en-IN" sz="5500" dirty="0"/>
              <a:t>	</a:t>
            </a:r>
            <a:r>
              <a:rPr lang="en-IN" sz="5500" dirty="0" smtClean="0"/>
              <a:t>Java </a:t>
            </a:r>
            <a:r>
              <a:rPr lang="en-IN" sz="5500" dirty="0"/>
              <a:t>is secured because:</a:t>
            </a:r>
          </a:p>
          <a:p>
            <a:pPr marL="0" indent="0">
              <a:buNone/>
            </a:pPr>
            <a:r>
              <a:rPr lang="en-IN" sz="5500" b="1" dirty="0" smtClean="0"/>
              <a:t>		</a:t>
            </a:r>
            <a:r>
              <a:rPr lang="en-IN" sz="5500" dirty="0" smtClean="0"/>
              <a:t>No </a:t>
            </a:r>
            <a:r>
              <a:rPr lang="en-IN" sz="5500" dirty="0"/>
              <a:t>explicit pointer</a:t>
            </a:r>
          </a:p>
          <a:p>
            <a:pPr marL="0" indent="0">
              <a:buNone/>
            </a:pPr>
            <a:r>
              <a:rPr lang="en-IN" sz="5500" dirty="0" smtClean="0"/>
              <a:t>		Java </a:t>
            </a:r>
            <a:r>
              <a:rPr lang="en-IN" sz="5500" dirty="0"/>
              <a:t>Programs run inside a virtual machine sandbox</a:t>
            </a:r>
          </a:p>
          <a:p>
            <a:pPr marL="0" indent="0">
              <a:buNone/>
            </a:pPr>
            <a:endParaRPr lang="en-IN" sz="4500" dirty="0"/>
          </a:p>
        </p:txBody>
      </p:sp>
    </p:spTree>
    <p:extLst>
      <p:ext uri="{BB962C8B-B14F-4D97-AF65-F5344CB8AC3E}">
        <p14:creationId xmlns:p14="http://schemas.microsoft.com/office/powerpoint/2010/main" val="741558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2889"/>
            <a:ext cx="10845800" cy="6064074"/>
          </a:xfrm>
        </p:spPr>
        <p:txBody>
          <a:bodyPr>
            <a:noAutofit/>
          </a:bodyPr>
          <a:lstStyle/>
          <a:p>
            <a:pPr marL="0" indent="0" algn="just">
              <a:buNone/>
            </a:pPr>
            <a:r>
              <a:rPr lang="en-US" sz="1700" dirty="0"/>
              <a:t>Java's security model is renowned for its robust and comprehensive features, designed to protect applications from various threats. Here's a breakdown of the key components:</a:t>
            </a:r>
          </a:p>
          <a:p>
            <a:pPr marL="0" indent="0" algn="just">
              <a:buNone/>
            </a:pPr>
            <a:r>
              <a:rPr lang="en-US" sz="1700" b="1" dirty="0"/>
              <a:t>1. Bytecode Verification:</a:t>
            </a:r>
          </a:p>
          <a:p>
            <a:pPr algn="just"/>
            <a:r>
              <a:rPr lang="en-US" sz="1700" b="1" dirty="0"/>
              <a:t>Prevention of Malicious Code:</a:t>
            </a:r>
            <a:r>
              <a:rPr lang="en-US" sz="1700" dirty="0"/>
              <a:t> Java's compiler generates bytecode, which is a platform-independent intermediate representation of the code. Before execution, the </a:t>
            </a:r>
            <a:r>
              <a:rPr lang="en-US" sz="1700" b="1" dirty="0"/>
              <a:t>Java Virtual Machine (JVM) performs rigorous bytecode verification to ensure that the code adheres to Java's syntax, semantics, and type safety rules. </a:t>
            </a:r>
            <a:r>
              <a:rPr lang="en-US" sz="1700" dirty="0"/>
              <a:t>This prevents malicious code from executing and compromising the system.</a:t>
            </a:r>
          </a:p>
          <a:p>
            <a:pPr marL="0" indent="0" algn="just">
              <a:buNone/>
            </a:pPr>
            <a:r>
              <a:rPr lang="en-US" sz="1700" b="1" dirty="0"/>
              <a:t>2. Sandboxing:</a:t>
            </a:r>
          </a:p>
          <a:p>
            <a:pPr algn="just"/>
            <a:r>
              <a:rPr lang="en-US" sz="1700" b="1" dirty="0"/>
              <a:t>Isolation of Applications:</a:t>
            </a:r>
            <a:r>
              <a:rPr lang="en-US" sz="1700" dirty="0"/>
              <a:t> Java's sandboxing mechanism isolates applications from each other and the underlying operating system. </a:t>
            </a:r>
            <a:r>
              <a:rPr lang="en-US" sz="1700" b="1" dirty="0"/>
              <a:t>Each application runs in its own sandbox, limiting its access to resources and preventing it from interfering with other applications or the system</a:t>
            </a:r>
            <a:r>
              <a:rPr lang="en-US" sz="1700" dirty="0"/>
              <a:t>. This helps to contain the impact of any security breaches.</a:t>
            </a:r>
          </a:p>
          <a:p>
            <a:pPr marL="0" indent="0" algn="just">
              <a:buNone/>
            </a:pPr>
            <a:r>
              <a:rPr lang="en-US" sz="1700" b="1" dirty="0"/>
              <a:t>3. Security Manager:</a:t>
            </a:r>
          </a:p>
          <a:p>
            <a:pPr algn="just"/>
            <a:r>
              <a:rPr lang="en-US" sz="1700" b="1" dirty="0"/>
              <a:t>Fine-grained Control:</a:t>
            </a:r>
            <a:r>
              <a:rPr lang="en-US" sz="1700" dirty="0"/>
              <a:t> The Security Manager is a configurable component of the JVM that allows you to define security policies and control the permissions granted to applications.</a:t>
            </a:r>
            <a:r>
              <a:rPr lang="en-US" sz="1700" b="1" dirty="0"/>
              <a:t> You can specify which actions applications can perform, such as file I/O, network access, and system properties. </a:t>
            </a:r>
            <a:r>
              <a:rPr lang="en-US" sz="1700" dirty="0"/>
              <a:t>This provides granular control over the security of your applications.</a:t>
            </a:r>
          </a:p>
          <a:p>
            <a:pPr marL="0" indent="0" algn="just">
              <a:buNone/>
            </a:pPr>
            <a:r>
              <a:rPr lang="en-US" sz="1700" b="1" dirty="0"/>
              <a:t>4. Class Loader:</a:t>
            </a:r>
          </a:p>
          <a:p>
            <a:pPr algn="just"/>
            <a:r>
              <a:rPr lang="en-US" sz="1700" b="1" dirty="0"/>
              <a:t>Controlled Loading:</a:t>
            </a:r>
            <a:r>
              <a:rPr lang="en-US" sz="1700" dirty="0"/>
              <a:t> The class loader is responsible for loading classes into the JVM. </a:t>
            </a:r>
            <a:r>
              <a:rPr lang="en-US" sz="1700" b="1" dirty="0"/>
              <a:t>It follows a hierarchical structure, ensuring that classes are loaded from trusted sources.</a:t>
            </a:r>
            <a:r>
              <a:rPr lang="en-US" sz="1700" dirty="0"/>
              <a:t> This prevents unauthorized code from being loaded and executed.</a:t>
            </a:r>
          </a:p>
          <a:p>
            <a:pPr marL="0" indent="0">
              <a:buNone/>
            </a:pPr>
            <a:endParaRPr lang="en-IN" sz="1700" dirty="0"/>
          </a:p>
        </p:txBody>
      </p:sp>
    </p:spTree>
    <p:extLst>
      <p:ext uri="{BB962C8B-B14F-4D97-AF65-F5344CB8AC3E}">
        <p14:creationId xmlns:p14="http://schemas.microsoft.com/office/powerpoint/2010/main" val="1686297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2889"/>
            <a:ext cx="10515600" cy="6064074"/>
          </a:xfrm>
        </p:spPr>
        <p:txBody>
          <a:bodyPr>
            <a:normAutofit/>
          </a:bodyPr>
          <a:lstStyle/>
          <a:p>
            <a:pPr marL="0" indent="0" algn="just">
              <a:buNone/>
            </a:pPr>
            <a:r>
              <a:rPr lang="en-US" sz="2200" b="1" dirty="0"/>
              <a:t>5</a:t>
            </a:r>
            <a:r>
              <a:rPr lang="en-US" sz="2200" b="1" dirty="0" smtClean="0"/>
              <a:t>.  </a:t>
            </a:r>
            <a:r>
              <a:rPr lang="en-US" sz="1800" b="1" dirty="0"/>
              <a:t>Garbage Collection:</a:t>
            </a:r>
          </a:p>
          <a:p>
            <a:pPr algn="just"/>
            <a:r>
              <a:rPr lang="en-US" sz="1800" b="1" dirty="0"/>
              <a:t>Memory Management:</a:t>
            </a:r>
            <a:r>
              <a:rPr lang="en-US" sz="1800" dirty="0"/>
              <a:t> Java's automatic garbage collection system helps prevent memory-related vulnerabilities like buffer overflows. By </a:t>
            </a:r>
            <a:r>
              <a:rPr lang="en-US" sz="1800" b="1" dirty="0"/>
              <a:t>automatically managing memory allocation and deallocation, it reduces the risk of errors that could be exploited by attackers.</a:t>
            </a:r>
          </a:p>
          <a:p>
            <a:pPr marL="0" indent="0" algn="just">
              <a:buNone/>
            </a:pPr>
            <a:r>
              <a:rPr lang="en-US" sz="1800" b="1" dirty="0" smtClean="0"/>
              <a:t>6. Security APIs</a:t>
            </a:r>
          </a:p>
          <a:p>
            <a:pPr algn="just"/>
            <a:r>
              <a:rPr lang="en-US" sz="1800" b="1" dirty="0" smtClean="0"/>
              <a:t>Cryptographic </a:t>
            </a:r>
            <a:r>
              <a:rPr lang="en-US" sz="1800" b="1" dirty="0"/>
              <a:t>Operations:</a:t>
            </a:r>
            <a:r>
              <a:rPr lang="en-US" sz="1800" dirty="0"/>
              <a:t> Java provides a rich set of APIs for cryptographic operations, including </a:t>
            </a:r>
            <a:r>
              <a:rPr lang="en-US" sz="1800" b="1" dirty="0"/>
              <a:t>encryption, decryption, digital signatures, and hashing. </a:t>
            </a:r>
            <a:r>
              <a:rPr lang="en-US" sz="1800" dirty="0"/>
              <a:t>These APIs allow developers to implement strong security measures to protect sensitive data.</a:t>
            </a:r>
          </a:p>
          <a:p>
            <a:pPr marL="0" indent="0" algn="just">
              <a:buNone/>
            </a:pPr>
            <a:r>
              <a:rPr lang="en-US" sz="1800" b="1" dirty="0"/>
              <a:t>7. Security Best Practices:</a:t>
            </a:r>
          </a:p>
          <a:p>
            <a:pPr algn="just"/>
            <a:r>
              <a:rPr lang="en-US" sz="1800" b="1" dirty="0"/>
              <a:t>Coding Guidelines:</a:t>
            </a:r>
            <a:r>
              <a:rPr lang="en-US" sz="1800" dirty="0"/>
              <a:t> Java encourages developers to follow secure coding practices to minimize vulnerabilities. This includes avoiding common security pitfalls like </a:t>
            </a:r>
            <a:r>
              <a:rPr lang="en-US" sz="1800" b="1" dirty="0"/>
              <a:t>SQL injection, cross-site scripting (XSS), and cross-site request forgery (CSRF).</a:t>
            </a:r>
          </a:p>
          <a:p>
            <a:pPr marL="0" indent="0" algn="just">
              <a:buNone/>
            </a:pPr>
            <a:r>
              <a:rPr lang="en-US" sz="1800" b="1" dirty="0"/>
              <a:t>8. Regular Updates:</a:t>
            </a:r>
          </a:p>
          <a:p>
            <a:pPr algn="just"/>
            <a:r>
              <a:rPr lang="en-US" sz="1800" b="1" dirty="0"/>
              <a:t>Patching Vulnerabilities:</a:t>
            </a:r>
            <a:r>
              <a:rPr lang="en-US" sz="1800" dirty="0"/>
              <a:t> Oracle, the primary developer of Java, </a:t>
            </a:r>
            <a:r>
              <a:rPr lang="en-US" sz="1800" b="1" dirty="0"/>
              <a:t>regularly releases updates to address security vulnerabilities.</a:t>
            </a:r>
            <a:r>
              <a:rPr lang="en-US" sz="1800" dirty="0"/>
              <a:t> It's essential to keep your Java installations up-to-date to benefit from the latest security patches.</a:t>
            </a:r>
          </a:p>
          <a:p>
            <a:pPr marL="0" indent="0">
              <a:buNone/>
            </a:pPr>
            <a:endParaRPr lang="en-IN" dirty="0"/>
          </a:p>
        </p:txBody>
      </p:sp>
    </p:spTree>
    <p:extLst>
      <p:ext uri="{BB962C8B-B14F-4D97-AF65-F5344CB8AC3E}">
        <p14:creationId xmlns:p14="http://schemas.microsoft.com/office/powerpoint/2010/main" val="3360811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a:t>
            </a:r>
            <a:endParaRPr lang="en-IN" dirty="0"/>
          </a:p>
        </p:txBody>
      </p:sp>
      <p:sp>
        <p:nvSpPr>
          <p:cNvPr id="3" name="Content Placeholder 2"/>
          <p:cNvSpPr>
            <a:spLocks noGrp="1"/>
          </p:cNvSpPr>
          <p:nvPr>
            <p:ph idx="1"/>
          </p:nvPr>
        </p:nvSpPr>
        <p:spPr>
          <a:xfrm>
            <a:off x="107576" y="468593"/>
            <a:ext cx="11246224" cy="6268383"/>
          </a:xfrm>
        </p:spPr>
        <p:txBody>
          <a:bodyPr>
            <a:normAutofit/>
          </a:bodyPr>
          <a:lstStyle/>
          <a:p>
            <a:pPr marL="0" indent="0">
              <a:buNone/>
            </a:pPr>
            <a:r>
              <a:rPr lang="en-IN" sz="1800" b="1" dirty="0" smtClean="0"/>
              <a:t>Portable</a:t>
            </a:r>
          </a:p>
          <a:p>
            <a:pPr marL="0" indent="0">
              <a:buNone/>
            </a:pPr>
            <a:r>
              <a:rPr lang="en-IN" sz="1800" dirty="0" smtClean="0"/>
              <a:t>	Java is portable because it facilitates you to carry the Java bytecode to any platform. It doesn't require any implementation.</a:t>
            </a:r>
          </a:p>
          <a:p>
            <a:pPr marL="0" indent="0">
              <a:buNone/>
            </a:pPr>
            <a:r>
              <a:rPr lang="en-IN" sz="1800" dirty="0" smtClean="0"/>
              <a:t>	High-performance</a:t>
            </a:r>
          </a:p>
          <a:p>
            <a:pPr marL="0" indent="0">
              <a:buNone/>
            </a:pPr>
            <a:r>
              <a:rPr lang="en-IN" sz="1800" dirty="0" smtClean="0"/>
              <a:t>	Java is faster than other traditional interpreted programming languages because Java bytecode is "close" to native code. </a:t>
            </a:r>
          </a:p>
          <a:p>
            <a:pPr marL="0" indent="0">
              <a:buNone/>
            </a:pPr>
            <a:r>
              <a:rPr lang="en-IN" sz="1800" dirty="0" smtClean="0"/>
              <a:t>	It is still a little bit slower than a compiled language (e.g., C++).</a:t>
            </a:r>
          </a:p>
          <a:p>
            <a:pPr marL="0" indent="0">
              <a:buNone/>
            </a:pPr>
            <a:r>
              <a:rPr lang="en-IN" sz="1800" b="1" dirty="0"/>
              <a:t>Distributed</a:t>
            </a:r>
          </a:p>
          <a:p>
            <a:pPr marL="0" indent="0">
              <a:buNone/>
            </a:pPr>
            <a:r>
              <a:rPr lang="en-IN" sz="1800" dirty="0" smtClean="0"/>
              <a:t>	Java </a:t>
            </a:r>
            <a:r>
              <a:rPr lang="en-IN" sz="1800" dirty="0"/>
              <a:t>is distributed because it facilitates users to create distributed applications in Java. </a:t>
            </a:r>
            <a:endParaRPr lang="en-IN" sz="1800" dirty="0" smtClean="0"/>
          </a:p>
          <a:p>
            <a:pPr marL="0" indent="0">
              <a:buNone/>
            </a:pPr>
            <a:r>
              <a:rPr lang="en-IN" sz="1800" dirty="0" smtClean="0"/>
              <a:t>	RMI </a:t>
            </a:r>
            <a:r>
              <a:rPr lang="en-IN" sz="1800" dirty="0"/>
              <a:t>and EJB are used for creating distributed applications. </a:t>
            </a:r>
            <a:endParaRPr lang="en-IN" sz="1800" dirty="0" smtClean="0"/>
          </a:p>
          <a:p>
            <a:pPr marL="0" indent="0">
              <a:buNone/>
            </a:pPr>
            <a:r>
              <a:rPr lang="en-IN" sz="1800" b="1" dirty="0" smtClean="0"/>
              <a:t>Multi-threaded</a:t>
            </a:r>
          </a:p>
          <a:p>
            <a:pPr marL="0" indent="0">
              <a:buNone/>
            </a:pPr>
            <a:r>
              <a:rPr lang="en-IN" sz="1800" dirty="0" smtClean="0"/>
              <a:t>	A </a:t>
            </a:r>
            <a:r>
              <a:rPr lang="en-IN" sz="1800" dirty="0"/>
              <a:t>thread is like a separate program, executing concurrently</a:t>
            </a:r>
            <a:r>
              <a:rPr lang="en-IN" sz="1800" dirty="0" smtClean="0"/>
              <a:t>.</a:t>
            </a:r>
          </a:p>
          <a:p>
            <a:pPr marL="0" indent="0">
              <a:buNone/>
            </a:pPr>
            <a:r>
              <a:rPr lang="en-IN" sz="1800" dirty="0" smtClean="0"/>
              <a:t>	Advantage </a:t>
            </a:r>
            <a:r>
              <a:rPr lang="en-IN" sz="1800" dirty="0"/>
              <a:t>of multi-threading is that it doesn't occupy memory for each thread. It shares a common memory area. </a:t>
            </a:r>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p:txBody>
      </p:sp>
    </p:spTree>
    <p:extLst>
      <p:ext uri="{BB962C8B-B14F-4D97-AF65-F5344CB8AC3E}">
        <p14:creationId xmlns:p14="http://schemas.microsoft.com/office/powerpoint/2010/main" val="1017380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a:t>
            </a:r>
            <a:endParaRPr lang="en-IN" dirty="0"/>
          </a:p>
        </p:txBody>
      </p:sp>
      <p:sp>
        <p:nvSpPr>
          <p:cNvPr id="3" name="Content Placeholder 2"/>
          <p:cNvSpPr>
            <a:spLocks noGrp="1"/>
          </p:cNvSpPr>
          <p:nvPr>
            <p:ph idx="1"/>
          </p:nvPr>
        </p:nvSpPr>
        <p:spPr>
          <a:xfrm>
            <a:off x="107576" y="468593"/>
            <a:ext cx="11246224" cy="6268383"/>
          </a:xfrm>
        </p:spPr>
        <p:txBody>
          <a:bodyPr>
            <a:normAutofit/>
          </a:bodyPr>
          <a:lstStyle/>
          <a:p>
            <a:pPr marL="0" indent="0">
              <a:buNone/>
            </a:pPr>
            <a:r>
              <a:rPr lang="en-IN" sz="1900" b="1" dirty="0" smtClean="0"/>
              <a:t>JRE</a:t>
            </a:r>
          </a:p>
          <a:p>
            <a:pPr marL="0" indent="0">
              <a:buNone/>
            </a:pPr>
            <a:r>
              <a:rPr lang="en-IN" sz="1900" dirty="0" smtClean="0"/>
              <a:t>JRE is an acronym for Java Runtime Environment. </a:t>
            </a:r>
          </a:p>
          <a:p>
            <a:pPr marL="0" indent="0">
              <a:buNone/>
            </a:pPr>
            <a:r>
              <a:rPr lang="en-IN" sz="1900" dirty="0" smtClean="0"/>
              <a:t>It is also written as Java RTE. The Java Runtime Environment is a set of software tools which are used for developing Java applications. </a:t>
            </a:r>
          </a:p>
          <a:p>
            <a:pPr marL="0" indent="0">
              <a:buNone/>
            </a:pPr>
            <a:r>
              <a:rPr lang="en-IN" sz="1900" dirty="0" smtClean="0"/>
              <a:t>It is used to provide the runtime environment. It is the implementation of JVM. It physically exists. It contains a set of libraries + other files that JVM uses at runtime.</a:t>
            </a:r>
            <a:endParaRPr lang="en-IN" dirty="0" smtClean="0"/>
          </a:p>
          <a:p>
            <a:pPr marL="0" indent="0">
              <a:buNone/>
            </a:pPr>
            <a:r>
              <a:rPr lang="en-IN" sz="2000" b="1" dirty="0" smtClean="0"/>
              <a:t>JDK</a:t>
            </a:r>
          </a:p>
          <a:p>
            <a:pPr marL="0" indent="0">
              <a:buNone/>
            </a:pPr>
            <a:r>
              <a:rPr lang="en-IN" sz="2000" dirty="0" smtClean="0"/>
              <a:t>JDK is an acronym for Java Development Kit. </a:t>
            </a:r>
          </a:p>
          <a:p>
            <a:pPr marL="0" indent="0">
              <a:buNone/>
            </a:pPr>
            <a:r>
              <a:rPr lang="en-IN" sz="2000" dirty="0" smtClean="0"/>
              <a:t>The Java Development Kit (JDK) is a software development environment which is used to develop Java applications and applets. It physically exists. It contains JRE + development tools.</a:t>
            </a:r>
            <a:endParaRPr lang="en-IN" sz="2000" dirty="0"/>
          </a:p>
          <a:p>
            <a:pPr marL="0" indent="0">
              <a:buNone/>
            </a:pPr>
            <a:r>
              <a:rPr lang="en-IN" sz="2000" dirty="0" smtClean="0"/>
              <a:t>The JDK contains a private Java Virtual Machine (JVM) and a few other resources such as an interpreter/loader (java), a compiler (</a:t>
            </a:r>
            <a:r>
              <a:rPr lang="en-IN" sz="2000" dirty="0" err="1" smtClean="0"/>
              <a:t>javac</a:t>
            </a:r>
            <a:r>
              <a:rPr lang="en-IN" sz="2000" dirty="0" smtClean="0"/>
              <a:t>), an archiver (jar), a documentation generator (Javadoc), etc. to complete the development of a Java Application.</a:t>
            </a:r>
          </a:p>
          <a:p>
            <a:pPr marL="0" indent="0">
              <a:buNone/>
            </a:pPr>
            <a:r>
              <a:rPr lang="en-US" sz="2000" dirty="0" smtClean="0"/>
              <a:t>The </a:t>
            </a:r>
            <a:r>
              <a:rPr lang="en-US" sz="2000" dirty="0"/>
              <a:t>JVM executes Java bytecode and includes:</a:t>
            </a:r>
          </a:p>
          <a:p>
            <a:r>
              <a:rPr lang="en-US" sz="2000" dirty="0"/>
              <a:t>Interpreter – executes bytecode line-by-line</a:t>
            </a:r>
          </a:p>
          <a:p>
            <a:r>
              <a:rPr lang="en-US" sz="2000" dirty="0"/>
              <a:t>JIT Compiler (Just-In-Time) – compiles frequently used bytecode into native machine code for faster execution</a:t>
            </a:r>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p:txBody>
      </p:sp>
      <p:pic>
        <p:nvPicPr>
          <p:cNvPr id="5122" name="Picture 2" descr="JD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519" y="4693024"/>
            <a:ext cx="3766857" cy="2164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9471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a:t>
            </a:r>
            <a:endParaRPr lang="en-IN" dirty="0"/>
          </a:p>
        </p:txBody>
      </p:sp>
      <p:sp>
        <p:nvSpPr>
          <p:cNvPr id="3" name="Content Placeholder 2"/>
          <p:cNvSpPr>
            <a:spLocks noGrp="1"/>
          </p:cNvSpPr>
          <p:nvPr>
            <p:ph idx="1"/>
          </p:nvPr>
        </p:nvSpPr>
        <p:spPr>
          <a:xfrm>
            <a:off x="107576" y="468593"/>
            <a:ext cx="11246224" cy="6268383"/>
          </a:xfrm>
        </p:spPr>
        <p:txBody>
          <a:bodyPr>
            <a:normAutofit/>
          </a:bodyPr>
          <a:lstStyle/>
          <a:p>
            <a:pPr marL="0" indent="0">
              <a:buNone/>
            </a:pPr>
            <a:r>
              <a:rPr lang="en-IN" sz="1900" b="1" dirty="0" smtClean="0"/>
              <a:t>JVM(Java </a:t>
            </a:r>
            <a:r>
              <a:rPr lang="en-IN" sz="1900" b="1" dirty="0"/>
              <a:t>Virtual Machine) </a:t>
            </a:r>
            <a:r>
              <a:rPr lang="en-IN" sz="1900" dirty="0"/>
              <a:t>is an abstract machine. </a:t>
            </a:r>
            <a:endParaRPr lang="en-IN" sz="1900" dirty="0" smtClean="0"/>
          </a:p>
          <a:p>
            <a:pPr marL="0" indent="0">
              <a:buNone/>
            </a:pPr>
            <a:r>
              <a:rPr lang="en-IN" sz="1900" dirty="0" smtClean="0"/>
              <a:t>It </a:t>
            </a:r>
            <a:r>
              <a:rPr lang="en-IN" sz="1900" dirty="0"/>
              <a:t>is called a virtual machine because it doesn't physically exist. </a:t>
            </a:r>
            <a:endParaRPr lang="en-IN" sz="1900" dirty="0" smtClean="0"/>
          </a:p>
          <a:p>
            <a:pPr marL="0" indent="0">
              <a:buNone/>
            </a:pPr>
            <a:r>
              <a:rPr lang="en-IN" sz="1900" dirty="0" smtClean="0"/>
              <a:t>It </a:t>
            </a:r>
            <a:r>
              <a:rPr lang="en-IN" sz="1900" dirty="0"/>
              <a:t>is a specification that provides a runtime environment in which Java bytecode can be executed. </a:t>
            </a:r>
            <a:endParaRPr lang="en-IN" sz="1900" dirty="0" smtClean="0"/>
          </a:p>
          <a:p>
            <a:pPr marL="0" indent="0">
              <a:buNone/>
            </a:pPr>
            <a:r>
              <a:rPr lang="en-IN" sz="1900" dirty="0" smtClean="0"/>
              <a:t>It </a:t>
            </a:r>
            <a:r>
              <a:rPr lang="en-IN" sz="1900" dirty="0"/>
              <a:t>can also run those programs which are written in other languages and compiled to Java bytecode.</a:t>
            </a:r>
          </a:p>
          <a:p>
            <a:pPr marL="0" indent="0">
              <a:buNone/>
            </a:pPr>
            <a:r>
              <a:rPr lang="en-IN" sz="1900" dirty="0"/>
              <a:t>JVMs are available for many hardware and software platforms</a:t>
            </a:r>
            <a:r>
              <a:rPr lang="en-IN" sz="1900" dirty="0" smtClean="0"/>
              <a:t>.</a:t>
            </a:r>
          </a:p>
          <a:p>
            <a:pPr marL="0" indent="0">
              <a:buNone/>
            </a:pPr>
            <a:r>
              <a:rPr lang="en-IN" sz="1900" dirty="0" smtClean="0"/>
              <a:t> </a:t>
            </a:r>
            <a:r>
              <a:rPr lang="en-IN" sz="1900" b="1" dirty="0"/>
              <a:t>JVM, JRE, and JDK are platform dependent </a:t>
            </a:r>
            <a:r>
              <a:rPr lang="en-IN" sz="1900" dirty="0"/>
              <a:t>because the configuration of each OS is different from each other. </a:t>
            </a:r>
            <a:r>
              <a:rPr lang="en-IN" sz="1900" dirty="0" smtClean="0"/>
              <a:t>(platform independent).</a:t>
            </a:r>
          </a:p>
          <a:p>
            <a:pPr marL="0" indent="0">
              <a:buNone/>
            </a:pPr>
            <a:r>
              <a:rPr lang="en-IN" sz="1900" dirty="0" smtClean="0"/>
              <a:t>There </a:t>
            </a:r>
            <a:r>
              <a:rPr lang="en-IN" sz="1900" dirty="0"/>
              <a:t>are three notions of the JVM: </a:t>
            </a:r>
            <a:r>
              <a:rPr lang="en-IN" sz="1900" i="1" dirty="0"/>
              <a:t>specification</a:t>
            </a:r>
            <a:r>
              <a:rPr lang="en-IN" sz="1900" dirty="0"/>
              <a:t>, </a:t>
            </a:r>
            <a:r>
              <a:rPr lang="en-IN" sz="1900" i="1" dirty="0"/>
              <a:t>implementation</a:t>
            </a:r>
            <a:r>
              <a:rPr lang="en-IN" sz="1900" dirty="0"/>
              <a:t>, and </a:t>
            </a:r>
            <a:r>
              <a:rPr lang="en-IN" sz="1900" i="1" dirty="0"/>
              <a:t>instance</a:t>
            </a:r>
            <a:r>
              <a:rPr lang="en-IN" sz="1900" dirty="0"/>
              <a:t>.</a:t>
            </a:r>
          </a:p>
          <a:p>
            <a:pPr marL="0" indent="0">
              <a:buNone/>
            </a:pPr>
            <a:r>
              <a:rPr lang="en-IN" sz="1900" dirty="0"/>
              <a:t>The JVM performs the following main tasks:</a:t>
            </a:r>
          </a:p>
          <a:p>
            <a:r>
              <a:rPr lang="en-IN" sz="1900" dirty="0"/>
              <a:t>Loads code</a:t>
            </a:r>
          </a:p>
          <a:p>
            <a:r>
              <a:rPr lang="en-IN" sz="1900" dirty="0"/>
              <a:t>Verifies code</a:t>
            </a:r>
          </a:p>
          <a:p>
            <a:r>
              <a:rPr lang="en-IN" sz="1900" dirty="0"/>
              <a:t>Executes code</a:t>
            </a:r>
          </a:p>
          <a:p>
            <a:r>
              <a:rPr lang="en-IN" sz="1900" dirty="0"/>
              <a:t>Provides runtime environment</a:t>
            </a:r>
          </a:p>
          <a:p>
            <a:pPr marL="0" indent="0">
              <a:buNone/>
            </a:pPr>
            <a:endParaRPr lang="en-IN" dirty="0" smtClean="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3076" name="Picture 4" descr="JVM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1782" y="3602784"/>
            <a:ext cx="6181725" cy="298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38912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a:t>
            </a:r>
            <a:endParaRPr lang="en-IN" dirty="0"/>
          </a:p>
        </p:txBody>
      </p:sp>
      <p:sp>
        <p:nvSpPr>
          <p:cNvPr id="3" name="Content Placeholder 2"/>
          <p:cNvSpPr>
            <a:spLocks noGrp="1"/>
          </p:cNvSpPr>
          <p:nvPr>
            <p:ph idx="1"/>
          </p:nvPr>
        </p:nvSpPr>
        <p:spPr>
          <a:xfrm>
            <a:off x="107576" y="468593"/>
            <a:ext cx="11246224" cy="6268383"/>
          </a:xfrm>
        </p:spPr>
        <p:txBody>
          <a:bodyPr>
            <a:normAutofit/>
          </a:bodyPr>
          <a:lstStyle/>
          <a:p>
            <a:pPr marL="0" indent="0">
              <a:buNone/>
            </a:pPr>
            <a:r>
              <a:rPr lang="en-IN" sz="2000" b="1" dirty="0"/>
              <a:t>Object-Oriented Programming</a:t>
            </a:r>
            <a:r>
              <a:rPr lang="en-IN" sz="2000" dirty="0"/>
              <a:t> is a methodology or paradigm to design a program using classes and objects. </a:t>
            </a:r>
            <a:endParaRPr lang="en-IN" sz="2000" dirty="0" smtClean="0"/>
          </a:p>
          <a:p>
            <a:pPr marL="0" indent="0">
              <a:buNone/>
            </a:pPr>
            <a:r>
              <a:rPr lang="en-IN" sz="2000" b="1" dirty="0" smtClean="0"/>
              <a:t>Object</a:t>
            </a:r>
          </a:p>
          <a:p>
            <a:pPr marL="0" indent="0">
              <a:buNone/>
            </a:pPr>
            <a:r>
              <a:rPr lang="en-IN" sz="2000" dirty="0" smtClean="0"/>
              <a:t>Any entity that has state and </a:t>
            </a:r>
            <a:r>
              <a:rPr lang="en-IN" sz="2000" dirty="0" err="1" smtClean="0"/>
              <a:t>behavior</a:t>
            </a:r>
            <a:r>
              <a:rPr lang="en-IN" sz="2000" dirty="0" smtClean="0"/>
              <a:t> is known as an object.</a:t>
            </a:r>
          </a:p>
          <a:p>
            <a:pPr marL="0" indent="0">
              <a:buNone/>
            </a:pPr>
            <a:r>
              <a:rPr lang="en-IN" sz="2000" dirty="0"/>
              <a:t>An Object can be defined as an instance of a class. An object contains an address and takes up some space in memory. </a:t>
            </a:r>
            <a:endParaRPr lang="en-IN" sz="2000" dirty="0" smtClean="0"/>
          </a:p>
          <a:p>
            <a:pPr marL="0" indent="0">
              <a:buNone/>
            </a:pPr>
            <a:r>
              <a:rPr lang="en-IN" sz="2000" dirty="0" smtClean="0"/>
              <a:t>Objects </a:t>
            </a:r>
            <a:r>
              <a:rPr lang="en-IN" sz="2000" dirty="0"/>
              <a:t>can communicate without knowing the details of each other's data or code</a:t>
            </a:r>
            <a:r>
              <a:rPr lang="en-IN" sz="2000" dirty="0" smtClean="0"/>
              <a:t>.</a:t>
            </a:r>
          </a:p>
          <a:p>
            <a:pPr marL="0" indent="0">
              <a:buNone/>
            </a:pPr>
            <a:r>
              <a:rPr lang="en-IN" sz="2000" b="1" dirty="0" smtClean="0"/>
              <a:t>Class</a:t>
            </a:r>
          </a:p>
          <a:p>
            <a:pPr marL="0" indent="0">
              <a:buNone/>
            </a:pPr>
            <a:r>
              <a:rPr lang="en-IN" sz="2000" dirty="0" smtClean="0"/>
              <a:t>It is a logical entity.</a:t>
            </a:r>
          </a:p>
          <a:p>
            <a:pPr marL="0" indent="0">
              <a:buNone/>
            </a:pPr>
            <a:r>
              <a:rPr lang="en-IN" sz="2000" dirty="0" smtClean="0"/>
              <a:t>A class can also be defined as a blueprint from which you can create an individual object. Class doesn't consume any space.</a:t>
            </a:r>
          </a:p>
          <a:p>
            <a:pPr marL="0" indent="0">
              <a:buNone/>
            </a:pPr>
            <a:r>
              <a:rPr lang="en-IN" sz="2000" b="1" dirty="0" smtClean="0"/>
              <a:t>Inheritance</a:t>
            </a:r>
          </a:p>
          <a:p>
            <a:pPr marL="0" indent="0">
              <a:buNone/>
            </a:pPr>
            <a:r>
              <a:rPr lang="en-IN" sz="2000" dirty="0" smtClean="0"/>
              <a:t>When one object acquires all the properties and </a:t>
            </a:r>
            <a:r>
              <a:rPr lang="en-IN" sz="2000" dirty="0" err="1" smtClean="0"/>
              <a:t>behaviors</a:t>
            </a:r>
            <a:r>
              <a:rPr lang="en-IN" sz="2000" dirty="0" smtClean="0"/>
              <a:t> of a parent object, it is known as inheritance. It provides code reusability.</a:t>
            </a:r>
          </a:p>
          <a:p>
            <a:pPr marL="0" indent="0">
              <a:buNone/>
            </a:pPr>
            <a:r>
              <a:rPr lang="en-IN" sz="2000" b="1" dirty="0" smtClean="0"/>
              <a:t>Polymorphism</a:t>
            </a:r>
          </a:p>
          <a:p>
            <a:pPr marL="0" indent="0">
              <a:buNone/>
            </a:pPr>
            <a:r>
              <a:rPr lang="en-IN" sz="2000" dirty="0" smtClean="0"/>
              <a:t>If one task is performed in different ways, it is known as polymorphism. </a:t>
            </a:r>
            <a:endParaRPr lang="en-IN" sz="2000" dirty="0"/>
          </a:p>
        </p:txBody>
      </p:sp>
    </p:spTree>
    <p:extLst>
      <p:ext uri="{BB962C8B-B14F-4D97-AF65-F5344CB8AC3E}">
        <p14:creationId xmlns:p14="http://schemas.microsoft.com/office/powerpoint/2010/main" val="18996429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a:t>
            </a:r>
            <a:endParaRPr lang="en-IN" dirty="0"/>
          </a:p>
        </p:txBody>
      </p:sp>
      <p:sp>
        <p:nvSpPr>
          <p:cNvPr id="3" name="Content Placeholder 2"/>
          <p:cNvSpPr>
            <a:spLocks noGrp="1"/>
          </p:cNvSpPr>
          <p:nvPr>
            <p:ph idx="1"/>
          </p:nvPr>
        </p:nvSpPr>
        <p:spPr>
          <a:xfrm>
            <a:off x="107576" y="468593"/>
            <a:ext cx="11246224" cy="6268383"/>
          </a:xfrm>
        </p:spPr>
        <p:txBody>
          <a:bodyPr>
            <a:normAutofit/>
          </a:bodyPr>
          <a:lstStyle/>
          <a:p>
            <a:pPr marL="0" indent="0">
              <a:buNone/>
            </a:pPr>
            <a:r>
              <a:rPr lang="en-IN" sz="2000" b="1" dirty="0" smtClean="0"/>
              <a:t>Abstraction</a:t>
            </a:r>
          </a:p>
          <a:p>
            <a:pPr marL="0" indent="0">
              <a:buNone/>
            </a:pPr>
            <a:r>
              <a:rPr lang="en-IN" sz="2000" dirty="0" smtClean="0"/>
              <a:t>Hiding internal details and showing functionality is known as abstraction. </a:t>
            </a:r>
          </a:p>
          <a:p>
            <a:pPr marL="0" indent="0">
              <a:buNone/>
            </a:pPr>
            <a:r>
              <a:rPr lang="en-IN" sz="2000" dirty="0" smtClean="0"/>
              <a:t>In Java, we use abstract class and interface to achieve abstraction.</a:t>
            </a:r>
          </a:p>
          <a:p>
            <a:pPr marL="0" indent="0">
              <a:buNone/>
            </a:pPr>
            <a:r>
              <a:rPr lang="en-IN" sz="2000" b="1" dirty="0"/>
              <a:t>Encapsulation</a:t>
            </a:r>
          </a:p>
          <a:p>
            <a:pPr marL="0" indent="0">
              <a:buNone/>
            </a:pPr>
            <a:r>
              <a:rPr lang="en-IN" sz="2000" dirty="0"/>
              <a:t>Binding (or wrapping) code and data together into a single unit are known as encapsulation.</a:t>
            </a:r>
          </a:p>
          <a:p>
            <a:pPr marL="0" indent="0">
              <a:buNone/>
            </a:pPr>
            <a:endParaRPr lang="en-IN" sz="2000" dirty="0"/>
          </a:p>
        </p:txBody>
      </p:sp>
    </p:spTree>
    <p:extLst>
      <p:ext uri="{BB962C8B-B14F-4D97-AF65-F5344CB8AC3E}">
        <p14:creationId xmlns:p14="http://schemas.microsoft.com/office/powerpoint/2010/main" val="19739758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a:t>
            </a:r>
            <a:endParaRPr lang="en-IN" dirty="0"/>
          </a:p>
        </p:txBody>
      </p:sp>
      <p:sp>
        <p:nvSpPr>
          <p:cNvPr id="3" name="Content Placeholder 2"/>
          <p:cNvSpPr>
            <a:spLocks noGrp="1"/>
          </p:cNvSpPr>
          <p:nvPr>
            <p:ph idx="1"/>
          </p:nvPr>
        </p:nvSpPr>
        <p:spPr>
          <a:xfrm>
            <a:off x="107576" y="468593"/>
            <a:ext cx="11246224" cy="6268383"/>
          </a:xfrm>
        </p:spPr>
        <p:txBody>
          <a:bodyPr>
            <a:normAutofit fontScale="70000" lnSpcReduction="20000"/>
          </a:bodyPr>
          <a:lstStyle/>
          <a:p>
            <a:pPr marL="0" indent="0">
              <a:buNone/>
            </a:pPr>
            <a:r>
              <a:rPr lang="en-IN" b="1" dirty="0"/>
              <a:t>class</a:t>
            </a:r>
            <a:r>
              <a:rPr lang="en-IN" dirty="0"/>
              <a:t> Simple{  </a:t>
            </a:r>
          </a:p>
          <a:p>
            <a:pPr marL="0" indent="0">
              <a:buNone/>
            </a:pPr>
            <a:r>
              <a:rPr lang="en-IN" b="1" dirty="0" smtClean="0"/>
              <a:t>public</a:t>
            </a:r>
            <a:r>
              <a:rPr lang="en-IN" dirty="0"/>
              <a:t> </a:t>
            </a:r>
            <a:r>
              <a:rPr lang="en-IN" b="1" dirty="0"/>
              <a:t>static</a:t>
            </a:r>
            <a:r>
              <a:rPr lang="en-IN" dirty="0"/>
              <a:t> </a:t>
            </a:r>
            <a:r>
              <a:rPr lang="en-IN" b="1" dirty="0"/>
              <a:t>void</a:t>
            </a:r>
            <a:r>
              <a:rPr lang="en-IN" dirty="0"/>
              <a:t> main(String </a:t>
            </a:r>
            <a:r>
              <a:rPr lang="en-IN" dirty="0" err="1"/>
              <a:t>args</a:t>
            </a:r>
            <a:r>
              <a:rPr lang="en-IN" dirty="0"/>
              <a:t>[]){  </a:t>
            </a:r>
          </a:p>
          <a:p>
            <a:pPr marL="0" indent="0">
              <a:buNone/>
            </a:pPr>
            <a:r>
              <a:rPr lang="en-IN" dirty="0" err="1" smtClean="0"/>
              <a:t>System.out.println</a:t>
            </a:r>
            <a:r>
              <a:rPr lang="en-IN" dirty="0" smtClean="0"/>
              <a:t>("Welcome to web technology class"); }</a:t>
            </a:r>
            <a:r>
              <a:rPr lang="en-IN" dirty="0"/>
              <a:t>  </a:t>
            </a:r>
          </a:p>
          <a:p>
            <a:pPr marL="0" indent="0">
              <a:buNone/>
            </a:pPr>
            <a:r>
              <a:rPr lang="en-IN" dirty="0"/>
              <a:t>}  </a:t>
            </a:r>
          </a:p>
          <a:p>
            <a:pPr marL="0" indent="0">
              <a:buNone/>
            </a:pPr>
            <a:r>
              <a:rPr lang="en-IN" dirty="0" smtClean="0"/>
              <a:t>To compile: </a:t>
            </a:r>
            <a:r>
              <a:rPr lang="en-IN" dirty="0" err="1" smtClean="0"/>
              <a:t>javac</a:t>
            </a:r>
            <a:r>
              <a:rPr lang="en-IN" dirty="0" smtClean="0"/>
              <a:t> Simple.java</a:t>
            </a:r>
          </a:p>
          <a:p>
            <a:pPr marL="0" indent="0">
              <a:buNone/>
            </a:pPr>
            <a:r>
              <a:rPr lang="en-IN" dirty="0" smtClean="0"/>
              <a:t>To execute: java Simple</a:t>
            </a:r>
            <a:endParaRPr lang="en-IN" dirty="0"/>
          </a:p>
          <a:p>
            <a:pPr marL="0" indent="0">
              <a:buNone/>
            </a:pPr>
            <a:endParaRPr lang="en-IN" dirty="0" smtClean="0"/>
          </a:p>
          <a:p>
            <a:pPr marL="0" indent="0">
              <a:buNone/>
            </a:pPr>
            <a:r>
              <a:rPr lang="en-IN" dirty="0" smtClean="0"/>
              <a:t>Java code(Simple.java)</a:t>
            </a:r>
            <a:r>
              <a:rPr lang="en-IN" dirty="0" smtClean="0">
                <a:sym typeface="Wingdings" panose="05000000000000000000" pitchFamily="2" charset="2"/>
              </a:rPr>
              <a:t></a:t>
            </a:r>
            <a:r>
              <a:rPr lang="en-IN" dirty="0" err="1" smtClean="0">
                <a:sym typeface="Wingdings" panose="05000000000000000000" pitchFamily="2" charset="2"/>
              </a:rPr>
              <a:t>compilerSimple.class</a:t>
            </a:r>
            <a:endParaRPr lang="en-IN" dirty="0" smtClean="0">
              <a:sym typeface="Wingdings" panose="05000000000000000000" pitchFamily="2" charset="2"/>
            </a:endParaRPr>
          </a:p>
          <a:p>
            <a:r>
              <a:rPr lang="en-IN" b="1" dirty="0"/>
              <a:t>class</a:t>
            </a:r>
            <a:r>
              <a:rPr lang="en-IN" dirty="0"/>
              <a:t> keyword is used to declare a class in Java.</a:t>
            </a:r>
          </a:p>
          <a:p>
            <a:r>
              <a:rPr lang="en-IN" b="1" dirty="0"/>
              <a:t>public</a:t>
            </a:r>
            <a:r>
              <a:rPr lang="en-IN" dirty="0"/>
              <a:t> keyword is an access modifier that represents visibility. It means it is visible to all.</a:t>
            </a:r>
          </a:p>
          <a:p>
            <a:r>
              <a:rPr lang="en-IN" b="1" dirty="0"/>
              <a:t>static</a:t>
            </a:r>
            <a:r>
              <a:rPr lang="en-IN" dirty="0"/>
              <a:t> is a keyword. If we declare any method as static, it is known as the static method. The core advantage of the static method is that there is no need to create an object to invoke the static method. The main() method is executed by the JVM, so it doesn't require creating an object to invoke the main() method. So, it saves memory.</a:t>
            </a:r>
          </a:p>
          <a:p>
            <a:r>
              <a:rPr lang="en-IN" b="1" dirty="0"/>
              <a:t>void</a:t>
            </a:r>
            <a:r>
              <a:rPr lang="en-IN" dirty="0"/>
              <a:t> is the return type of the method. It means it doesn't return any value.</a:t>
            </a:r>
          </a:p>
          <a:p>
            <a:r>
              <a:rPr lang="en-IN" b="1" dirty="0"/>
              <a:t>main</a:t>
            </a:r>
            <a:r>
              <a:rPr lang="en-IN" dirty="0"/>
              <a:t> represents the starting point of the program.</a:t>
            </a:r>
          </a:p>
          <a:p>
            <a:r>
              <a:rPr lang="en-IN" b="1" dirty="0"/>
              <a:t>String[] </a:t>
            </a:r>
            <a:r>
              <a:rPr lang="en-IN" b="1" dirty="0" err="1"/>
              <a:t>args</a:t>
            </a:r>
            <a:r>
              <a:rPr lang="en-IN" dirty="0"/>
              <a:t> or </a:t>
            </a:r>
            <a:r>
              <a:rPr lang="en-IN" b="1" dirty="0"/>
              <a:t>String </a:t>
            </a:r>
            <a:r>
              <a:rPr lang="en-IN" b="1" dirty="0" err="1"/>
              <a:t>args</a:t>
            </a:r>
            <a:r>
              <a:rPr lang="en-IN" b="1" dirty="0"/>
              <a:t>[]</a:t>
            </a:r>
            <a:r>
              <a:rPr lang="en-IN" dirty="0"/>
              <a:t> is used for command line </a:t>
            </a:r>
            <a:r>
              <a:rPr lang="en-IN" dirty="0" err="1" smtClean="0"/>
              <a:t>argument.Collection</a:t>
            </a:r>
            <a:r>
              <a:rPr lang="en-IN" dirty="0" smtClean="0"/>
              <a:t> of variables in string format.</a:t>
            </a:r>
            <a:endParaRPr lang="en-IN" dirty="0"/>
          </a:p>
          <a:p>
            <a:r>
              <a:rPr lang="en-IN" b="1" dirty="0" err="1"/>
              <a:t>System.out.println</a:t>
            </a:r>
            <a:r>
              <a:rPr lang="en-IN" b="1" dirty="0"/>
              <a:t>()</a:t>
            </a:r>
            <a:r>
              <a:rPr lang="en-IN" dirty="0"/>
              <a:t> is used to print statement. Here, System is a </a:t>
            </a:r>
            <a:r>
              <a:rPr lang="en-IN" dirty="0" smtClean="0"/>
              <a:t>class(in package </a:t>
            </a:r>
            <a:r>
              <a:rPr lang="en-IN" dirty="0" err="1" smtClean="0"/>
              <a:t>java.lang</a:t>
            </a:r>
            <a:r>
              <a:rPr lang="en-IN" dirty="0" smtClean="0"/>
              <a:t>), </a:t>
            </a:r>
            <a:r>
              <a:rPr lang="en-IN" dirty="0"/>
              <a:t>out is an object of the </a:t>
            </a:r>
            <a:r>
              <a:rPr lang="en-IN" dirty="0" err="1"/>
              <a:t>PrintStream</a:t>
            </a:r>
            <a:r>
              <a:rPr lang="en-IN" dirty="0"/>
              <a:t> </a:t>
            </a:r>
            <a:r>
              <a:rPr lang="en-IN" dirty="0" smtClean="0"/>
              <a:t>class(</a:t>
            </a:r>
            <a:r>
              <a:rPr lang="en-IN" dirty="0" err="1" smtClean="0"/>
              <a:t>java.io.printstream</a:t>
            </a:r>
            <a:r>
              <a:rPr lang="en-IN" dirty="0" smtClean="0"/>
              <a:t>) and static member of system class, </a:t>
            </a:r>
            <a:r>
              <a:rPr lang="en-IN" dirty="0" err="1"/>
              <a:t>println</a:t>
            </a:r>
            <a:r>
              <a:rPr lang="en-IN" dirty="0"/>
              <a:t>() is a method of the </a:t>
            </a:r>
            <a:r>
              <a:rPr lang="en-IN" dirty="0" err="1"/>
              <a:t>PrintStream</a:t>
            </a:r>
            <a:r>
              <a:rPr lang="en-IN" dirty="0"/>
              <a:t> </a:t>
            </a:r>
            <a:r>
              <a:rPr lang="en-IN" dirty="0" smtClean="0"/>
              <a:t>class(</a:t>
            </a:r>
            <a:r>
              <a:rPr lang="en-IN" dirty="0" err="1" smtClean="0"/>
              <a:t>java.io.printstream</a:t>
            </a:r>
            <a:r>
              <a:rPr lang="en-IN" dirty="0" smtClean="0"/>
              <a:t>)</a:t>
            </a:r>
            <a:endParaRPr lang="en-IN" dirty="0"/>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1796850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66887"/>
          </a:xfrm>
        </p:spPr>
        <p:txBody>
          <a:bodyPr>
            <a:normAutofit fontScale="90000"/>
          </a:bodyPr>
          <a:lstStyle/>
          <a:p>
            <a:r>
              <a:rPr lang="en-IN" dirty="0" smtClean="0"/>
              <a:t>Introduction to Java</a:t>
            </a:r>
            <a:endParaRPr lang="en-IN" dirty="0"/>
          </a:p>
        </p:txBody>
      </p:sp>
      <p:sp>
        <p:nvSpPr>
          <p:cNvPr id="3" name="Content Placeholder 2"/>
          <p:cNvSpPr>
            <a:spLocks noGrp="1"/>
          </p:cNvSpPr>
          <p:nvPr>
            <p:ph sz="half" idx="1"/>
          </p:nvPr>
        </p:nvSpPr>
        <p:spPr>
          <a:xfrm>
            <a:off x="282388" y="833718"/>
            <a:ext cx="5737412" cy="5343245"/>
          </a:xfrm>
        </p:spPr>
        <p:txBody>
          <a:bodyPr>
            <a:normAutofit lnSpcReduction="10000"/>
          </a:bodyPr>
          <a:lstStyle/>
          <a:p>
            <a:pPr marL="0" indent="0">
              <a:buNone/>
            </a:pPr>
            <a:r>
              <a:rPr lang="en-IN" sz="2000" dirty="0"/>
              <a:t>import </a:t>
            </a:r>
            <a:r>
              <a:rPr lang="en-IN" sz="2000" dirty="0" err="1"/>
              <a:t>java.util</a:t>
            </a:r>
            <a:r>
              <a:rPr lang="en-IN" sz="2000" dirty="0" smtClean="0"/>
              <a:t>.*;</a:t>
            </a:r>
          </a:p>
          <a:p>
            <a:pPr marL="0" indent="0">
              <a:buNone/>
            </a:pPr>
            <a:r>
              <a:rPr lang="en-IN" sz="2000" dirty="0" smtClean="0"/>
              <a:t>public </a:t>
            </a:r>
            <a:r>
              <a:rPr lang="en-IN" sz="2000" dirty="0"/>
              <a:t>class addition{     </a:t>
            </a:r>
            <a:endParaRPr lang="en-IN" sz="2000" dirty="0" smtClean="0"/>
          </a:p>
          <a:p>
            <a:pPr marL="0" indent="0">
              <a:buNone/>
            </a:pPr>
            <a:r>
              <a:rPr lang="en-IN" sz="2000" dirty="0" smtClean="0"/>
              <a:t>public </a:t>
            </a:r>
            <a:r>
              <a:rPr lang="en-IN" sz="2000" dirty="0"/>
              <a:t>static void main(String []</a:t>
            </a:r>
            <a:r>
              <a:rPr lang="en-IN" sz="2000" dirty="0" err="1"/>
              <a:t>args</a:t>
            </a:r>
            <a:r>
              <a:rPr lang="en-IN" sz="2000" dirty="0"/>
              <a:t>){                 </a:t>
            </a:r>
            <a:endParaRPr lang="en-IN" sz="2000" dirty="0" smtClean="0"/>
          </a:p>
          <a:p>
            <a:pPr marL="0" indent="0">
              <a:buNone/>
            </a:pPr>
            <a:r>
              <a:rPr lang="en-IN" sz="2000" dirty="0" smtClean="0"/>
              <a:t>Scanner </a:t>
            </a:r>
            <a:r>
              <a:rPr lang="en-IN" sz="2000" dirty="0"/>
              <a:t>i1= new Scanner(System.in);        </a:t>
            </a:r>
            <a:endParaRPr lang="en-IN" sz="2000" dirty="0" smtClean="0"/>
          </a:p>
          <a:p>
            <a:pPr marL="0" indent="0">
              <a:buNone/>
            </a:pPr>
            <a:r>
              <a:rPr lang="en-IN" sz="2000" dirty="0" err="1" smtClean="0"/>
              <a:t>int</a:t>
            </a:r>
            <a:r>
              <a:rPr lang="en-IN" sz="2000" dirty="0" smtClean="0"/>
              <a:t> </a:t>
            </a:r>
            <a:r>
              <a:rPr lang="en-IN" sz="2000" dirty="0"/>
              <a:t>n1;        </a:t>
            </a:r>
            <a:endParaRPr lang="en-IN" sz="2000" dirty="0" smtClean="0"/>
          </a:p>
          <a:p>
            <a:pPr marL="0" indent="0">
              <a:buNone/>
            </a:pPr>
            <a:r>
              <a:rPr lang="en-IN" sz="2000" dirty="0" err="1" smtClean="0"/>
              <a:t>int</a:t>
            </a:r>
            <a:r>
              <a:rPr lang="en-IN" sz="2000" dirty="0" smtClean="0"/>
              <a:t> </a:t>
            </a:r>
            <a:r>
              <a:rPr lang="en-IN" sz="2000" dirty="0"/>
              <a:t>n2;        </a:t>
            </a:r>
            <a:endParaRPr lang="en-IN" sz="2000" dirty="0" smtClean="0"/>
          </a:p>
          <a:p>
            <a:pPr marL="0" indent="0">
              <a:buNone/>
            </a:pPr>
            <a:r>
              <a:rPr lang="en-IN" sz="2000" dirty="0" err="1" smtClean="0"/>
              <a:t>int</a:t>
            </a:r>
            <a:r>
              <a:rPr lang="en-IN" sz="2000" dirty="0" smtClean="0"/>
              <a:t> </a:t>
            </a:r>
            <a:r>
              <a:rPr lang="en-IN" sz="2000" dirty="0"/>
              <a:t>sum;       </a:t>
            </a:r>
            <a:endParaRPr lang="en-IN" sz="2000" dirty="0" smtClean="0"/>
          </a:p>
          <a:p>
            <a:pPr marL="0" indent="0">
              <a:buNone/>
            </a:pPr>
            <a:r>
              <a:rPr lang="en-IN" sz="2000" dirty="0" smtClean="0"/>
              <a:t> </a:t>
            </a:r>
            <a:r>
              <a:rPr lang="en-IN" sz="2000" dirty="0" err="1"/>
              <a:t>System.out.println</a:t>
            </a:r>
            <a:r>
              <a:rPr lang="en-IN" sz="2000" dirty="0"/>
              <a:t>("Enter first integer");        </a:t>
            </a:r>
            <a:endParaRPr lang="en-IN" sz="2000" dirty="0" smtClean="0"/>
          </a:p>
          <a:p>
            <a:pPr marL="0" indent="0">
              <a:buNone/>
            </a:pPr>
            <a:r>
              <a:rPr lang="en-IN" sz="2000" dirty="0" smtClean="0"/>
              <a:t>n1=i1.nextInt</a:t>
            </a:r>
            <a:r>
              <a:rPr lang="en-IN" sz="2000" dirty="0"/>
              <a:t>();        </a:t>
            </a:r>
            <a:endParaRPr lang="en-IN" sz="2000" dirty="0" smtClean="0"/>
          </a:p>
          <a:p>
            <a:pPr marL="0" indent="0">
              <a:buNone/>
            </a:pPr>
            <a:r>
              <a:rPr lang="en-IN" sz="2000" dirty="0" err="1" smtClean="0"/>
              <a:t>System.out.println</a:t>
            </a:r>
            <a:r>
              <a:rPr lang="en-IN" sz="2000" dirty="0"/>
              <a:t>("Enter two integer");        </a:t>
            </a:r>
            <a:endParaRPr lang="en-IN" sz="2000" dirty="0" smtClean="0"/>
          </a:p>
          <a:p>
            <a:pPr marL="0" indent="0">
              <a:buNone/>
            </a:pPr>
            <a:r>
              <a:rPr lang="en-IN" sz="2000" dirty="0" smtClean="0"/>
              <a:t>n2=i1.nextInt</a:t>
            </a:r>
            <a:r>
              <a:rPr lang="en-IN" sz="2000" dirty="0"/>
              <a:t>();        </a:t>
            </a:r>
            <a:endParaRPr lang="en-IN" sz="2000" dirty="0" smtClean="0"/>
          </a:p>
          <a:p>
            <a:pPr marL="0" indent="0">
              <a:buNone/>
            </a:pPr>
            <a:r>
              <a:rPr lang="en-IN" sz="2000" dirty="0" smtClean="0"/>
              <a:t>sum=n1+n2</a:t>
            </a:r>
            <a:r>
              <a:rPr lang="en-IN" sz="2000" dirty="0"/>
              <a:t>;        </a:t>
            </a:r>
            <a:endParaRPr lang="en-IN" sz="2000" dirty="0" smtClean="0"/>
          </a:p>
          <a:p>
            <a:pPr marL="0" indent="0">
              <a:buNone/>
            </a:pPr>
            <a:r>
              <a:rPr lang="en-IN" sz="2000" dirty="0" err="1" smtClean="0"/>
              <a:t>System.out.println</a:t>
            </a:r>
            <a:r>
              <a:rPr lang="en-IN" sz="2000" dirty="0"/>
              <a:t>("Sum </a:t>
            </a:r>
            <a:r>
              <a:rPr lang="en-IN" sz="2000" dirty="0" err="1"/>
              <a:t>is"+sum</a:t>
            </a:r>
            <a:r>
              <a:rPr lang="en-IN" sz="2000" dirty="0"/>
              <a:t>);    </a:t>
            </a:r>
            <a:endParaRPr lang="en-IN" sz="2000" dirty="0" smtClean="0"/>
          </a:p>
          <a:p>
            <a:pPr marL="0" indent="0">
              <a:buNone/>
            </a:pPr>
            <a:r>
              <a:rPr lang="en-IN" sz="2000" dirty="0" smtClean="0"/>
              <a:t> </a:t>
            </a:r>
            <a:r>
              <a:rPr lang="en-IN" sz="2000" dirty="0"/>
              <a:t>}}</a:t>
            </a:r>
          </a:p>
        </p:txBody>
      </p:sp>
      <p:sp>
        <p:nvSpPr>
          <p:cNvPr id="4" name="Content Placeholder 3"/>
          <p:cNvSpPr>
            <a:spLocks noGrp="1"/>
          </p:cNvSpPr>
          <p:nvPr>
            <p:ph sz="half" idx="2"/>
          </p:nvPr>
        </p:nvSpPr>
        <p:spPr>
          <a:xfrm>
            <a:off x="5284694" y="726141"/>
            <a:ext cx="6069106" cy="5450822"/>
          </a:xfrm>
        </p:spPr>
        <p:txBody>
          <a:bodyPr>
            <a:normAutofit lnSpcReduction="10000"/>
          </a:bodyPr>
          <a:lstStyle/>
          <a:p>
            <a:pPr marL="0" indent="0">
              <a:buNone/>
            </a:pPr>
            <a:r>
              <a:rPr lang="en-IN" sz="2000" dirty="0" smtClean="0"/>
              <a:t>Scanner class in </a:t>
            </a:r>
            <a:r>
              <a:rPr lang="en-IN" sz="2000" dirty="0" err="1" smtClean="0"/>
              <a:t>java.util</a:t>
            </a:r>
            <a:r>
              <a:rPr lang="en-IN" sz="2000" dirty="0" smtClean="0"/>
              <a:t> package</a:t>
            </a:r>
          </a:p>
          <a:p>
            <a:pPr marL="0" indent="0">
              <a:buNone/>
            </a:pPr>
            <a:r>
              <a:rPr lang="en-IN" sz="2000" dirty="0"/>
              <a:t>	</a:t>
            </a:r>
            <a:r>
              <a:rPr lang="en-IN" sz="2000" dirty="0" smtClean="0"/>
              <a:t>new keyword to create a scanner object that reads keystrokes from keyboard.</a:t>
            </a:r>
          </a:p>
          <a:p>
            <a:pPr marL="0" indent="0">
              <a:buNone/>
            </a:pPr>
            <a:endParaRPr lang="en-IN" sz="2000" dirty="0" smtClean="0"/>
          </a:p>
          <a:p>
            <a:pPr marL="0" indent="0">
              <a:buNone/>
            </a:pPr>
            <a:r>
              <a:rPr lang="en-IN" sz="2000" dirty="0" smtClean="0"/>
              <a:t>System.in</a:t>
            </a:r>
            <a:r>
              <a:rPr lang="en-IN" sz="2000" dirty="0" smtClean="0">
                <a:sym typeface="Wingdings" panose="05000000000000000000" pitchFamily="2" charset="2"/>
              </a:rPr>
              <a:t> enables applications to read bytes of info typed by the user.</a:t>
            </a:r>
          </a:p>
          <a:p>
            <a:pPr marL="0" indent="0">
              <a:buNone/>
            </a:pPr>
            <a:endParaRPr lang="en-IN" sz="2000" dirty="0">
              <a:sym typeface="Wingdings" panose="05000000000000000000" pitchFamily="2" charset="2"/>
            </a:endParaRPr>
          </a:p>
          <a:p>
            <a:pPr marL="0" indent="0">
              <a:buNone/>
            </a:pPr>
            <a:r>
              <a:rPr lang="en-IN" sz="2000" dirty="0" err="1" smtClean="0">
                <a:sym typeface="Wingdings" panose="05000000000000000000" pitchFamily="2" charset="2"/>
              </a:rPr>
              <a:t>nextInt</a:t>
            </a:r>
            <a:r>
              <a:rPr lang="en-IN" sz="2000" dirty="0" smtClean="0">
                <a:sym typeface="Wingdings" panose="05000000000000000000" pitchFamily="2" charset="2"/>
              </a:rPr>
              <a:t>()- To input an integer typed by the user @keyboard</a:t>
            </a:r>
          </a:p>
          <a:p>
            <a:pPr marL="0" indent="0">
              <a:buNone/>
            </a:pPr>
            <a:endParaRPr lang="en-IN" sz="2000" dirty="0" smtClean="0">
              <a:sym typeface="Wingdings" panose="05000000000000000000" pitchFamily="2" charset="2"/>
            </a:endParaRPr>
          </a:p>
          <a:p>
            <a:pPr marL="0" indent="0">
              <a:buNone/>
            </a:pPr>
            <a:r>
              <a:rPr lang="en-IN" sz="2000" dirty="0">
                <a:sym typeface="Wingdings" panose="05000000000000000000" pitchFamily="2" charset="2"/>
              </a:rPr>
              <a:t>next(), </a:t>
            </a:r>
            <a:r>
              <a:rPr lang="en-IN" sz="2000" dirty="0" err="1">
                <a:sym typeface="Wingdings" panose="05000000000000000000" pitchFamily="2" charset="2"/>
              </a:rPr>
              <a:t>nextLine</a:t>
            </a:r>
            <a:r>
              <a:rPr lang="en-IN" sz="2000" dirty="0">
                <a:sym typeface="Wingdings" panose="05000000000000000000" pitchFamily="2" charset="2"/>
              </a:rPr>
              <a:t>(), </a:t>
            </a:r>
            <a:r>
              <a:rPr lang="en-IN" sz="2000" dirty="0" err="1">
                <a:sym typeface="Wingdings" panose="05000000000000000000" pitchFamily="2" charset="2"/>
              </a:rPr>
              <a:t>nextInt</a:t>
            </a:r>
            <a:r>
              <a:rPr lang="en-IN" sz="2000" dirty="0">
                <a:sym typeface="Wingdings" panose="05000000000000000000" pitchFamily="2" charset="2"/>
              </a:rPr>
              <a:t>(), </a:t>
            </a:r>
            <a:r>
              <a:rPr lang="en-IN" sz="2000" dirty="0" err="1">
                <a:sym typeface="Wingdings" panose="05000000000000000000" pitchFamily="2" charset="2"/>
              </a:rPr>
              <a:t>nextDouble</a:t>
            </a:r>
            <a:r>
              <a:rPr lang="en-IN" sz="2000" dirty="0">
                <a:sym typeface="Wingdings" panose="05000000000000000000" pitchFamily="2" charset="2"/>
              </a:rPr>
              <a:t>()</a:t>
            </a:r>
            <a:endParaRPr lang="en-IN" sz="2000" dirty="0" smtClean="0">
              <a:sym typeface="Wingdings" panose="05000000000000000000" pitchFamily="2" charset="2"/>
            </a:endParaRPr>
          </a:p>
          <a:p>
            <a:pPr marL="0" indent="0">
              <a:buNone/>
            </a:pPr>
            <a:endParaRPr lang="en-IN" dirty="0"/>
          </a:p>
        </p:txBody>
      </p:sp>
    </p:spTree>
    <p:extLst>
      <p:ext uri="{BB962C8B-B14F-4D97-AF65-F5344CB8AC3E}">
        <p14:creationId xmlns:p14="http://schemas.microsoft.com/office/powerpoint/2010/main" val="8464406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66887"/>
          </a:xfrm>
        </p:spPr>
        <p:txBody>
          <a:bodyPr>
            <a:normAutofit fontScale="90000"/>
          </a:bodyPr>
          <a:lstStyle/>
          <a:p>
            <a:r>
              <a:rPr lang="en-IN" dirty="0" smtClean="0"/>
              <a:t>Introduction to Java</a:t>
            </a:r>
            <a:endParaRPr lang="en-IN" dirty="0"/>
          </a:p>
        </p:txBody>
      </p:sp>
      <p:sp>
        <p:nvSpPr>
          <p:cNvPr id="3" name="Content Placeholder 2"/>
          <p:cNvSpPr>
            <a:spLocks noGrp="1"/>
          </p:cNvSpPr>
          <p:nvPr>
            <p:ph sz="half" idx="1"/>
          </p:nvPr>
        </p:nvSpPr>
        <p:spPr>
          <a:xfrm>
            <a:off x="282388" y="833718"/>
            <a:ext cx="5737412" cy="5343245"/>
          </a:xfrm>
        </p:spPr>
        <p:txBody>
          <a:bodyPr>
            <a:normAutofit/>
          </a:bodyPr>
          <a:lstStyle/>
          <a:p>
            <a:pPr marL="0" indent="0">
              <a:buNone/>
            </a:pPr>
            <a:r>
              <a:rPr lang="en-IN" sz="2000" dirty="0"/>
              <a:t>import </a:t>
            </a:r>
            <a:r>
              <a:rPr lang="en-IN" sz="2000" dirty="0" err="1"/>
              <a:t>java.util</a:t>
            </a:r>
            <a:r>
              <a:rPr lang="en-IN" sz="2000" dirty="0"/>
              <a:t>.*;</a:t>
            </a:r>
          </a:p>
          <a:p>
            <a:pPr marL="0" indent="0">
              <a:buNone/>
            </a:pPr>
            <a:r>
              <a:rPr lang="en-IN" sz="2000" dirty="0"/>
              <a:t>public class addition{     </a:t>
            </a:r>
          </a:p>
          <a:p>
            <a:pPr marL="0" indent="0">
              <a:buNone/>
            </a:pPr>
            <a:r>
              <a:rPr lang="en-IN" sz="2000" dirty="0"/>
              <a:t>public static void main(String []</a:t>
            </a:r>
            <a:r>
              <a:rPr lang="en-IN" sz="2000" dirty="0" err="1"/>
              <a:t>args</a:t>
            </a:r>
            <a:r>
              <a:rPr lang="en-IN" sz="2000" dirty="0"/>
              <a:t>){                 </a:t>
            </a:r>
          </a:p>
          <a:p>
            <a:pPr marL="0" indent="0">
              <a:buNone/>
            </a:pPr>
            <a:r>
              <a:rPr lang="en-IN" sz="2000" dirty="0"/>
              <a:t>Scanner i1= new Scanner(System.in);   </a:t>
            </a:r>
          </a:p>
          <a:p>
            <a:pPr marL="0" indent="0">
              <a:buNone/>
            </a:pPr>
            <a:r>
              <a:rPr lang="en-IN" sz="2000" dirty="0" err="1"/>
              <a:t>System.out.println</a:t>
            </a:r>
            <a:r>
              <a:rPr lang="en-IN" sz="2000" dirty="0"/>
              <a:t>("Enter string for c");   </a:t>
            </a:r>
          </a:p>
          <a:p>
            <a:pPr marL="0" indent="0">
              <a:buNone/>
            </a:pPr>
            <a:r>
              <a:rPr lang="en-IN" sz="2000" dirty="0"/>
              <a:t>String c=i1.next();      </a:t>
            </a:r>
          </a:p>
          <a:p>
            <a:pPr marL="0" indent="0">
              <a:buNone/>
            </a:pPr>
            <a:r>
              <a:rPr lang="en-IN" sz="2000" dirty="0"/>
              <a:t> </a:t>
            </a:r>
            <a:r>
              <a:rPr lang="en-IN" sz="2000" dirty="0" err="1"/>
              <a:t>System.out.println</a:t>
            </a:r>
            <a:r>
              <a:rPr lang="en-IN" sz="2000" dirty="0"/>
              <a:t>("C="+c); </a:t>
            </a:r>
          </a:p>
          <a:p>
            <a:pPr marL="0" indent="0">
              <a:buNone/>
            </a:pPr>
            <a:r>
              <a:rPr lang="en-IN" sz="2000" dirty="0"/>
              <a:t> </a:t>
            </a:r>
            <a:r>
              <a:rPr lang="en-IN" sz="2000" dirty="0" err="1" smtClean="0"/>
              <a:t>System.out.println</a:t>
            </a:r>
            <a:r>
              <a:rPr lang="en-IN" sz="2000" dirty="0"/>
              <a:t>("Enter string for d");        </a:t>
            </a:r>
          </a:p>
          <a:p>
            <a:pPr marL="0" indent="0">
              <a:buNone/>
            </a:pPr>
            <a:r>
              <a:rPr lang="en-IN" sz="2000" dirty="0"/>
              <a:t>String d=i1.next(); </a:t>
            </a:r>
          </a:p>
          <a:p>
            <a:pPr marL="0" indent="0">
              <a:buNone/>
            </a:pPr>
            <a:r>
              <a:rPr lang="en-IN" sz="2000" dirty="0" err="1" smtClean="0"/>
              <a:t>System.out.println</a:t>
            </a:r>
            <a:r>
              <a:rPr lang="en-IN" sz="2000" dirty="0"/>
              <a:t>("d:"+d);    </a:t>
            </a:r>
          </a:p>
          <a:p>
            <a:pPr marL="0" indent="0">
              <a:buNone/>
            </a:pPr>
            <a:r>
              <a:rPr lang="en-IN" sz="2000" dirty="0"/>
              <a:t> }}</a:t>
            </a:r>
          </a:p>
        </p:txBody>
      </p:sp>
      <p:sp>
        <p:nvSpPr>
          <p:cNvPr id="4" name="Content Placeholder 3"/>
          <p:cNvSpPr>
            <a:spLocks noGrp="1"/>
          </p:cNvSpPr>
          <p:nvPr>
            <p:ph sz="half" idx="2"/>
          </p:nvPr>
        </p:nvSpPr>
        <p:spPr>
          <a:xfrm>
            <a:off x="5284694" y="726141"/>
            <a:ext cx="6069106" cy="5450822"/>
          </a:xfrm>
        </p:spPr>
        <p:txBody>
          <a:bodyPr>
            <a:normAutofit/>
          </a:bodyPr>
          <a:lstStyle/>
          <a:p>
            <a:pPr marL="0" indent="0">
              <a:buNone/>
            </a:pPr>
            <a:endParaRPr lang="en-IN" sz="2000" dirty="0">
              <a:sym typeface="Wingdings" panose="05000000000000000000" pitchFamily="2" charset="2"/>
            </a:endParaRPr>
          </a:p>
          <a:p>
            <a:pPr marL="0" indent="0">
              <a:buNone/>
            </a:pPr>
            <a:r>
              <a:rPr lang="en-IN" sz="2000" dirty="0">
                <a:sym typeface="Wingdings" panose="05000000000000000000" pitchFamily="2" charset="2"/>
              </a:rPr>
              <a:t>n</a:t>
            </a:r>
            <a:r>
              <a:rPr lang="en-IN" sz="2000" dirty="0" smtClean="0">
                <a:sym typeface="Wingdings" panose="05000000000000000000" pitchFamily="2" charset="2"/>
              </a:rPr>
              <a:t>ext()- To read input only till space</a:t>
            </a:r>
          </a:p>
          <a:p>
            <a:pPr marL="0" indent="0">
              <a:buNone/>
            </a:pPr>
            <a:r>
              <a:rPr lang="en-IN" sz="2000" dirty="0" smtClean="0">
                <a:sym typeface="Wingdings" panose="05000000000000000000" pitchFamily="2" charset="2"/>
              </a:rPr>
              <a:t>It cant read two words separated by space.</a:t>
            </a:r>
          </a:p>
          <a:p>
            <a:pPr marL="0" indent="0">
              <a:buNone/>
            </a:pPr>
            <a:r>
              <a:rPr lang="en-IN" sz="2000" dirty="0" smtClean="0">
                <a:sym typeface="Wingdings" panose="05000000000000000000" pitchFamily="2" charset="2"/>
              </a:rPr>
              <a:t>Places the cursor in the same line after reading the input.</a:t>
            </a:r>
          </a:p>
          <a:p>
            <a:pPr marL="0" indent="0">
              <a:buNone/>
            </a:pPr>
            <a:endParaRPr lang="en-IN" sz="2000" dirty="0" smtClean="0">
              <a:sym typeface="Wingdings" panose="05000000000000000000" pitchFamily="2" charset="2"/>
            </a:endParaRPr>
          </a:p>
          <a:p>
            <a:pPr marL="0" indent="0">
              <a:buNone/>
            </a:pPr>
            <a:endParaRPr lang="en-IN" sz="2000" dirty="0" smtClean="0">
              <a:sym typeface="Wingdings" panose="05000000000000000000" pitchFamily="2" charset="2"/>
            </a:endParaRPr>
          </a:p>
          <a:p>
            <a:pPr marL="0" indent="0">
              <a:buNone/>
            </a:pPr>
            <a:endParaRPr lang="en-IN" sz="2000" dirty="0">
              <a:sym typeface="Wingdings" panose="05000000000000000000" pitchFamily="2" charset="2"/>
            </a:endParaRPr>
          </a:p>
          <a:p>
            <a:pPr marL="0" indent="0">
              <a:buNone/>
            </a:pPr>
            <a:endParaRPr lang="en-IN" sz="2000" dirty="0" smtClean="0">
              <a:sym typeface="Wingdings" panose="05000000000000000000" pitchFamily="2" charset="2"/>
            </a:endParaRPr>
          </a:p>
          <a:p>
            <a:pPr marL="0" indent="0">
              <a:buNone/>
            </a:pPr>
            <a:r>
              <a:rPr lang="en-IN" sz="2000" dirty="0" err="1" smtClean="0">
                <a:sym typeface="Wingdings" panose="05000000000000000000" pitchFamily="2" charset="2"/>
              </a:rPr>
              <a:t>nextLine</a:t>
            </a:r>
            <a:r>
              <a:rPr lang="en-IN" sz="2000" dirty="0" smtClean="0">
                <a:sym typeface="Wingdings" panose="05000000000000000000" pitchFamily="2" charset="2"/>
              </a:rPr>
              <a:t>()- reads input including space between words (that is read till newline)</a:t>
            </a:r>
          </a:p>
          <a:p>
            <a:pPr marL="0" indent="0">
              <a:buNone/>
            </a:pPr>
            <a:r>
              <a:rPr lang="en-IN" sz="2000" dirty="0" smtClean="0">
                <a:sym typeface="Wingdings" panose="05000000000000000000" pitchFamily="2" charset="2"/>
              </a:rPr>
              <a:t>Once the input is read, Positions the cursor in next line</a:t>
            </a:r>
            <a:endParaRPr lang="en-IN" dirty="0"/>
          </a:p>
        </p:txBody>
      </p:sp>
      <p:pic>
        <p:nvPicPr>
          <p:cNvPr id="5" name="Picture 4"/>
          <p:cNvPicPr>
            <a:picLocks noChangeAspect="1"/>
          </p:cNvPicPr>
          <p:nvPr/>
        </p:nvPicPr>
        <p:blipFill>
          <a:blip r:embed="rId2"/>
          <a:stretch>
            <a:fillRect/>
          </a:stretch>
        </p:blipFill>
        <p:spPr>
          <a:xfrm>
            <a:off x="7077075" y="2305469"/>
            <a:ext cx="2895600" cy="1906149"/>
          </a:xfrm>
          <a:prstGeom prst="rect">
            <a:avLst/>
          </a:prstGeom>
        </p:spPr>
      </p:pic>
      <p:pic>
        <p:nvPicPr>
          <p:cNvPr id="6" name="Picture 5"/>
          <p:cNvPicPr>
            <a:picLocks noChangeAspect="1"/>
          </p:cNvPicPr>
          <p:nvPr/>
        </p:nvPicPr>
        <p:blipFill>
          <a:blip r:embed="rId3"/>
          <a:stretch>
            <a:fillRect/>
          </a:stretch>
        </p:blipFill>
        <p:spPr>
          <a:xfrm>
            <a:off x="6515099" y="5273684"/>
            <a:ext cx="3186113" cy="1584315"/>
          </a:xfrm>
          <a:prstGeom prst="rect">
            <a:avLst/>
          </a:prstGeom>
        </p:spPr>
      </p:pic>
    </p:spTree>
    <p:extLst>
      <p:ext uri="{BB962C8B-B14F-4D97-AF65-F5344CB8AC3E}">
        <p14:creationId xmlns:p14="http://schemas.microsoft.com/office/powerpoint/2010/main" val="24061247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Java-Variables</a:t>
            </a:r>
            <a:endParaRPr lang="en-IN" dirty="0"/>
          </a:p>
        </p:txBody>
      </p:sp>
      <p:sp>
        <p:nvSpPr>
          <p:cNvPr id="3" name="Content Placeholder 2"/>
          <p:cNvSpPr>
            <a:spLocks noGrp="1"/>
          </p:cNvSpPr>
          <p:nvPr>
            <p:ph idx="1"/>
          </p:nvPr>
        </p:nvSpPr>
        <p:spPr>
          <a:xfrm>
            <a:off x="107576" y="468593"/>
            <a:ext cx="12084424" cy="6268383"/>
          </a:xfrm>
        </p:spPr>
        <p:txBody>
          <a:bodyPr>
            <a:normAutofit/>
          </a:bodyPr>
          <a:lstStyle/>
          <a:p>
            <a:pPr marL="0" indent="0">
              <a:buNone/>
            </a:pPr>
            <a:r>
              <a:rPr lang="en-US" sz="2000" dirty="0"/>
              <a:t>In </a:t>
            </a:r>
            <a:r>
              <a:rPr lang="en-US" sz="2000" dirty="0" smtClean="0"/>
              <a:t>Java</a:t>
            </a:r>
            <a:r>
              <a:rPr lang="en-US" sz="2000" dirty="0"/>
              <a:t>, you can get input in several ways depending on the source of input (keyboard, file, GUI, network, etc</a:t>
            </a:r>
            <a:r>
              <a:rPr lang="en-US" sz="2000" dirty="0" smtClean="0"/>
              <a:t>.).</a:t>
            </a:r>
            <a:endParaRPr lang="en-US" sz="2000" dirty="0"/>
          </a:p>
          <a:p>
            <a:pPr marL="0" indent="0">
              <a:buNone/>
            </a:pPr>
            <a:endParaRPr lang="en-US" sz="2000" dirty="0" smtClean="0"/>
          </a:p>
        </p:txBody>
      </p:sp>
      <p:graphicFrame>
        <p:nvGraphicFramePr>
          <p:cNvPr id="4" name="Table 3"/>
          <p:cNvGraphicFramePr>
            <a:graphicFrameLocks noGrp="1"/>
          </p:cNvGraphicFramePr>
          <p:nvPr>
            <p:extLst>
              <p:ext uri="{D42A27DB-BD31-4B8C-83A1-F6EECF244321}">
                <p14:modId xmlns:p14="http://schemas.microsoft.com/office/powerpoint/2010/main" val="1624021529"/>
              </p:ext>
            </p:extLst>
          </p:nvPr>
        </p:nvGraphicFramePr>
        <p:xfrm>
          <a:off x="838200" y="1264358"/>
          <a:ext cx="10515600" cy="3834216"/>
        </p:xfrm>
        <a:graphic>
          <a:graphicData uri="http://schemas.openxmlformats.org/drawingml/2006/table">
            <a:tbl>
              <a:tblPr/>
              <a:tblGrid>
                <a:gridCol w="5257800">
                  <a:extLst>
                    <a:ext uri="{9D8B030D-6E8A-4147-A177-3AD203B41FA5}">
                      <a16:colId xmlns:a16="http://schemas.microsoft.com/office/drawing/2014/main" val="1032449502"/>
                    </a:ext>
                  </a:extLst>
                </a:gridCol>
                <a:gridCol w="5257800">
                  <a:extLst>
                    <a:ext uri="{9D8B030D-6E8A-4147-A177-3AD203B41FA5}">
                      <a16:colId xmlns:a16="http://schemas.microsoft.com/office/drawing/2014/main" val="3337985765"/>
                    </a:ext>
                  </a:extLst>
                </a:gridCol>
              </a:tblGrid>
              <a:tr h="639036">
                <a:tc>
                  <a:txBody>
                    <a:bodyPr/>
                    <a:lstStyle/>
                    <a:p>
                      <a:r>
                        <a:rPr lang="en-IN"/>
                        <a:t>Source</a:t>
                      </a:r>
                    </a:p>
                  </a:txBody>
                  <a:tcPr anchor="ctr">
                    <a:lnL>
                      <a:noFill/>
                    </a:lnL>
                    <a:lnR>
                      <a:noFill/>
                    </a:lnR>
                    <a:lnT>
                      <a:noFill/>
                    </a:lnT>
                    <a:lnB>
                      <a:noFill/>
                    </a:lnB>
                  </a:tcPr>
                </a:tc>
                <a:tc>
                  <a:txBody>
                    <a:bodyPr/>
                    <a:lstStyle/>
                    <a:p>
                      <a:r>
                        <a:rPr lang="en-IN"/>
                        <a:t>Method/Class Used</a:t>
                      </a:r>
                    </a:p>
                  </a:txBody>
                  <a:tcPr anchor="ctr">
                    <a:lnL>
                      <a:noFill/>
                    </a:lnL>
                    <a:lnR>
                      <a:noFill/>
                    </a:lnR>
                    <a:lnT>
                      <a:noFill/>
                    </a:lnT>
                    <a:lnB>
                      <a:noFill/>
                    </a:lnB>
                  </a:tcPr>
                </a:tc>
                <a:extLst>
                  <a:ext uri="{0D108BD9-81ED-4DB2-BD59-A6C34878D82A}">
                    <a16:rowId xmlns:a16="http://schemas.microsoft.com/office/drawing/2014/main" val="3150474783"/>
                  </a:ext>
                </a:extLst>
              </a:tr>
              <a:tr h="639036">
                <a:tc>
                  <a:txBody>
                    <a:bodyPr/>
                    <a:lstStyle/>
                    <a:p>
                      <a:r>
                        <a:rPr lang="en-IN" b="1"/>
                        <a:t>Console (basic)</a:t>
                      </a:r>
                      <a:endParaRPr lang="en-IN"/>
                    </a:p>
                  </a:txBody>
                  <a:tcPr anchor="ctr">
                    <a:lnL>
                      <a:noFill/>
                    </a:lnL>
                    <a:lnR>
                      <a:noFill/>
                    </a:lnR>
                    <a:lnT>
                      <a:noFill/>
                    </a:lnT>
                    <a:lnB>
                      <a:noFill/>
                    </a:lnB>
                  </a:tcPr>
                </a:tc>
                <a:tc>
                  <a:txBody>
                    <a:bodyPr/>
                    <a:lstStyle/>
                    <a:p>
                      <a:r>
                        <a:rPr lang="en-IN"/>
                        <a:t>Scanner, BufferedReader, Console</a:t>
                      </a:r>
                    </a:p>
                  </a:txBody>
                  <a:tcPr anchor="ctr">
                    <a:lnL>
                      <a:noFill/>
                    </a:lnL>
                    <a:lnR>
                      <a:noFill/>
                    </a:lnR>
                    <a:lnT>
                      <a:noFill/>
                    </a:lnT>
                    <a:lnB>
                      <a:noFill/>
                    </a:lnB>
                  </a:tcPr>
                </a:tc>
                <a:extLst>
                  <a:ext uri="{0D108BD9-81ED-4DB2-BD59-A6C34878D82A}">
                    <a16:rowId xmlns:a16="http://schemas.microsoft.com/office/drawing/2014/main" val="3584125644"/>
                  </a:ext>
                </a:extLst>
              </a:tr>
              <a:tr h="639036">
                <a:tc>
                  <a:txBody>
                    <a:bodyPr/>
                    <a:lstStyle/>
                    <a:p>
                      <a:r>
                        <a:rPr lang="en-IN" b="1"/>
                        <a:t>File input</a:t>
                      </a:r>
                      <a:endParaRPr lang="en-IN"/>
                    </a:p>
                  </a:txBody>
                  <a:tcPr anchor="ctr">
                    <a:lnL>
                      <a:noFill/>
                    </a:lnL>
                    <a:lnR>
                      <a:noFill/>
                    </a:lnR>
                    <a:lnT>
                      <a:noFill/>
                    </a:lnT>
                    <a:lnB>
                      <a:noFill/>
                    </a:lnB>
                  </a:tcPr>
                </a:tc>
                <a:tc>
                  <a:txBody>
                    <a:bodyPr/>
                    <a:lstStyle/>
                    <a:p>
                      <a:r>
                        <a:rPr lang="en-IN"/>
                        <a:t>BufferedReader, FileReader, Scanner</a:t>
                      </a:r>
                    </a:p>
                  </a:txBody>
                  <a:tcPr anchor="ctr">
                    <a:lnL>
                      <a:noFill/>
                    </a:lnL>
                    <a:lnR>
                      <a:noFill/>
                    </a:lnR>
                    <a:lnT>
                      <a:noFill/>
                    </a:lnT>
                    <a:lnB>
                      <a:noFill/>
                    </a:lnB>
                  </a:tcPr>
                </a:tc>
                <a:extLst>
                  <a:ext uri="{0D108BD9-81ED-4DB2-BD59-A6C34878D82A}">
                    <a16:rowId xmlns:a16="http://schemas.microsoft.com/office/drawing/2014/main" val="1385994045"/>
                  </a:ext>
                </a:extLst>
              </a:tr>
              <a:tr h="639036">
                <a:tc>
                  <a:txBody>
                    <a:bodyPr/>
                    <a:lstStyle/>
                    <a:p>
                      <a:r>
                        <a:rPr lang="en-IN" b="1"/>
                        <a:t>GUI input</a:t>
                      </a:r>
                      <a:endParaRPr lang="en-IN"/>
                    </a:p>
                  </a:txBody>
                  <a:tcPr anchor="ctr">
                    <a:lnL>
                      <a:noFill/>
                    </a:lnL>
                    <a:lnR>
                      <a:noFill/>
                    </a:lnR>
                    <a:lnT>
                      <a:noFill/>
                    </a:lnT>
                    <a:lnB>
                      <a:noFill/>
                    </a:lnB>
                  </a:tcPr>
                </a:tc>
                <a:tc>
                  <a:txBody>
                    <a:bodyPr/>
                    <a:lstStyle/>
                    <a:p>
                      <a:r>
                        <a:rPr lang="en-IN"/>
                        <a:t>JOptionPane (Swing)</a:t>
                      </a:r>
                    </a:p>
                  </a:txBody>
                  <a:tcPr anchor="ctr">
                    <a:lnL>
                      <a:noFill/>
                    </a:lnL>
                    <a:lnR>
                      <a:noFill/>
                    </a:lnR>
                    <a:lnT>
                      <a:noFill/>
                    </a:lnT>
                    <a:lnB>
                      <a:noFill/>
                    </a:lnB>
                  </a:tcPr>
                </a:tc>
                <a:extLst>
                  <a:ext uri="{0D108BD9-81ED-4DB2-BD59-A6C34878D82A}">
                    <a16:rowId xmlns:a16="http://schemas.microsoft.com/office/drawing/2014/main" val="2921856570"/>
                  </a:ext>
                </a:extLst>
              </a:tr>
              <a:tr h="639036">
                <a:tc>
                  <a:txBody>
                    <a:bodyPr/>
                    <a:lstStyle/>
                    <a:p>
                      <a:r>
                        <a:rPr lang="en-IN" b="1"/>
                        <a:t>Command-line args</a:t>
                      </a:r>
                      <a:endParaRPr lang="en-IN"/>
                    </a:p>
                  </a:txBody>
                  <a:tcPr anchor="ctr">
                    <a:lnL>
                      <a:noFill/>
                    </a:lnL>
                    <a:lnR>
                      <a:noFill/>
                    </a:lnR>
                    <a:lnT>
                      <a:noFill/>
                    </a:lnT>
                    <a:lnB>
                      <a:noFill/>
                    </a:lnB>
                  </a:tcPr>
                </a:tc>
                <a:tc>
                  <a:txBody>
                    <a:bodyPr/>
                    <a:lstStyle/>
                    <a:p>
                      <a:r>
                        <a:rPr lang="en-IN"/>
                        <a:t>String[] args</a:t>
                      </a:r>
                    </a:p>
                  </a:txBody>
                  <a:tcPr anchor="ctr">
                    <a:lnL>
                      <a:noFill/>
                    </a:lnL>
                    <a:lnR>
                      <a:noFill/>
                    </a:lnR>
                    <a:lnT>
                      <a:noFill/>
                    </a:lnT>
                    <a:lnB>
                      <a:noFill/>
                    </a:lnB>
                  </a:tcPr>
                </a:tc>
                <a:extLst>
                  <a:ext uri="{0D108BD9-81ED-4DB2-BD59-A6C34878D82A}">
                    <a16:rowId xmlns:a16="http://schemas.microsoft.com/office/drawing/2014/main" val="2127620888"/>
                  </a:ext>
                </a:extLst>
              </a:tr>
              <a:tr h="639036">
                <a:tc>
                  <a:txBody>
                    <a:bodyPr/>
                    <a:lstStyle/>
                    <a:p>
                      <a:r>
                        <a:rPr lang="en-IN" b="1"/>
                        <a:t>Network input</a:t>
                      </a:r>
                      <a:endParaRPr lang="en-IN"/>
                    </a:p>
                  </a:txBody>
                  <a:tcPr anchor="ctr">
                    <a:lnL>
                      <a:noFill/>
                    </a:lnL>
                    <a:lnR>
                      <a:noFill/>
                    </a:lnR>
                    <a:lnT>
                      <a:noFill/>
                    </a:lnT>
                    <a:lnB>
                      <a:noFill/>
                    </a:lnB>
                  </a:tcPr>
                </a:tc>
                <a:tc>
                  <a:txBody>
                    <a:bodyPr/>
                    <a:lstStyle/>
                    <a:p>
                      <a:r>
                        <a:rPr lang="en-IN" dirty="0"/>
                        <a:t>Socket, </a:t>
                      </a:r>
                      <a:r>
                        <a:rPr lang="en-IN" dirty="0" err="1"/>
                        <a:t>BufferedReader</a:t>
                      </a:r>
                      <a:r>
                        <a:rPr lang="en-IN" dirty="0"/>
                        <a:t>, </a:t>
                      </a:r>
                      <a:r>
                        <a:rPr lang="en-IN" dirty="0" err="1"/>
                        <a:t>InputStream</a:t>
                      </a:r>
                      <a:endParaRPr lang="en-IN" dirty="0"/>
                    </a:p>
                  </a:txBody>
                  <a:tcPr anchor="ctr">
                    <a:lnL>
                      <a:noFill/>
                    </a:lnL>
                    <a:lnR>
                      <a:noFill/>
                    </a:lnR>
                    <a:lnT>
                      <a:noFill/>
                    </a:lnT>
                    <a:lnB>
                      <a:noFill/>
                    </a:lnB>
                  </a:tcPr>
                </a:tc>
                <a:extLst>
                  <a:ext uri="{0D108BD9-81ED-4DB2-BD59-A6C34878D82A}">
                    <a16:rowId xmlns:a16="http://schemas.microsoft.com/office/drawing/2014/main" val="842146942"/>
                  </a:ext>
                </a:extLst>
              </a:tr>
            </a:tbl>
          </a:graphicData>
        </a:graphic>
      </p:graphicFrame>
    </p:spTree>
    <p:extLst>
      <p:ext uri="{BB962C8B-B14F-4D97-AF65-F5344CB8AC3E}">
        <p14:creationId xmlns:p14="http://schemas.microsoft.com/office/powerpoint/2010/main" val="20751060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altLang="en-US" b="1" dirty="0">
                <a:latin typeface="Arial" panose="020B0604020202020204" pitchFamily="34" charset="0"/>
              </a:rPr>
              <a:t>1. Scanner Class (Most Common)</a:t>
            </a:r>
            <a:br>
              <a:rPr lang="en-US" altLang="en-US" b="1" dirty="0">
                <a:latin typeface="Arial" panose="020B0604020202020204" pitchFamily="34" charset="0"/>
              </a:rPr>
            </a:br>
            <a:endParaRPr lang="en-IN" dirty="0"/>
          </a:p>
        </p:txBody>
      </p:sp>
      <p:sp>
        <p:nvSpPr>
          <p:cNvPr id="4" name="Rectangle 1"/>
          <p:cNvSpPr>
            <a:spLocks noGrp="1" noChangeArrowheads="1"/>
          </p:cNvSpPr>
          <p:nvPr>
            <p:ph idx="1"/>
          </p:nvPr>
        </p:nvSpPr>
        <p:spPr bwMode="auto">
          <a:xfrm>
            <a:off x="838200" y="2289332"/>
            <a:ext cx="10515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Package: </a:t>
            </a:r>
            <a:r>
              <a:rPr kumimoji="0" lang="en-US" altLang="en-US" sz="1800" b="0" i="0" u="none" strike="noStrike" cap="none" normalizeH="0" baseline="0" dirty="0" err="1" smtClean="0">
                <a:ln>
                  <a:noFill/>
                </a:ln>
                <a:solidFill>
                  <a:schemeClr val="tx1"/>
                </a:solidFill>
                <a:effectLst/>
                <a:latin typeface="Arial Unicode MS"/>
              </a:rPr>
              <a:t>java.util</a:t>
            </a:r>
            <a:r>
              <a:rPr kumimoji="0" lang="en-US" altLang="en-US" sz="1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Introduced in Java 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Reads different types of data easily.</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import </a:t>
            </a:r>
            <a:r>
              <a:rPr lang="en-US" altLang="en-US" sz="1800" dirty="0" err="1">
                <a:latin typeface="Arial" panose="020B0604020202020204" pitchFamily="34" charset="0"/>
              </a:rPr>
              <a:t>java.util.Scanner</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public class </a:t>
            </a:r>
            <a:r>
              <a:rPr lang="en-US" altLang="en-US" sz="1800" dirty="0" err="1">
                <a:latin typeface="Arial" panose="020B0604020202020204" pitchFamily="34" charset="0"/>
              </a:rPr>
              <a:t>InputDemo</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public static void main(String[] </a:t>
            </a:r>
            <a:r>
              <a:rPr lang="en-US" altLang="en-US" sz="1800" dirty="0" err="1">
                <a:latin typeface="Arial" panose="020B0604020202020204" pitchFamily="34" charset="0"/>
              </a:rPr>
              <a:t>args</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a:latin typeface="Arial" panose="020B0604020202020204" pitchFamily="34" charset="0"/>
              </a:rPr>
              <a:t>Scanner </a:t>
            </a:r>
            <a:r>
              <a:rPr lang="en-US" altLang="en-US" sz="1800" dirty="0" err="1">
                <a:latin typeface="Arial" panose="020B0604020202020204" pitchFamily="34" charset="0"/>
              </a:rPr>
              <a:t>sc</a:t>
            </a:r>
            <a:r>
              <a:rPr lang="en-US" altLang="en-US" sz="1800" dirty="0">
                <a:latin typeface="Arial" panose="020B0604020202020204" pitchFamily="34" charset="0"/>
              </a:rPr>
              <a:t> = new Scanner(System.in);</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err="1">
                <a:latin typeface="Arial" panose="020B0604020202020204" pitchFamily="34" charset="0"/>
              </a:rPr>
              <a:t>System.out.print</a:t>
            </a:r>
            <a:r>
              <a:rPr lang="en-US" altLang="en-US" sz="1800" dirty="0">
                <a:latin typeface="Arial" panose="020B0604020202020204" pitchFamily="34" charset="0"/>
              </a:rPr>
              <a:t>("Enter your name: ");</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String name = </a:t>
            </a:r>
            <a:r>
              <a:rPr lang="en-US" altLang="en-US" sz="1800" dirty="0" err="1">
                <a:latin typeface="Arial" panose="020B0604020202020204" pitchFamily="34" charset="0"/>
              </a:rPr>
              <a:t>sc.nextLine</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err="1">
                <a:latin typeface="Arial" panose="020B0604020202020204" pitchFamily="34" charset="0"/>
              </a:rPr>
              <a:t>System.out.print</a:t>
            </a:r>
            <a:r>
              <a:rPr lang="en-US" altLang="en-US" sz="1800" dirty="0">
                <a:latin typeface="Arial" panose="020B0604020202020204" pitchFamily="34" charset="0"/>
              </a:rPr>
              <a:t>("Enter your age: ");</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a:t>
            </a:r>
            <a:r>
              <a:rPr lang="en-US" altLang="en-US" sz="1800" dirty="0" err="1">
                <a:latin typeface="Arial" panose="020B0604020202020204" pitchFamily="34" charset="0"/>
              </a:rPr>
              <a:t>int</a:t>
            </a:r>
            <a:r>
              <a:rPr lang="en-US" altLang="en-US" sz="1800" dirty="0">
                <a:latin typeface="Arial" panose="020B0604020202020204" pitchFamily="34" charset="0"/>
              </a:rPr>
              <a:t> age = </a:t>
            </a:r>
            <a:r>
              <a:rPr lang="en-US" altLang="en-US" sz="1800" dirty="0" err="1">
                <a:latin typeface="Arial" panose="020B0604020202020204" pitchFamily="34" charset="0"/>
              </a:rPr>
              <a:t>sc.nextInt</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err="1">
                <a:latin typeface="Arial" panose="020B0604020202020204" pitchFamily="34" charset="0"/>
              </a:rPr>
              <a:t>System.out.println</a:t>
            </a:r>
            <a:r>
              <a:rPr lang="en-US" altLang="en-US" sz="1800" dirty="0">
                <a:latin typeface="Arial" panose="020B0604020202020204" pitchFamily="34" charset="0"/>
              </a:rPr>
              <a:t>("Name: " + name);</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a:t>
            </a:r>
            <a:r>
              <a:rPr lang="en-US" altLang="en-US" sz="1800" dirty="0" err="1">
                <a:latin typeface="Arial" panose="020B0604020202020204" pitchFamily="34" charset="0"/>
              </a:rPr>
              <a:t>System.out.println</a:t>
            </a:r>
            <a:r>
              <a:rPr lang="en-US" altLang="en-US" sz="1800" dirty="0">
                <a:latin typeface="Arial" panose="020B0604020202020204" pitchFamily="34" charset="0"/>
              </a:rPr>
              <a:t>("Age: " + age);</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err="1">
                <a:latin typeface="Arial" panose="020B0604020202020204" pitchFamily="34" charset="0"/>
              </a:rPr>
              <a:t>sc.close</a:t>
            </a:r>
            <a:r>
              <a:rPr lang="en-US" altLang="en-US" sz="1800" dirty="0" smtClean="0">
                <a:latin typeface="Arial" panose="020B0604020202020204" pitchFamily="34" charset="0"/>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6716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7008"/>
          </a:xfrm>
        </p:spPr>
        <p:txBody>
          <a:bodyPr>
            <a:normAutofit fontScale="90000"/>
          </a:bodyPr>
          <a:lstStyle/>
          <a:p>
            <a:pPr lvl="0"/>
            <a:r>
              <a:rPr lang="en-IN" b="1" dirty="0"/>
              <a:t>2. </a:t>
            </a:r>
            <a:r>
              <a:rPr lang="en-IN" b="1" dirty="0" err="1"/>
              <a:t>BufferedReader</a:t>
            </a:r>
            <a:r>
              <a:rPr lang="en-IN" b="1" dirty="0"/>
              <a:t> Class</a:t>
            </a:r>
          </a:p>
        </p:txBody>
      </p:sp>
      <p:sp>
        <p:nvSpPr>
          <p:cNvPr id="4" name="Rectangle 1"/>
          <p:cNvSpPr>
            <a:spLocks noGrp="1" noChangeArrowheads="1"/>
          </p:cNvSpPr>
          <p:nvPr>
            <p:ph idx="1"/>
          </p:nvPr>
        </p:nvSpPr>
        <p:spPr bwMode="auto">
          <a:xfrm>
            <a:off x="1147234" y="948690"/>
            <a:ext cx="10525478"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1800" dirty="0">
                <a:latin typeface="Arial" panose="020B0604020202020204" pitchFamily="34" charset="0"/>
              </a:rPr>
              <a:t>Package: </a:t>
            </a:r>
            <a:r>
              <a:rPr lang="en-US" altLang="en-US" sz="1800" dirty="0" smtClean="0">
                <a:latin typeface="Arial" panose="020B0604020202020204" pitchFamily="34" charset="0"/>
              </a:rPr>
              <a:t>java.io</a:t>
            </a:r>
          </a:p>
          <a:p>
            <a:pPr eaLnBrk="0" fontAlgn="base" hangingPunct="0">
              <a:lnSpc>
                <a:spcPct val="100000"/>
              </a:lnSpc>
              <a:spcBef>
                <a:spcPct val="0"/>
              </a:spcBef>
              <a:spcAft>
                <a:spcPct val="0"/>
              </a:spcAft>
            </a:pPr>
            <a:r>
              <a:rPr lang="en-US" altLang="en-US" sz="1800" dirty="0" smtClean="0">
                <a:latin typeface="Arial" panose="020B0604020202020204" pitchFamily="34" charset="0"/>
              </a:rPr>
              <a:t>Reads </a:t>
            </a:r>
            <a:r>
              <a:rPr lang="en-US" altLang="en-US" sz="1800" dirty="0">
                <a:latin typeface="Arial" panose="020B0604020202020204" pitchFamily="34" charset="0"/>
              </a:rPr>
              <a:t>text efficiently</a:t>
            </a:r>
            <a:r>
              <a:rPr lang="en-US" altLang="en-US" sz="1800" dirty="0" smtClean="0">
                <a:latin typeface="Arial" panose="020B0604020202020204" pitchFamily="34" charset="0"/>
              </a:rPr>
              <a:t>.</a:t>
            </a:r>
          </a:p>
          <a:p>
            <a:pPr eaLnBrk="0" fontAlgn="base" hangingPunct="0">
              <a:lnSpc>
                <a:spcPct val="100000"/>
              </a:lnSpc>
              <a:spcBef>
                <a:spcPct val="0"/>
              </a:spcBef>
              <a:spcAft>
                <a:spcPct val="0"/>
              </a:spcAft>
            </a:pPr>
            <a:r>
              <a:rPr lang="en-US" altLang="en-US" sz="1800" dirty="0" smtClean="0">
                <a:latin typeface="Arial" panose="020B0604020202020204" pitchFamily="34" charset="0"/>
              </a:rPr>
              <a:t>Input </a:t>
            </a:r>
            <a:r>
              <a:rPr lang="en-US" altLang="en-US" sz="1800" dirty="0">
                <a:latin typeface="Arial" panose="020B0604020202020204" pitchFamily="34" charset="0"/>
              </a:rPr>
              <a:t>is read as a String and converted to other types manually.</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import </a:t>
            </a:r>
            <a:r>
              <a:rPr lang="en-US" altLang="en-US" sz="1800" dirty="0" err="1">
                <a:latin typeface="Arial" panose="020B0604020202020204" pitchFamily="34" charset="0"/>
              </a:rPr>
              <a:t>java.io.BufferedReader</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import </a:t>
            </a:r>
            <a:r>
              <a:rPr lang="en-US" altLang="en-US" sz="1800" dirty="0" err="1">
                <a:latin typeface="Arial" panose="020B0604020202020204" pitchFamily="34" charset="0"/>
              </a:rPr>
              <a:t>java.io.InputStreamReader</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import </a:t>
            </a:r>
            <a:r>
              <a:rPr lang="en-US" altLang="en-US" sz="1800" dirty="0" err="1">
                <a:latin typeface="Arial" panose="020B0604020202020204" pitchFamily="34" charset="0"/>
              </a:rPr>
              <a:t>java.io.IOException</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public class </a:t>
            </a:r>
            <a:r>
              <a:rPr lang="en-US" altLang="en-US" sz="1800" dirty="0" err="1">
                <a:latin typeface="Arial" panose="020B0604020202020204" pitchFamily="34" charset="0"/>
              </a:rPr>
              <a:t>InputDemo</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public static void main(String[] </a:t>
            </a:r>
            <a:r>
              <a:rPr lang="en-US" altLang="en-US" sz="1800" dirty="0" err="1">
                <a:latin typeface="Arial" panose="020B0604020202020204" pitchFamily="34" charset="0"/>
              </a:rPr>
              <a:t>args</a:t>
            </a:r>
            <a:r>
              <a:rPr lang="en-US" altLang="en-US" sz="1800" dirty="0">
                <a:latin typeface="Arial" panose="020B0604020202020204" pitchFamily="34" charset="0"/>
              </a:rPr>
              <a:t>) throws </a:t>
            </a:r>
            <a:r>
              <a:rPr lang="en-US" altLang="en-US" sz="1800" dirty="0" err="1">
                <a:latin typeface="Arial" panose="020B0604020202020204" pitchFamily="34" charset="0"/>
              </a:rPr>
              <a:t>IOException</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err="1">
                <a:latin typeface="Arial" panose="020B0604020202020204" pitchFamily="34" charset="0"/>
              </a:rPr>
              <a:t>BufferedReader</a:t>
            </a:r>
            <a:r>
              <a:rPr lang="en-US" altLang="en-US" sz="1800" dirty="0">
                <a:latin typeface="Arial" panose="020B0604020202020204" pitchFamily="34" charset="0"/>
              </a:rPr>
              <a:t> </a:t>
            </a:r>
            <a:r>
              <a:rPr lang="en-US" altLang="en-US" sz="1800" dirty="0" err="1">
                <a:latin typeface="Arial" panose="020B0604020202020204" pitchFamily="34" charset="0"/>
              </a:rPr>
              <a:t>br</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new </a:t>
            </a:r>
            <a:r>
              <a:rPr lang="en-US" altLang="en-US" sz="1800" dirty="0" err="1">
                <a:latin typeface="Arial" panose="020B0604020202020204" pitchFamily="34" charset="0"/>
              </a:rPr>
              <a:t>BufferedReader</a:t>
            </a:r>
            <a:r>
              <a:rPr lang="en-US" altLang="en-US" sz="1800" dirty="0">
                <a:latin typeface="Arial" panose="020B0604020202020204" pitchFamily="34" charset="0"/>
              </a:rPr>
              <a:t>(new </a:t>
            </a:r>
            <a:r>
              <a:rPr lang="en-US" altLang="en-US" sz="1800" dirty="0" err="1">
                <a:latin typeface="Arial" panose="020B0604020202020204" pitchFamily="34" charset="0"/>
              </a:rPr>
              <a:t>InputStreamReader</a:t>
            </a:r>
            <a:r>
              <a:rPr lang="en-US" altLang="en-US" sz="1800" dirty="0">
                <a:latin typeface="Arial" panose="020B0604020202020204" pitchFamily="34" charset="0"/>
              </a:rPr>
              <a:t>(System.in));</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err="1">
                <a:latin typeface="Arial" panose="020B0604020202020204" pitchFamily="34" charset="0"/>
              </a:rPr>
              <a:t>System.out.print</a:t>
            </a:r>
            <a:r>
              <a:rPr lang="en-US" altLang="en-US" sz="1800" dirty="0">
                <a:latin typeface="Arial" panose="020B0604020202020204" pitchFamily="34" charset="0"/>
              </a:rPr>
              <a:t>("Enter your name: ");</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String name = </a:t>
            </a:r>
            <a:r>
              <a:rPr lang="en-US" altLang="en-US" sz="1800" dirty="0" err="1">
                <a:latin typeface="Arial" panose="020B0604020202020204" pitchFamily="34" charset="0"/>
              </a:rPr>
              <a:t>br.readLine</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err="1">
                <a:latin typeface="Arial" panose="020B0604020202020204" pitchFamily="34" charset="0"/>
              </a:rPr>
              <a:t>System.out.print</a:t>
            </a:r>
            <a:r>
              <a:rPr lang="en-US" altLang="en-US" sz="1800" dirty="0">
                <a:latin typeface="Arial" panose="020B0604020202020204" pitchFamily="34" charset="0"/>
              </a:rPr>
              <a:t>("Enter your age: ");</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a:t>
            </a:r>
            <a:r>
              <a:rPr lang="en-US" altLang="en-US" sz="1800" dirty="0" err="1">
                <a:latin typeface="Arial" panose="020B0604020202020204" pitchFamily="34" charset="0"/>
              </a:rPr>
              <a:t>int</a:t>
            </a:r>
            <a:r>
              <a:rPr lang="en-US" altLang="en-US" sz="1800" dirty="0">
                <a:latin typeface="Arial" panose="020B0604020202020204" pitchFamily="34" charset="0"/>
              </a:rPr>
              <a:t> age = </a:t>
            </a:r>
            <a:r>
              <a:rPr lang="en-US" altLang="en-US" sz="1800" dirty="0" err="1">
                <a:latin typeface="Arial" panose="020B0604020202020204" pitchFamily="34" charset="0"/>
              </a:rPr>
              <a:t>Integer.parseInt</a:t>
            </a:r>
            <a:r>
              <a:rPr lang="en-US" altLang="en-US" sz="1800" dirty="0">
                <a:latin typeface="Arial" panose="020B0604020202020204" pitchFamily="34" charset="0"/>
              </a:rPr>
              <a:t>(</a:t>
            </a:r>
            <a:r>
              <a:rPr lang="en-US" altLang="en-US" sz="1800" dirty="0" err="1">
                <a:latin typeface="Arial" panose="020B0604020202020204" pitchFamily="34" charset="0"/>
              </a:rPr>
              <a:t>br.readLine</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err="1" smtClean="0">
                <a:latin typeface="Arial" panose="020B0604020202020204" pitchFamily="34" charset="0"/>
              </a:rPr>
              <a:t>System.out.println</a:t>
            </a:r>
            <a:r>
              <a:rPr lang="en-US" altLang="en-US" sz="1800" dirty="0">
                <a:latin typeface="Arial" panose="020B0604020202020204" pitchFamily="34" charset="0"/>
              </a:rPr>
              <a:t>("Name: " + name);</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a:t>
            </a:r>
            <a:r>
              <a:rPr lang="en-US" altLang="en-US" sz="1800" dirty="0" err="1">
                <a:latin typeface="Arial" panose="020B0604020202020204" pitchFamily="34" charset="0"/>
              </a:rPr>
              <a:t>System.out.println</a:t>
            </a:r>
            <a:r>
              <a:rPr lang="en-US" altLang="en-US" sz="1800" dirty="0">
                <a:latin typeface="Arial" panose="020B0604020202020204" pitchFamily="34" charset="0"/>
              </a:rPr>
              <a:t>("Age: " + age);</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a:t>
            </a:r>
            <a:r>
              <a:rPr lang="en-US" altLang="en-US" sz="1800" dirty="0" smtClean="0">
                <a:latin typeface="Arial" panose="020B0604020202020204" pitchFamily="34" charset="0"/>
              </a:rPr>
              <a:t>}}</a:t>
            </a: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Advantages</a:t>
            </a:r>
          </a:p>
          <a:p>
            <a:pPr eaLnBrk="0" fontAlgn="base" hangingPunct="0">
              <a:lnSpc>
                <a:spcPct val="100000"/>
              </a:lnSpc>
              <a:spcBef>
                <a:spcPct val="0"/>
              </a:spcBef>
              <a:spcAft>
                <a:spcPct val="0"/>
              </a:spcAft>
            </a:pPr>
            <a:r>
              <a:rPr lang="en-US" altLang="en-US" sz="1800" dirty="0" smtClean="0">
                <a:latin typeface="Arial" panose="020B0604020202020204" pitchFamily="34" charset="0"/>
              </a:rPr>
              <a:t>Faster </a:t>
            </a:r>
            <a:r>
              <a:rPr lang="en-US" altLang="en-US" sz="1800" dirty="0">
                <a:latin typeface="Arial" panose="020B0604020202020204" pitchFamily="34" charset="0"/>
              </a:rPr>
              <a:t>than </a:t>
            </a:r>
            <a:r>
              <a:rPr lang="en-US" altLang="en-US" sz="1800" dirty="0" smtClean="0">
                <a:latin typeface="Arial" panose="020B0604020202020204" pitchFamily="34" charset="0"/>
              </a:rPr>
              <a:t>Scanner</a:t>
            </a:r>
          </a:p>
          <a:p>
            <a:pPr eaLnBrk="0" fontAlgn="base" hangingPunct="0">
              <a:lnSpc>
                <a:spcPct val="100000"/>
              </a:lnSpc>
              <a:spcBef>
                <a:spcPct val="0"/>
              </a:spcBef>
              <a:spcAft>
                <a:spcPct val="0"/>
              </a:spcAft>
            </a:pPr>
            <a:r>
              <a:rPr lang="en-US" altLang="en-US" sz="1800" dirty="0" smtClean="0">
                <a:latin typeface="Arial" panose="020B0604020202020204" pitchFamily="34" charset="0"/>
              </a:rPr>
              <a:t>Suitable </a:t>
            </a:r>
            <a:r>
              <a:rPr lang="en-US" altLang="en-US" sz="1800" dirty="0">
                <a:latin typeface="Arial" panose="020B0604020202020204" pitchFamily="34" charset="0"/>
              </a:rPr>
              <a:t>for large input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27107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b="1" dirty="0"/>
              <a:t>3. Console Class</a:t>
            </a:r>
          </a:p>
        </p:txBody>
      </p:sp>
      <p:sp>
        <p:nvSpPr>
          <p:cNvPr id="4" name="Rectangle 1"/>
          <p:cNvSpPr>
            <a:spLocks noGrp="1" noChangeArrowheads="1"/>
          </p:cNvSpPr>
          <p:nvPr>
            <p:ph idx="1"/>
          </p:nvPr>
        </p:nvSpPr>
        <p:spPr bwMode="auto">
          <a:xfrm>
            <a:off x="838200" y="775816"/>
            <a:ext cx="10515600" cy="5858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1800" dirty="0">
                <a:latin typeface="Arial" panose="020B0604020202020204" pitchFamily="34" charset="0"/>
              </a:rPr>
              <a:t>Package: </a:t>
            </a:r>
            <a:r>
              <a:rPr lang="en-US" altLang="en-US" sz="1800" dirty="0" smtClean="0">
                <a:latin typeface="Arial" panose="020B0604020202020204" pitchFamily="34" charset="0"/>
              </a:rPr>
              <a:t>java.io</a:t>
            </a:r>
          </a:p>
          <a:p>
            <a:pPr eaLnBrk="0" fontAlgn="base" hangingPunct="0">
              <a:lnSpc>
                <a:spcPct val="100000"/>
              </a:lnSpc>
              <a:spcBef>
                <a:spcPct val="0"/>
              </a:spcBef>
              <a:spcAft>
                <a:spcPct val="0"/>
              </a:spcAft>
            </a:pPr>
            <a:r>
              <a:rPr lang="en-US" altLang="en-US" sz="1800" dirty="0" smtClean="0">
                <a:latin typeface="Arial" panose="020B0604020202020204" pitchFamily="34" charset="0"/>
              </a:rPr>
              <a:t>Reads </a:t>
            </a:r>
            <a:r>
              <a:rPr lang="en-US" altLang="en-US" sz="1800" dirty="0">
                <a:latin typeface="Arial" panose="020B0604020202020204" pitchFamily="34" charset="0"/>
              </a:rPr>
              <a:t>input from the console</a:t>
            </a:r>
            <a:r>
              <a:rPr lang="en-US" altLang="en-US" sz="1800" dirty="0" smtClean="0">
                <a:latin typeface="Arial" panose="020B0604020202020204" pitchFamily="34" charset="0"/>
              </a:rPr>
              <a:t>.</a:t>
            </a:r>
          </a:p>
          <a:p>
            <a:pPr eaLnBrk="0" fontAlgn="base" hangingPunct="0">
              <a:lnSpc>
                <a:spcPct val="100000"/>
              </a:lnSpc>
              <a:spcBef>
                <a:spcPct val="0"/>
              </a:spcBef>
              <a:spcAft>
                <a:spcPct val="0"/>
              </a:spcAft>
            </a:pPr>
            <a:r>
              <a:rPr lang="en-US" altLang="en-US" sz="1800" dirty="0" smtClean="0">
                <a:latin typeface="Arial" panose="020B0604020202020204" pitchFamily="34" charset="0"/>
              </a:rPr>
              <a:t>Can </a:t>
            </a:r>
            <a:r>
              <a:rPr lang="en-US" altLang="en-US" sz="1800" dirty="0">
                <a:latin typeface="Arial" panose="020B0604020202020204" pitchFamily="34" charset="0"/>
              </a:rPr>
              <a:t>hide password input</a:t>
            </a:r>
            <a:r>
              <a:rPr lang="en-US" altLang="en-US" sz="1800" dirty="0" smtClean="0">
                <a:latin typeface="Arial" panose="020B0604020202020204" pitchFamily="34" charset="0"/>
              </a:rPr>
              <a:t>.</a:t>
            </a:r>
          </a:p>
          <a:p>
            <a:pPr mar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import </a:t>
            </a:r>
            <a:r>
              <a:rPr lang="en-US" altLang="en-US" sz="1800" dirty="0" err="1">
                <a:latin typeface="Arial" panose="020B0604020202020204" pitchFamily="34" charset="0"/>
              </a:rPr>
              <a:t>java.io.Console</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public </a:t>
            </a:r>
            <a:r>
              <a:rPr lang="en-US" altLang="en-US" sz="1800" dirty="0">
                <a:latin typeface="Arial" panose="020B0604020202020204" pitchFamily="34" charset="0"/>
              </a:rPr>
              <a:t>class </a:t>
            </a:r>
            <a:r>
              <a:rPr lang="en-US" altLang="en-US" sz="1800" dirty="0" err="1">
                <a:latin typeface="Arial" panose="020B0604020202020204" pitchFamily="34" charset="0"/>
              </a:rPr>
              <a:t>InputDemo</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public static void main(String[] </a:t>
            </a:r>
            <a:r>
              <a:rPr lang="en-US" altLang="en-US" sz="1800" dirty="0" err="1">
                <a:latin typeface="Arial" panose="020B0604020202020204" pitchFamily="34" charset="0"/>
              </a:rPr>
              <a:t>args</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a:latin typeface="Arial" panose="020B0604020202020204" pitchFamily="34" charset="0"/>
              </a:rPr>
              <a:t>Console con = </a:t>
            </a:r>
            <a:r>
              <a:rPr lang="en-US" altLang="en-US" sz="1800" dirty="0" err="1">
                <a:latin typeface="Arial" panose="020B0604020202020204" pitchFamily="34" charset="0"/>
              </a:rPr>
              <a:t>System.console</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a:latin typeface="Arial" panose="020B0604020202020204" pitchFamily="34" charset="0"/>
              </a:rPr>
              <a:t>String name = </a:t>
            </a:r>
            <a:r>
              <a:rPr lang="en-US" altLang="en-US" sz="1800" dirty="0" err="1">
                <a:latin typeface="Arial" panose="020B0604020202020204" pitchFamily="34" charset="0"/>
              </a:rPr>
              <a:t>con.readLine</a:t>
            </a:r>
            <a:r>
              <a:rPr lang="en-US" altLang="en-US" sz="1800" dirty="0">
                <a:latin typeface="Arial" panose="020B0604020202020204" pitchFamily="34" charset="0"/>
              </a:rPr>
              <a:t>("Enter Name: ");</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a:latin typeface="Arial" panose="020B0604020202020204" pitchFamily="34" charset="0"/>
              </a:rPr>
              <a:t>char[] password = </a:t>
            </a:r>
            <a:r>
              <a:rPr lang="en-US" altLang="en-US" sz="1800" dirty="0" err="1">
                <a:latin typeface="Arial" panose="020B0604020202020204" pitchFamily="34" charset="0"/>
              </a:rPr>
              <a:t>con.readPassword</a:t>
            </a:r>
            <a:r>
              <a:rPr lang="en-US" altLang="en-US" sz="1800" dirty="0">
                <a:latin typeface="Arial" panose="020B0604020202020204" pitchFamily="34" charset="0"/>
              </a:rPr>
              <a:t>("Enter Password: ");</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        </a:t>
            </a:r>
            <a:r>
              <a:rPr lang="en-US" altLang="en-US" sz="1800" dirty="0" err="1">
                <a:latin typeface="Arial" panose="020B0604020202020204" pitchFamily="34" charset="0"/>
              </a:rPr>
              <a:t>System.out.println</a:t>
            </a:r>
            <a:r>
              <a:rPr lang="en-US" altLang="en-US" sz="1800" dirty="0">
                <a:latin typeface="Arial" panose="020B0604020202020204" pitchFamily="34" charset="0"/>
              </a:rPr>
              <a:t>("Welcome " + name);</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800" dirty="0" smtClean="0">
                <a:latin typeface="Arial" panose="020B0604020202020204" pitchFamily="34" charset="0"/>
              </a:rPr>
              <a:t>}</a:t>
            </a:r>
          </a:p>
          <a:p>
            <a:pPr marL="0" indent="0">
              <a:buNone/>
            </a:pPr>
            <a:r>
              <a:rPr lang="en-US" sz="1800" b="1" dirty="0"/>
              <a:t>Advantages</a:t>
            </a:r>
            <a:endParaRPr lang="en-US" sz="1800" dirty="0"/>
          </a:p>
          <a:p>
            <a:r>
              <a:rPr lang="en-US" sz="1800" dirty="0"/>
              <a:t>Password is hidden </a:t>
            </a:r>
          </a:p>
          <a:p>
            <a:r>
              <a:rPr lang="en-US" sz="1800" dirty="0"/>
              <a:t>Good for command-line applications </a:t>
            </a:r>
          </a:p>
          <a:p>
            <a:pPr marL="0" indent="0">
              <a:buNone/>
            </a:pPr>
            <a:r>
              <a:rPr lang="en-US" sz="1800" b="1" dirty="0"/>
              <a:t>Disadvantages</a:t>
            </a:r>
            <a:endParaRPr lang="en-US" sz="1800" dirty="0"/>
          </a:p>
          <a:p>
            <a:r>
              <a:rPr lang="en-US" sz="1800" dirty="0"/>
              <a:t>Does not work in many IDEs (e.g., Eclipse, IntelliJ, VS Code)</a:t>
            </a: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7767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Java-Variables</a:t>
            </a:r>
            <a:endParaRPr lang="en-IN" dirty="0"/>
          </a:p>
        </p:txBody>
      </p:sp>
      <p:sp>
        <p:nvSpPr>
          <p:cNvPr id="3" name="Content Placeholder 2"/>
          <p:cNvSpPr>
            <a:spLocks noGrp="1"/>
          </p:cNvSpPr>
          <p:nvPr>
            <p:ph idx="1"/>
          </p:nvPr>
        </p:nvSpPr>
        <p:spPr>
          <a:xfrm>
            <a:off x="107576" y="468593"/>
            <a:ext cx="12084424" cy="6268383"/>
          </a:xfrm>
        </p:spPr>
        <p:txBody>
          <a:bodyPr>
            <a:normAutofit fontScale="85000" lnSpcReduction="20000"/>
          </a:bodyPr>
          <a:lstStyle/>
          <a:p>
            <a:pPr marL="0" indent="0">
              <a:buNone/>
            </a:pPr>
            <a:r>
              <a:rPr lang="en-IN" sz="2000" b="1" dirty="0"/>
              <a:t>Java Variables</a:t>
            </a:r>
          </a:p>
          <a:p>
            <a:pPr marL="0" indent="0">
              <a:buNone/>
            </a:pPr>
            <a:r>
              <a:rPr lang="en-IN" sz="2000" dirty="0"/>
              <a:t>A variable is a container which holds the value while the Java program is executed</a:t>
            </a:r>
            <a:r>
              <a:rPr lang="en-IN" sz="2000" dirty="0" smtClean="0"/>
              <a:t>.</a:t>
            </a:r>
          </a:p>
          <a:p>
            <a:pPr marL="0" indent="0">
              <a:buNone/>
            </a:pPr>
            <a:r>
              <a:rPr lang="en-IN" sz="2000" dirty="0" smtClean="0"/>
              <a:t>A </a:t>
            </a:r>
            <a:r>
              <a:rPr lang="en-IN" sz="2000" dirty="0"/>
              <a:t>variable is assigned with a data type.</a:t>
            </a:r>
          </a:p>
          <a:p>
            <a:pPr marL="0" indent="0">
              <a:buNone/>
            </a:pPr>
            <a:r>
              <a:rPr lang="en-IN" sz="2000" dirty="0" smtClean="0"/>
              <a:t>Variable </a:t>
            </a:r>
            <a:r>
              <a:rPr lang="en-IN" sz="2000" dirty="0"/>
              <a:t>is a name of memory location. </a:t>
            </a:r>
            <a:endParaRPr lang="en-IN" sz="2000" dirty="0" smtClean="0"/>
          </a:p>
          <a:p>
            <a:pPr marL="0" indent="0">
              <a:buNone/>
            </a:pPr>
            <a:r>
              <a:rPr lang="en-IN" sz="2000" dirty="0" smtClean="0"/>
              <a:t>There </a:t>
            </a:r>
            <a:r>
              <a:rPr lang="en-IN" sz="2000" dirty="0"/>
              <a:t>are three types of variables in java: </a:t>
            </a:r>
            <a:endParaRPr lang="en-IN" sz="2000" dirty="0" smtClean="0"/>
          </a:p>
          <a:p>
            <a:pPr marL="0" indent="0">
              <a:buNone/>
            </a:pPr>
            <a:r>
              <a:rPr lang="en-IN" sz="2000" b="1" dirty="0"/>
              <a:t>	</a:t>
            </a:r>
            <a:r>
              <a:rPr lang="en-IN" sz="2000" b="1" dirty="0" smtClean="0"/>
              <a:t>local</a:t>
            </a:r>
            <a:r>
              <a:rPr lang="en-IN" sz="2000" b="1" dirty="0"/>
              <a:t>, instance and static.</a:t>
            </a:r>
          </a:p>
          <a:p>
            <a:pPr marL="0" indent="0">
              <a:buNone/>
            </a:pPr>
            <a:r>
              <a:rPr lang="en-IN" sz="2000" dirty="0" smtClean="0"/>
              <a:t>There </a:t>
            </a:r>
            <a:r>
              <a:rPr lang="en-IN" sz="2000" dirty="0"/>
              <a:t>are two types of data types in Java:</a:t>
            </a:r>
            <a:r>
              <a:rPr lang="en-IN" sz="2000" b="1" dirty="0"/>
              <a:t> primitive and non-primitive.</a:t>
            </a:r>
          </a:p>
          <a:p>
            <a:pPr marL="0" indent="0">
              <a:buNone/>
            </a:pPr>
            <a:r>
              <a:rPr lang="en-IN" sz="2000" b="1" dirty="0" smtClean="0"/>
              <a:t>Local </a:t>
            </a:r>
            <a:r>
              <a:rPr lang="en-IN" sz="2000" b="1" dirty="0"/>
              <a:t>Variable</a:t>
            </a:r>
          </a:p>
          <a:p>
            <a:pPr marL="0" indent="0">
              <a:buNone/>
            </a:pPr>
            <a:r>
              <a:rPr lang="en-IN" sz="2000" dirty="0"/>
              <a:t>A variable declared inside the body of the method is called local variable. </a:t>
            </a:r>
            <a:endParaRPr lang="en-IN" sz="2000" dirty="0" smtClean="0"/>
          </a:p>
          <a:p>
            <a:pPr marL="0" indent="0">
              <a:buNone/>
            </a:pPr>
            <a:r>
              <a:rPr lang="en-IN" sz="2000" dirty="0" smtClean="0"/>
              <a:t>Variable can be used </a:t>
            </a:r>
            <a:r>
              <a:rPr lang="en-IN" sz="2000" dirty="0"/>
              <a:t>only within that method and the other methods in the class aren't even aware that the variable exists.</a:t>
            </a:r>
          </a:p>
          <a:p>
            <a:pPr marL="0" indent="0">
              <a:buNone/>
            </a:pPr>
            <a:r>
              <a:rPr lang="en-IN" sz="2000" dirty="0" smtClean="0"/>
              <a:t>A </a:t>
            </a:r>
            <a:r>
              <a:rPr lang="en-IN" sz="2000" dirty="0"/>
              <a:t>local variable cannot be defined with "static" keyword</a:t>
            </a:r>
            <a:r>
              <a:rPr lang="en-IN" sz="2000" dirty="0" smtClean="0"/>
              <a:t>. </a:t>
            </a:r>
            <a:r>
              <a:rPr lang="en-IN" sz="2000" dirty="0" err="1"/>
              <a:t>Eg</a:t>
            </a:r>
            <a:r>
              <a:rPr lang="en-IN" sz="2000" dirty="0"/>
              <a:t>. void test(){</a:t>
            </a:r>
            <a:r>
              <a:rPr lang="en-IN" sz="2000" dirty="0" err="1"/>
              <a:t>int</a:t>
            </a:r>
            <a:r>
              <a:rPr lang="en-IN" sz="2000" dirty="0"/>
              <a:t> a=10</a:t>
            </a:r>
            <a:r>
              <a:rPr lang="en-IN" sz="2000" dirty="0" smtClean="0"/>
              <a:t>;}</a:t>
            </a:r>
          </a:p>
          <a:p>
            <a:pPr marL="0" indent="0">
              <a:buNone/>
            </a:pPr>
            <a:r>
              <a:rPr lang="en-IN" sz="2000" b="1" dirty="0" smtClean="0"/>
              <a:t>Instance </a:t>
            </a:r>
            <a:r>
              <a:rPr lang="en-IN" sz="2000" b="1" dirty="0"/>
              <a:t>Variable</a:t>
            </a:r>
          </a:p>
          <a:p>
            <a:pPr marL="0" indent="0">
              <a:buNone/>
            </a:pPr>
            <a:r>
              <a:rPr lang="en-IN" sz="2000" dirty="0"/>
              <a:t>A variable declared inside the class but outside the body of the method, is called an instance variable</a:t>
            </a:r>
            <a:r>
              <a:rPr lang="en-IN" sz="2000" dirty="0" smtClean="0"/>
              <a:t>.</a:t>
            </a:r>
          </a:p>
          <a:p>
            <a:pPr marL="0" indent="0">
              <a:buNone/>
            </a:pPr>
            <a:r>
              <a:rPr lang="en-IN" sz="2000" dirty="0" smtClean="0"/>
              <a:t>It </a:t>
            </a:r>
            <a:r>
              <a:rPr lang="en-IN" sz="2000" dirty="0"/>
              <a:t>is not declared as static.</a:t>
            </a:r>
          </a:p>
          <a:p>
            <a:pPr marL="0" indent="0">
              <a:buNone/>
            </a:pPr>
            <a:r>
              <a:rPr lang="en-IN" sz="2000" dirty="0" smtClean="0"/>
              <a:t>It </a:t>
            </a:r>
            <a:r>
              <a:rPr lang="en-IN" sz="2000" dirty="0"/>
              <a:t>is called an instance variable because its value is instance-specific and is not shared among instances</a:t>
            </a:r>
            <a:r>
              <a:rPr lang="en-IN" sz="2000" dirty="0" smtClean="0"/>
              <a:t>. class c{</a:t>
            </a:r>
            <a:r>
              <a:rPr lang="en-IN" sz="2000" dirty="0" err="1" smtClean="0"/>
              <a:t>int</a:t>
            </a:r>
            <a:r>
              <a:rPr lang="en-IN" sz="2000" dirty="0" smtClean="0"/>
              <a:t> a=10;}</a:t>
            </a:r>
          </a:p>
          <a:p>
            <a:pPr marL="0" indent="0">
              <a:buNone/>
            </a:pPr>
            <a:r>
              <a:rPr lang="en-IN" sz="2000" dirty="0" smtClean="0"/>
              <a:t> </a:t>
            </a:r>
            <a:r>
              <a:rPr lang="en-IN" sz="2000" b="1" dirty="0" smtClean="0"/>
              <a:t>Static </a:t>
            </a:r>
            <a:r>
              <a:rPr lang="en-IN" sz="2000" b="1" dirty="0"/>
              <a:t>variable</a:t>
            </a:r>
          </a:p>
          <a:p>
            <a:pPr marL="0" indent="0">
              <a:buNone/>
            </a:pPr>
            <a:r>
              <a:rPr lang="en-US" sz="2000" dirty="0"/>
              <a:t>A static variable in Java belongs to the class itself rather than to any specific instance of the class. </a:t>
            </a:r>
            <a:endParaRPr lang="en-US" sz="2000" dirty="0" smtClean="0"/>
          </a:p>
          <a:p>
            <a:pPr marL="0" indent="0">
              <a:buNone/>
            </a:pPr>
            <a:r>
              <a:rPr lang="en-US" sz="2000" dirty="0" smtClean="0"/>
              <a:t>This </a:t>
            </a:r>
            <a:r>
              <a:rPr lang="en-US" sz="2000" dirty="0"/>
              <a:t>means there's only one copy of the variable in memory, shared by all objects of the </a:t>
            </a:r>
            <a:r>
              <a:rPr lang="en-US" sz="2000" dirty="0" smtClean="0"/>
              <a:t>class</a:t>
            </a:r>
          </a:p>
          <a:p>
            <a:pPr marL="0" indent="0">
              <a:buNone/>
            </a:pPr>
            <a:r>
              <a:rPr lang="en-US" sz="2000" dirty="0"/>
              <a:t>Any change to the static variable affects all instances</a:t>
            </a:r>
            <a:r>
              <a:rPr lang="en-IN" sz="2000" dirty="0"/>
              <a:t>. </a:t>
            </a:r>
            <a:r>
              <a:rPr lang="en-IN" sz="2000" dirty="0" err="1"/>
              <a:t>Eg</a:t>
            </a:r>
            <a:r>
              <a:rPr lang="en-IN" sz="2000" dirty="0"/>
              <a:t>. static </a:t>
            </a:r>
            <a:r>
              <a:rPr lang="en-IN" sz="2000" dirty="0" err="1"/>
              <a:t>int</a:t>
            </a:r>
            <a:r>
              <a:rPr lang="en-IN" sz="2000" dirty="0"/>
              <a:t> a=10;</a:t>
            </a:r>
          </a:p>
          <a:p>
            <a:pPr marL="0" indent="0">
              <a:buNone/>
            </a:pPr>
            <a:r>
              <a:rPr lang="en-US" sz="1800" b="1" dirty="0"/>
              <a:t>Accessed using the class name:</a:t>
            </a:r>
            <a:r>
              <a:rPr lang="en-US" sz="1800" dirty="0"/>
              <a:t> </a:t>
            </a:r>
            <a:r>
              <a:rPr lang="en-US" sz="1800" dirty="0" err="1"/>
              <a:t>ClassName.count</a:t>
            </a:r>
            <a:r>
              <a:rPr lang="en-US" sz="1800" dirty="0"/>
              <a:t>;</a:t>
            </a:r>
            <a:endParaRPr lang="en-IN" sz="2000" dirty="0"/>
          </a:p>
        </p:txBody>
      </p:sp>
    </p:spTree>
    <p:extLst>
      <p:ext uri="{BB962C8B-B14F-4D97-AF65-F5344CB8AC3E}">
        <p14:creationId xmlns:p14="http://schemas.microsoft.com/office/powerpoint/2010/main" val="14622608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Java-Variables</a:t>
            </a:r>
            <a:endParaRPr lang="en-IN" dirty="0"/>
          </a:p>
        </p:txBody>
      </p:sp>
      <p:sp>
        <p:nvSpPr>
          <p:cNvPr id="3" name="Content Placeholder 2"/>
          <p:cNvSpPr>
            <a:spLocks noGrp="1"/>
          </p:cNvSpPr>
          <p:nvPr>
            <p:ph idx="1"/>
          </p:nvPr>
        </p:nvSpPr>
        <p:spPr>
          <a:xfrm>
            <a:off x="107576" y="468593"/>
            <a:ext cx="12084424" cy="6268383"/>
          </a:xfrm>
        </p:spPr>
        <p:txBody>
          <a:bodyPr>
            <a:normAutofit fontScale="70000" lnSpcReduction="20000"/>
          </a:bodyPr>
          <a:lstStyle/>
          <a:p>
            <a:pPr marL="0" indent="0">
              <a:buNone/>
            </a:pPr>
            <a:r>
              <a:rPr lang="en-IN" sz="2000" b="1" dirty="0" smtClean="0"/>
              <a:t>Local Variable</a:t>
            </a:r>
          </a:p>
          <a:p>
            <a:pPr marL="0" lvl="1" indent="0">
              <a:spcBef>
                <a:spcPts val="1000"/>
              </a:spcBef>
              <a:buNone/>
            </a:pPr>
            <a:r>
              <a:rPr lang="en-US" sz="2000" b="1" dirty="0" smtClean="0"/>
              <a:t>Scope:</a:t>
            </a:r>
            <a:r>
              <a:rPr lang="en-US" sz="2000" dirty="0" smtClean="0"/>
              <a:t> Within a method or block.</a:t>
            </a:r>
          </a:p>
          <a:p>
            <a:pPr marL="0" lvl="1" indent="0">
              <a:spcBef>
                <a:spcPts val="1000"/>
              </a:spcBef>
              <a:buNone/>
            </a:pPr>
            <a:r>
              <a:rPr lang="en-US" sz="2000" b="1" dirty="0" smtClean="0"/>
              <a:t>Lifetime: </a:t>
            </a:r>
            <a:r>
              <a:rPr lang="en-US" sz="2000" dirty="0" smtClean="0"/>
              <a:t>Exists only while the method or block is executing.  </a:t>
            </a:r>
          </a:p>
          <a:p>
            <a:pPr marL="0" indent="0">
              <a:buNone/>
            </a:pPr>
            <a:r>
              <a:rPr lang="en-US" sz="2000" b="1" dirty="0"/>
              <a:t>Use cases: </a:t>
            </a:r>
          </a:p>
          <a:p>
            <a:pPr marL="0" lvl="1" indent="0">
              <a:spcBef>
                <a:spcPts val="1000"/>
              </a:spcBef>
              <a:buNone/>
            </a:pPr>
            <a:r>
              <a:rPr lang="en-US" sz="2000" dirty="0"/>
              <a:t>Temporary storage for calculations or intermediate results.</a:t>
            </a:r>
          </a:p>
          <a:p>
            <a:pPr marL="0" lvl="1" indent="0">
              <a:spcBef>
                <a:spcPts val="1000"/>
              </a:spcBef>
              <a:buNone/>
            </a:pPr>
            <a:r>
              <a:rPr lang="en-US" sz="2000" dirty="0"/>
              <a:t>Storing values that are specific to a method's execution.  </a:t>
            </a:r>
          </a:p>
          <a:p>
            <a:pPr marL="0" lvl="1" indent="0">
              <a:spcBef>
                <a:spcPts val="1000"/>
              </a:spcBef>
              <a:buNone/>
            </a:pPr>
            <a:r>
              <a:rPr lang="en-US" sz="2000" dirty="0"/>
              <a:t>Avoiding unnecessary object creation.</a:t>
            </a:r>
          </a:p>
          <a:p>
            <a:pPr marL="0" indent="0">
              <a:buNone/>
            </a:pPr>
            <a:r>
              <a:rPr lang="en-US" sz="2000" b="1" dirty="0"/>
              <a:t>public void </a:t>
            </a:r>
            <a:r>
              <a:rPr lang="en-US" sz="2000" b="1" dirty="0" err="1"/>
              <a:t>calculateArea</a:t>
            </a:r>
            <a:r>
              <a:rPr lang="en-US" sz="2000" b="1" dirty="0"/>
              <a:t>(</a:t>
            </a:r>
            <a:r>
              <a:rPr lang="en-US" sz="2000" b="1" dirty="0" err="1"/>
              <a:t>int</a:t>
            </a:r>
            <a:r>
              <a:rPr lang="en-US" sz="2000" b="1" dirty="0"/>
              <a:t> length, </a:t>
            </a:r>
            <a:r>
              <a:rPr lang="en-US" sz="2000" b="1" dirty="0" err="1"/>
              <a:t>int</a:t>
            </a:r>
            <a:r>
              <a:rPr lang="en-US" sz="2000" b="1" dirty="0"/>
              <a:t> width) {</a:t>
            </a:r>
          </a:p>
          <a:p>
            <a:pPr marL="0" indent="0">
              <a:buNone/>
            </a:pPr>
            <a:r>
              <a:rPr lang="en-US" sz="2000" b="1" dirty="0"/>
              <a:t>    </a:t>
            </a:r>
            <a:r>
              <a:rPr lang="en-US" sz="2000" b="1" dirty="0" err="1"/>
              <a:t>int</a:t>
            </a:r>
            <a:r>
              <a:rPr lang="en-US" sz="2000" b="1" dirty="0"/>
              <a:t> area = length * width; // Local variable to store the calculated area</a:t>
            </a:r>
          </a:p>
          <a:p>
            <a:pPr marL="0" indent="0">
              <a:buNone/>
            </a:pPr>
            <a:r>
              <a:rPr lang="en-US" sz="2000" b="1" dirty="0"/>
              <a:t>    </a:t>
            </a:r>
            <a:r>
              <a:rPr lang="en-US" sz="2000" b="1" dirty="0" err="1"/>
              <a:t>System.out.println</a:t>
            </a:r>
            <a:r>
              <a:rPr lang="en-US" sz="2000" b="1" dirty="0"/>
              <a:t>("Area: " + area);</a:t>
            </a:r>
          </a:p>
          <a:p>
            <a:pPr marL="0" indent="0">
              <a:buNone/>
            </a:pPr>
            <a:r>
              <a:rPr lang="en-US" sz="2000" b="1" dirty="0"/>
              <a:t>}</a:t>
            </a:r>
          </a:p>
          <a:p>
            <a:pPr marL="0" indent="0">
              <a:buNone/>
            </a:pPr>
            <a:r>
              <a:rPr lang="en-US" sz="2100" b="1" dirty="0"/>
              <a:t>Instance Variables</a:t>
            </a:r>
          </a:p>
          <a:p>
            <a:pPr marL="0" indent="0">
              <a:buNone/>
            </a:pPr>
            <a:r>
              <a:rPr lang="en-US" sz="2100" b="1" dirty="0"/>
              <a:t>Scope: </a:t>
            </a:r>
            <a:r>
              <a:rPr lang="en-US" sz="2100" dirty="0"/>
              <a:t>Within a class, but outside of any method.</a:t>
            </a:r>
          </a:p>
          <a:p>
            <a:pPr marL="0" indent="0">
              <a:buNone/>
            </a:pPr>
            <a:r>
              <a:rPr lang="en-US" sz="2100" b="1" dirty="0"/>
              <a:t>Lifetime</a:t>
            </a:r>
            <a:r>
              <a:rPr lang="en-US" sz="2100" dirty="0"/>
              <a:t>: Exists as long as the object exists.</a:t>
            </a:r>
          </a:p>
          <a:p>
            <a:pPr marL="0" indent="0">
              <a:buNone/>
            </a:pPr>
            <a:r>
              <a:rPr lang="en-US" sz="2100" b="1" dirty="0"/>
              <a:t>Use cases: </a:t>
            </a:r>
          </a:p>
          <a:p>
            <a:pPr marL="0" lvl="1" indent="0">
              <a:spcBef>
                <a:spcPts val="1000"/>
              </a:spcBef>
              <a:buNone/>
            </a:pPr>
            <a:r>
              <a:rPr lang="en-US" sz="2100" dirty="0"/>
              <a:t>Storing data specific to each object instance.  </a:t>
            </a:r>
            <a:endParaRPr lang="en-US" sz="2100" dirty="0" smtClean="0"/>
          </a:p>
          <a:p>
            <a:pPr marL="0" lvl="1" indent="0">
              <a:spcBef>
                <a:spcPts val="1000"/>
              </a:spcBef>
              <a:buNone/>
            </a:pPr>
            <a:r>
              <a:rPr lang="en-US" sz="2100" dirty="0" smtClean="0"/>
              <a:t>Representing </a:t>
            </a:r>
            <a:r>
              <a:rPr lang="en-US" sz="2100" dirty="0"/>
              <a:t>object properties or attributes.  </a:t>
            </a:r>
            <a:endParaRPr lang="en-US" sz="2100" dirty="0" smtClean="0"/>
          </a:p>
          <a:p>
            <a:pPr marL="0" lvl="1" indent="0">
              <a:spcBef>
                <a:spcPts val="1000"/>
              </a:spcBef>
              <a:buNone/>
            </a:pPr>
            <a:r>
              <a:rPr lang="en-US" sz="2100" dirty="0" smtClean="0"/>
              <a:t>Maintaining </a:t>
            </a:r>
            <a:r>
              <a:rPr lang="en-US" sz="2100" dirty="0"/>
              <a:t>state information between method calls.</a:t>
            </a:r>
          </a:p>
          <a:p>
            <a:pPr marL="0" indent="0">
              <a:buNone/>
            </a:pPr>
            <a:r>
              <a:rPr lang="en-US" sz="2000" b="1" dirty="0"/>
              <a:t>class Person {</a:t>
            </a:r>
          </a:p>
          <a:p>
            <a:pPr marL="0" indent="0">
              <a:buNone/>
            </a:pPr>
            <a:r>
              <a:rPr lang="en-US" sz="2000" b="1" dirty="0"/>
              <a:t>    String name; // Instance variable to store the person's name</a:t>
            </a:r>
          </a:p>
          <a:p>
            <a:pPr marL="0" indent="0">
              <a:buNone/>
            </a:pPr>
            <a:r>
              <a:rPr lang="en-US" sz="2000" b="1" dirty="0"/>
              <a:t>    </a:t>
            </a:r>
            <a:r>
              <a:rPr lang="en-US" sz="2000" b="1" dirty="0" err="1"/>
              <a:t>int</a:t>
            </a:r>
            <a:r>
              <a:rPr lang="en-US" sz="2000" b="1" dirty="0"/>
              <a:t> age; // Instance variable to store the person's age</a:t>
            </a:r>
          </a:p>
          <a:p>
            <a:pPr marL="0" indent="0">
              <a:buNone/>
            </a:pPr>
            <a:r>
              <a:rPr lang="en-US" sz="2000" b="1" dirty="0"/>
              <a:t>}</a:t>
            </a:r>
          </a:p>
          <a:p>
            <a:pPr marL="0" indent="0">
              <a:buNone/>
            </a:pPr>
            <a:endParaRPr lang="en-IN" sz="2000" b="1" dirty="0"/>
          </a:p>
        </p:txBody>
      </p:sp>
    </p:spTree>
    <p:extLst>
      <p:ext uri="{BB962C8B-B14F-4D97-AF65-F5344CB8AC3E}">
        <p14:creationId xmlns:p14="http://schemas.microsoft.com/office/powerpoint/2010/main" val="20583771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Java-Variables</a:t>
            </a:r>
            <a:endParaRPr lang="en-IN" dirty="0"/>
          </a:p>
        </p:txBody>
      </p:sp>
      <p:sp>
        <p:nvSpPr>
          <p:cNvPr id="3" name="Content Placeholder 2"/>
          <p:cNvSpPr>
            <a:spLocks noGrp="1"/>
          </p:cNvSpPr>
          <p:nvPr>
            <p:ph idx="1"/>
          </p:nvPr>
        </p:nvSpPr>
        <p:spPr>
          <a:xfrm>
            <a:off x="107576" y="468593"/>
            <a:ext cx="12084424" cy="6268383"/>
          </a:xfrm>
        </p:spPr>
        <p:txBody>
          <a:bodyPr>
            <a:normAutofit/>
          </a:bodyPr>
          <a:lstStyle/>
          <a:p>
            <a:r>
              <a:rPr lang="en-US" sz="1600" b="1" dirty="0"/>
              <a:t>Static Variables</a:t>
            </a:r>
          </a:p>
          <a:p>
            <a:r>
              <a:rPr lang="en-US" sz="1600" b="1" dirty="0"/>
              <a:t>Scope:</a:t>
            </a:r>
            <a:r>
              <a:rPr lang="en-US" sz="1600" dirty="0"/>
              <a:t> Within a class, but outside of any method.</a:t>
            </a:r>
          </a:p>
          <a:p>
            <a:r>
              <a:rPr lang="en-US" sz="1600" b="1" dirty="0"/>
              <a:t>Lifetime:</a:t>
            </a:r>
            <a:r>
              <a:rPr lang="en-US" sz="1600" dirty="0"/>
              <a:t> Exists as long as the class is loaded.</a:t>
            </a:r>
          </a:p>
          <a:p>
            <a:r>
              <a:rPr lang="en-US" sz="1600" b="1" dirty="0"/>
              <a:t>Use cases:</a:t>
            </a:r>
            <a:r>
              <a:rPr lang="en-US" sz="1600" dirty="0"/>
              <a:t> </a:t>
            </a:r>
          </a:p>
          <a:p>
            <a:pPr lvl="1"/>
            <a:r>
              <a:rPr lang="en-US" sz="1600" dirty="0"/>
              <a:t>Storing data that is shared by all instances of a class.</a:t>
            </a:r>
          </a:p>
          <a:p>
            <a:pPr lvl="1"/>
            <a:r>
              <a:rPr lang="en-US" sz="1600" dirty="0"/>
              <a:t>Creating constants (using the final keyword).</a:t>
            </a:r>
          </a:p>
          <a:p>
            <a:pPr lvl="1"/>
            <a:r>
              <a:rPr lang="en-US" sz="1600" dirty="0"/>
              <a:t>Keeping track of global counters or statistics.</a:t>
            </a:r>
          </a:p>
          <a:p>
            <a:pPr marL="0" indent="0">
              <a:buNone/>
            </a:pPr>
            <a:r>
              <a:rPr lang="en-US" sz="2000" b="1" dirty="0"/>
              <a:t>class Counter {</a:t>
            </a:r>
          </a:p>
          <a:p>
            <a:pPr marL="0" indent="0">
              <a:buNone/>
            </a:pPr>
            <a:r>
              <a:rPr lang="en-US" sz="2000" b="1" dirty="0"/>
              <a:t>    static </a:t>
            </a:r>
            <a:r>
              <a:rPr lang="en-US" sz="2000" b="1" dirty="0" err="1"/>
              <a:t>int</a:t>
            </a:r>
            <a:r>
              <a:rPr lang="en-US" sz="2000" b="1" dirty="0"/>
              <a:t> count = 0; // Static variable to count the number of objects created</a:t>
            </a:r>
          </a:p>
          <a:p>
            <a:pPr marL="0" indent="0">
              <a:buNone/>
            </a:pPr>
            <a:r>
              <a:rPr lang="en-US" sz="2000" b="1" dirty="0"/>
              <a:t>}</a:t>
            </a:r>
          </a:p>
          <a:p>
            <a:pPr marL="0" indent="0">
              <a:buNone/>
            </a:pPr>
            <a:endParaRPr lang="en-IN" sz="2000" b="1" dirty="0"/>
          </a:p>
        </p:txBody>
      </p:sp>
    </p:spTree>
    <p:extLst>
      <p:ext uri="{BB962C8B-B14F-4D97-AF65-F5344CB8AC3E}">
        <p14:creationId xmlns:p14="http://schemas.microsoft.com/office/powerpoint/2010/main" val="23943436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IN" dirty="0" smtClean="0"/>
              <a:t>Introduction to Java</a:t>
            </a:r>
            <a:endParaRPr lang="en-IN" dirty="0"/>
          </a:p>
        </p:txBody>
      </p:sp>
      <p:sp>
        <p:nvSpPr>
          <p:cNvPr id="3" name="Content Placeholder 2"/>
          <p:cNvSpPr>
            <a:spLocks noGrp="1"/>
          </p:cNvSpPr>
          <p:nvPr>
            <p:ph idx="1"/>
          </p:nvPr>
        </p:nvSpPr>
        <p:spPr>
          <a:xfrm>
            <a:off x="107576" y="468593"/>
            <a:ext cx="11246224" cy="6268383"/>
          </a:xfrm>
        </p:spPr>
        <p:txBody>
          <a:bodyPr>
            <a:normAutofit/>
          </a:bodyPr>
          <a:lstStyle/>
          <a:p>
            <a:pPr marL="0" indent="0">
              <a:buNone/>
            </a:pPr>
            <a:r>
              <a:rPr lang="en-IN" sz="2000" dirty="0" smtClean="0"/>
              <a:t>Datatypes</a:t>
            </a:r>
          </a:p>
          <a:p>
            <a:pPr marL="0" indent="0">
              <a:buNone/>
            </a:pPr>
            <a:endParaRPr lang="en-IN" sz="2000" dirty="0"/>
          </a:p>
          <a:p>
            <a:pPr marL="0" indent="0">
              <a:buNone/>
            </a:pPr>
            <a:endParaRPr lang="en-IN" sz="2000" dirty="0"/>
          </a:p>
        </p:txBody>
      </p:sp>
      <p:pic>
        <p:nvPicPr>
          <p:cNvPr id="6146" name="Picture 2" descr="Java Data Typ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76" y="1103686"/>
            <a:ext cx="6667500" cy="366712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extLst>
              <p:ext uri="{D42A27DB-BD31-4B8C-83A1-F6EECF244321}">
                <p14:modId xmlns:p14="http://schemas.microsoft.com/office/powerpoint/2010/main" val="826504073"/>
              </p:ext>
            </p:extLst>
          </p:nvPr>
        </p:nvGraphicFramePr>
        <p:xfrm>
          <a:off x="6775075" y="65181"/>
          <a:ext cx="4937310" cy="4191000"/>
        </p:xfrm>
        <a:graphic>
          <a:graphicData uri="http://schemas.openxmlformats.org/drawingml/2006/table">
            <a:tbl>
              <a:tblPr/>
              <a:tblGrid>
                <a:gridCol w="1645770">
                  <a:extLst>
                    <a:ext uri="{9D8B030D-6E8A-4147-A177-3AD203B41FA5}">
                      <a16:colId xmlns:a16="http://schemas.microsoft.com/office/drawing/2014/main" val="20000"/>
                    </a:ext>
                  </a:extLst>
                </a:gridCol>
                <a:gridCol w="1645770">
                  <a:extLst>
                    <a:ext uri="{9D8B030D-6E8A-4147-A177-3AD203B41FA5}">
                      <a16:colId xmlns:a16="http://schemas.microsoft.com/office/drawing/2014/main" val="20001"/>
                    </a:ext>
                  </a:extLst>
                </a:gridCol>
                <a:gridCol w="1645770">
                  <a:extLst>
                    <a:ext uri="{9D8B030D-6E8A-4147-A177-3AD203B41FA5}">
                      <a16:colId xmlns:a16="http://schemas.microsoft.com/office/drawing/2014/main" val="20002"/>
                    </a:ext>
                  </a:extLst>
                </a:gridCol>
              </a:tblGrid>
              <a:tr h="608873">
                <a:tc>
                  <a:txBody>
                    <a:bodyPr/>
                    <a:lstStyle/>
                    <a:p>
                      <a:pPr algn="l" fontAlgn="t"/>
                      <a:r>
                        <a:rPr lang="en-IN" b="1">
                          <a:solidFill>
                            <a:srgbClr val="000000"/>
                          </a:solidFill>
                          <a:effectLst/>
                          <a:latin typeface="inter-bold"/>
                        </a:rPr>
                        <a:t>Data Type</a:t>
                      </a:r>
                      <a:endParaRPr lang="en-IN">
                        <a:solidFill>
                          <a:srgbClr val="000000"/>
                        </a:solidFill>
                        <a:effectLst/>
                        <a:latin typeface="times new roman" panose="02020603050405020304" pitchFamily="18" charset="0"/>
                      </a:endParaRPr>
                    </a:p>
                  </a:txBody>
                  <a:tcPr marL="114300" marR="114300" marT="114300" marB="114300">
                    <a:lnL w="9525" cap="flat" cmpd="sng" algn="ctr">
                      <a:solidFill>
                        <a:srgbClr val="F01E29"/>
                      </a:solidFill>
                      <a:prstDash val="solid"/>
                      <a:round/>
                      <a:headEnd type="none" w="med" len="med"/>
                      <a:tailEnd type="none" w="med" len="med"/>
                    </a:lnL>
                    <a:lnR w="9525" cap="flat" cmpd="sng" algn="ctr">
                      <a:solidFill>
                        <a:srgbClr val="F01E29"/>
                      </a:solidFill>
                      <a:prstDash val="solid"/>
                      <a:round/>
                      <a:headEnd type="none" w="med" len="med"/>
                      <a:tailEnd type="none" w="med" len="med"/>
                    </a:lnR>
                    <a:lnT w="9525" cap="flat" cmpd="sng" algn="ctr">
                      <a:solidFill>
                        <a:srgbClr val="F01E29"/>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b="1">
                          <a:solidFill>
                            <a:srgbClr val="000000"/>
                          </a:solidFill>
                          <a:effectLst/>
                          <a:latin typeface="inter-bold"/>
                        </a:rPr>
                        <a:t>Default Value</a:t>
                      </a:r>
                      <a:endParaRPr lang="en-IN">
                        <a:solidFill>
                          <a:srgbClr val="000000"/>
                        </a:solidFill>
                        <a:effectLst/>
                        <a:latin typeface="times new roman" panose="02020603050405020304" pitchFamily="18" charset="0"/>
                      </a:endParaRPr>
                    </a:p>
                  </a:txBody>
                  <a:tcPr marL="114300" marR="114300" marT="114300" marB="114300">
                    <a:lnL w="9525" cap="flat" cmpd="sng" algn="ctr">
                      <a:solidFill>
                        <a:srgbClr val="F01E29"/>
                      </a:solidFill>
                      <a:prstDash val="solid"/>
                      <a:round/>
                      <a:headEnd type="none" w="med" len="med"/>
                      <a:tailEnd type="none" w="med" len="med"/>
                    </a:lnL>
                    <a:lnR w="9525" cap="flat" cmpd="sng" algn="ctr">
                      <a:solidFill>
                        <a:srgbClr val="F01E29"/>
                      </a:solidFill>
                      <a:prstDash val="solid"/>
                      <a:round/>
                      <a:headEnd type="none" w="med" len="med"/>
                      <a:tailEnd type="none" w="med" len="med"/>
                    </a:lnR>
                    <a:lnT w="9525" cap="flat" cmpd="sng" algn="ctr">
                      <a:solidFill>
                        <a:srgbClr val="F01E29"/>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b="1">
                          <a:solidFill>
                            <a:srgbClr val="000000"/>
                          </a:solidFill>
                          <a:effectLst/>
                          <a:latin typeface="inter-bold"/>
                        </a:rPr>
                        <a:t>Default size</a:t>
                      </a:r>
                      <a:endParaRPr lang="en-IN">
                        <a:solidFill>
                          <a:srgbClr val="000000"/>
                        </a:solidFill>
                        <a:effectLst/>
                        <a:latin typeface="times new roman" panose="02020603050405020304" pitchFamily="18" charset="0"/>
                      </a:endParaRPr>
                    </a:p>
                  </a:txBody>
                  <a:tcPr marL="114300" marR="114300" marT="114300" marB="114300">
                    <a:lnL w="9525" cap="flat" cmpd="sng" algn="ctr">
                      <a:solidFill>
                        <a:srgbClr val="F01E29"/>
                      </a:solidFill>
                      <a:prstDash val="solid"/>
                      <a:round/>
                      <a:headEnd type="none" w="med" len="med"/>
                      <a:tailEnd type="none" w="med" len="med"/>
                    </a:lnL>
                    <a:lnR w="9525" cap="flat" cmpd="sng" algn="ctr">
                      <a:solidFill>
                        <a:srgbClr val="F01E29"/>
                      </a:solidFill>
                      <a:prstDash val="solid"/>
                      <a:round/>
                      <a:headEnd type="none" w="med" len="med"/>
                      <a:tailEnd type="none" w="med" len="med"/>
                    </a:lnR>
                    <a:lnT w="9525" cap="flat" cmpd="sng" algn="ctr">
                      <a:solidFill>
                        <a:srgbClr val="F01E29"/>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334283">
                <a:tc>
                  <a:txBody>
                    <a:bodyPr/>
                    <a:lstStyle/>
                    <a:p>
                      <a:pPr algn="just" fontAlgn="t"/>
                      <a:r>
                        <a:rPr lang="en-IN">
                          <a:solidFill>
                            <a:srgbClr val="333333"/>
                          </a:solidFill>
                          <a:effectLst/>
                          <a:latin typeface="inter-regular"/>
                        </a:rPr>
                        <a:t>boolean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false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 bit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4283">
                <a:tc>
                  <a:txBody>
                    <a:bodyPr/>
                    <a:lstStyle/>
                    <a:p>
                      <a:pPr algn="just" fontAlgn="t"/>
                      <a:r>
                        <a:rPr lang="en-IN">
                          <a:solidFill>
                            <a:srgbClr val="333333"/>
                          </a:solidFill>
                          <a:effectLst/>
                          <a:latin typeface="inter-regular"/>
                        </a:rPr>
                        <a:t>char</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'\u0000'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 byte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334283">
                <a:tc>
                  <a:txBody>
                    <a:bodyPr/>
                    <a:lstStyle/>
                    <a:p>
                      <a:pPr algn="just" fontAlgn="t"/>
                      <a:r>
                        <a:rPr lang="en-IN">
                          <a:solidFill>
                            <a:srgbClr val="333333"/>
                          </a:solidFill>
                          <a:effectLst/>
                          <a:latin typeface="inter-regular"/>
                        </a:rPr>
                        <a:t>byte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 byte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4283">
                <a:tc>
                  <a:txBody>
                    <a:bodyPr/>
                    <a:lstStyle/>
                    <a:p>
                      <a:pPr algn="just" fontAlgn="t"/>
                      <a:r>
                        <a:rPr lang="en-IN">
                          <a:solidFill>
                            <a:srgbClr val="333333"/>
                          </a:solidFill>
                          <a:effectLst/>
                          <a:latin typeface="inter-regular"/>
                        </a:rPr>
                        <a:t>short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 byte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334283">
                <a:tc>
                  <a:txBody>
                    <a:bodyPr/>
                    <a:lstStyle/>
                    <a:p>
                      <a:pPr algn="just" fontAlgn="t"/>
                      <a:r>
                        <a:rPr lang="en-IN">
                          <a:solidFill>
                            <a:srgbClr val="333333"/>
                          </a:solidFill>
                          <a:effectLst/>
                          <a:latin typeface="inter-regular"/>
                        </a:rPr>
                        <a:t>int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4 byte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4283">
                <a:tc>
                  <a:txBody>
                    <a:bodyPr/>
                    <a:lstStyle/>
                    <a:p>
                      <a:pPr algn="just" fontAlgn="t"/>
                      <a:r>
                        <a:rPr lang="en-IN">
                          <a:solidFill>
                            <a:srgbClr val="333333"/>
                          </a:solidFill>
                          <a:effectLst/>
                          <a:latin typeface="inter-regular"/>
                        </a:rPr>
                        <a:t>long</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0L</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8 byte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6"/>
                  </a:ext>
                </a:extLst>
              </a:tr>
              <a:tr h="334283">
                <a:tc>
                  <a:txBody>
                    <a:bodyPr/>
                    <a:lstStyle/>
                    <a:p>
                      <a:pPr algn="just" fontAlgn="t"/>
                      <a:r>
                        <a:rPr lang="en-IN">
                          <a:solidFill>
                            <a:srgbClr val="333333"/>
                          </a:solidFill>
                          <a:effectLst/>
                          <a:latin typeface="inter-regular"/>
                        </a:rPr>
                        <a:t>float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0.0f</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4 byte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4283">
                <a:tc>
                  <a:txBody>
                    <a:bodyPr/>
                    <a:lstStyle/>
                    <a:p>
                      <a:pPr algn="just" fontAlgn="t"/>
                      <a:r>
                        <a:rPr lang="en-IN">
                          <a:solidFill>
                            <a:srgbClr val="333333"/>
                          </a:solidFill>
                          <a:effectLst/>
                          <a:latin typeface="inter-regular"/>
                        </a:rPr>
                        <a:t>double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0.0d</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8 byte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369807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US" dirty="0"/>
              <a:t>Operators in Java</a:t>
            </a:r>
          </a:p>
        </p:txBody>
      </p:sp>
      <p:sp>
        <p:nvSpPr>
          <p:cNvPr id="3" name="Content Placeholder 2"/>
          <p:cNvSpPr>
            <a:spLocks noGrp="1"/>
          </p:cNvSpPr>
          <p:nvPr>
            <p:ph idx="1"/>
          </p:nvPr>
        </p:nvSpPr>
        <p:spPr>
          <a:xfrm>
            <a:off x="107576" y="468593"/>
            <a:ext cx="11805750" cy="6268383"/>
          </a:xfrm>
        </p:spPr>
        <p:txBody>
          <a:bodyPr>
            <a:normAutofit fontScale="62500" lnSpcReduction="20000"/>
          </a:bodyPr>
          <a:lstStyle/>
          <a:p>
            <a:pPr marL="0" indent="0">
              <a:buNone/>
            </a:pPr>
            <a:r>
              <a:rPr lang="en-US" b="1" dirty="0" smtClean="0"/>
              <a:t>Operator</a:t>
            </a:r>
            <a:r>
              <a:rPr lang="en-US" dirty="0"/>
              <a:t> in Java is a symbol that is used to perform </a:t>
            </a:r>
            <a:r>
              <a:rPr lang="en-US" dirty="0" smtClean="0"/>
              <a:t>operations. For </a:t>
            </a:r>
            <a:r>
              <a:rPr lang="en-US" dirty="0"/>
              <a:t>example: +, -, *, / etc.</a:t>
            </a:r>
          </a:p>
          <a:p>
            <a:r>
              <a:rPr lang="en-US" b="1" dirty="0" smtClean="0"/>
              <a:t>Unary Operator</a:t>
            </a:r>
            <a:r>
              <a:rPr lang="en-US" dirty="0"/>
              <a:t>:</a:t>
            </a:r>
            <a:endParaRPr lang="en-US" dirty="0" smtClean="0"/>
          </a:p>
          <a:p>
            <a:pPr marL="0" indent="0">
              <a:buNone/>
            </a:pPr>
            <a:r>
              <a:rPr lang="en-US" dirty="0" smtClean="0"/>
              <a:t>	The </a:t>
            </a:r>
            <a:r>
              <a:rPr lang="en-US" dirty="0"/>
              <a:t>Java unary operators require only one operand. Unary operators are used to perform various operations i.e.:</a:t>
            </a:r>
          </a:p>
          <a:p>
            <a:pPr marL="457200" lvl="1" indent="0">
              <a:buNone/>
            </a:pPr>
            <a:r>
              <a:rPr lang="en-US" dirty="0"/>
              <a:t>incrementing/decrementing a value by </a:t>
            </a:r>
            <a:r>
              <a:rPr lang="en-US" dirty="0" smtClean="0"/>
              <a:t>one, negating </a:t>
            </a:r>
            <a:r>
              <a:rPr lang="en-US" dirty="0"/>
              <a:t>an </a:t>
            </a:r>
            <a:r>
              <a:rPr lang="en-US" dirty="0" smtClean="0"/>
              <a:t>expression, inverting </a:t>
            </a:r>
            <a:r>
              <a:rPr lang="en-US" dirty="0"/>
              <a:t>the value of a </a:t>
            </a:r>
            <a:r>
              <a:rPr lang="en-US" dirty="0" smtClean="0"/>
              <a:t>Boolean</a:t>
            </a:r>
            <a:endParaRPr lang="en-US" dirty="0"/>
          </a:p>
          <a:p>
            <a:r>
              <a:rPr lang="en-US" b="1" dirty="0"/>
              <a:t>Arithmetic </a:t>
            </a:r>
            <a:r>
              <a:rPr lang="en-US" b="1" dirty="0" smtClean="0"/>
              <a:t>Operator</a:t>
            </a:r>
            <a:r>
              <a:rPr lang="en-US" dirty="0" smtClean="0"/>
              <a:t>:</a:t>
            </a:r>
          </a:p>
          <a:p>
            <a:pPr marL="0" indent="0">
              <a:buNone/>
            </a:pPr>
            <a:r>
              <a:rPr lang="en-US" dirty="0"/>
              <a:t>	</a:t>
            </a:r>
            <a:r>
              <a:rPr lang="en-US" dirty="0" smtClean="0"/>
              <a:t>Arithmetic </a:t>
            </a:r>
            <a:r>
              <a:rPr lang="en-US" dirty="0"/>
              <a:t>operators are used to perform addition, </a:t>
            </a:r>
            <a:r>
              <a:rPr lang="en-US" dirty="0" smtClean="0"/>
              <a:t>subtraction, multiplication</a:t>
            </a:r>
            <a:r>
              <a:rPr lang="en-US" dirty="0"/>
              <a:t>, and division. </a:t>
            </a:r>
          </a:p>
          <a:p>
            <a:r>
              <a:rPr lang="en-US" b="1" dirty="0"/>
              <a:t>Shift </a:t>
            </a:r>
            <a:r>
              <a:rPr lang="en-US" b="1" dirty="0" smtClean="0"/>
              <a:t>Operator</a:t>
            </a:r>
            <a:r>
              <a:rPr lang="en-US" dirty="0" smtClean="0"/>
              <a:t>: </a:t>
            </a:r>
          </a:p>
          <a:p>
            <a:pPr marL="0" indent="0">
              <a:buNone/>
            </a:pPr>
            <a:r>
              <a:rPr lang="en-US" dirty="0"/>
              <a:t>	</a:t>
            </a:r>
            <a:r>
              <a:rPr lang="en-US" dirty="0" smtClean="0"/>
              <a:t>The </a:t>
            </a:r>
            <a:r>
              <a:rPr lang="en-US" dirty="0"/>
              <a:t>Java left shift operator &lt;&lt; is used to shift all of the bits in a value to the left side of a specified number of times</a:t>
            </a:r>
            <a:r>
              <a:rPr lang="en-US" dirty="0" smtClean="0"/>
              <a:t>.</a:t>
            </a:r>
          </a:p>
          <a:p>
            <a:pPr marL="0" indent="0">
              <a:buNone/>
            </a:pPr>
            <a:r>
              <a:rPr lang="en-US" dirty="0"/>
              <a:t>	</a:t>
            </a:r>
            <a:r>
              <a:rPr lang="en-US" dirty="0" smtClean="0"/>
              <a:t>Right </a:t>
            </a:r>
            <a:r>
              <a:rPr lang="en-US" dirty="0"/>
              <a:t>shift operator &gt;&gt; is used to move the value of the left operand to right by the number of bits specified by the right operand.</a:t>
            </a:r>
          </a:p>
          <a:p>
            <a:r>
              <a:rPr lang="en-US" b="1" dirty="0"/>
              <a:t>Relational </a:t>
            </a:r>
            <a:r>
              <a:rPr lang="en-US" b="1" dirty="0" smtClean="0"/>
              <a:t>Operator</a:t>
            </a:r>
            <a:r>
              <a:rPr lang="en-US" dirty="0" smtClean="0"/>
              <a:t>:</a:t>
            </a:r>
          </a:p>
          <a:p>
            <a:pPr marL="0" indent="0">
              <a:buNone/>
            </a:pPr>
            <a:r>
              <a:rPr lang="en-US" dirty="0"/>
              <a:t>	</a:t>
            </a:r>
            <a:r>
              <a:rPr lang="en-US" dirty="0" smtClean="0"/>
              <a:t>comparison:&lt;, </a:t>
            </a:r>
            <a:r>
              <a:rPr lang="en-US" dirty="0"/>
              <a:t>&gt; </a:t>
            </a:r>
            <a:r>
              <a:rPr lang="en-US" dirty="0" smtClean="0"/>
              <a:t>,&lt;= ,&gt;=, </a:t>
            </a:r>
            <a:r>
              <a:rPr lang="en-US" dirty="0" err="1" smtClean="0"/>
              <a:t>instanceof</a:t>
            </a:r>
            <a:r>
              <a:rPr lang="en-US" dirty="0" smtClean="0"/>
              <a:t> and equality: ==, !=</a:t>
            </a:r>
            <a:endParaRPr lang="en-US" dirty="0"/>
          </a:p>
          <a:p>
            <a:r>
              <a:rPr lang="en-US" b="1" dirty="0"/>
              <a:t>Bitwise </a:t>
            </a:r>
            <a:r>
              <a:rPr lang="en-US" b="1" dirty="0" smtClean="0"/>
              <a:t>Operator</a:t>
            </a:r>
            <a:r>
              <a:rPr lang="en-US" dirty="0" smtClean="0"/>
              <a:t>: </a:t>
            </a:r>
            <a:r>
              <a:rPr lang="en-US" dirty="0"/>
              <a:t> bitwise &amp; operator always checks both conditions whether first condition is true or </a:t>
            </a:r>
            <a:r>
              <a:rPr lang="en-US" dirty="0" smtClean="0"/>
              <a:t>false</a:t>
            </a:r>
          </a:p>
          <a:p>
            <a:pPr marL="0" indent="0">
              <a:buNone/>
            </a:pPr>
            <a:r>
              <a:rPr lang="en-US" dirty="0"/>
              <a:t>	bitwise | operator always checks both conditions whether first condition is true or false.</a:t>
            </a:r>
            <a:endParaRPr lang="en-US" dirty="0" smtClean="0"/>
          </a:p>
          <a:p>
            <a:r>
              <a:rPr lang="en-US" dirty="0" smtClean="0"/>
              <a:t> </a:t>
            </a:r>
            <a:r>
              <a:rPr lang="en-US" b="1" dirty="0" smtClean="0"/>
              <a:t>Logical Operator</a:t>
            </a:r>
            <a:r>
              <a:rPr lang="en-US" dirty="0" smtClean="0"/>
              <a:t>: </a:t>
            </a:r>
            <a:r>
              <a:rPr lang="en-US" dirty="0"/>
              <a:t>The logical &amp;&amp; operator doesn't check the second condition if the first condition is false. It checks the second condition only if the first one is true</a:t>
            </a:r>
            <a:r>
              <a:rPr lang="en-US" dirty="0" smtClean="0"/>
              <a:t>.</a:t>
            </a:r>
          </a:p>
          <a:p>
            <a:pPr marL="0" indent="0">
              <a:buNone/>
            </a:pPr>
            <a:r>
              <a:rPr lang="en-US" dirty="0"/>
              <a:t>	The logical || operator doesn't check the second condition if the first condition is true. It checks the second condition only if the first one is false.</a:t>
            </a:r>
          </a:p>
          <a:p>
            <a:r>
              <a:rPr lang="en-US" b="1" dirty="0"/>
              <a:t>Ternary </a:t>
            </a:r>
            <a:r>
              <a:rPr lang="en-US" b="1" dirty="0" smtClean="0"/>
              <a:t>Operator</a:t>
            </a:r>
            <a:r>
              <a:rPr lang="en-US" dirty="0"/>
              <a:t>: Ternary operator is used as one line replacement for if-then-else </a:t>
            </a:r>
            <a:r>
              <a:rPr lang="en-US" dirty="0" smtClean="0"/>
              <a:t>statement</a:t>
            </a:r>
          </a:p>
          <a:p>
            <a:pPr marL="0" indent="0">
              <a:buNone/>
            </a:pPr>
            <a:r>
              <a:rPr lang="en-US" dirty="0"/>
              <a:t>	</a:t>
            </a:r>
            <a:r>
              <a:rPr lang="en-US" dirty="0" smtClean="0"/>
              <a:t>	  </a:t>
            </a:r>
            <a:r>
              <a:rPr lang="en-US" dirty="0"/>
              <a:t>only conditional operator which takes three operands.</a:t>
            </a:r>
          </a:p>
          <a:p>
            <a:r>
              <a:rPr lang="en-US" b="1" dirty="0"/>
              <a:t>Assignment </a:t>
            </a:r>
            <a:r>
              <a:rPr lang="en-US" b="1" dirty="0" smtClean="0"/>
              <a:t>Operator</a:t>
            </a:r>
            <a:r>
              <a:rPr lang="en-US" dirty="0" smtClean="0"/>
              <a:t>: </a:t>
            </a:r>
            <a:r>
              <a:rPr lang="en-IN" dirty="0"/>
              <a:t>= += -= *= /= </a:t>
            </a:r>
            <a:r>
              <a:rPr lang="en-IN" dirty="0" smtClean="0"/>
              <a:t>%= etc., </a:t>
            </a:r>
            <a:r>
              <a:rPr lang="en-US" dirty="0"/>
              <a:t>U</a:t>
            </a:r>
            <a:r>
              <a:rPr lang="en-US" dirty="0" smtClean="0"/>
              <a:t>sed </a:t>
            </a:r>
            <a:r>
              <a:rPr lang="en-US" dirty="0"/>
              <a:t>to assign the value on its right to the operand on its left.</a:t>
            </a:r>
          </a:p>
          <a:p>
            <a:pPr marL="0" indent="0">
              <a:buNone/>
            </a:pPr>
            <a:endParaRPr lang="en-IN" sz="2000" dirty="0"/>
          </a:p>
          <a:p>
            <a:pPr marL="0" indent="0">
              <a:buNone/>
            </a:pPr>
            <a:endParaRPr lang="en-IN" sz="2000" dirty="0"/>
          </a:p>
        </p:txBody>
      </p:sp>
    </p:spTree>
    <p:extLst>
      <p:ext uri="{BB962C8B-B14F-4D97-AF65-F5344CB8AC3E}">
        <p14:creationId xmlns:p14="http://schemas.microsoft.com/office/powerpoint/2010/main" val="31546725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US" dirty="0" smtClean="0"/>
              <a:t>Introduction to Java</a:t>
            </a:r>
            <a:endParaRPr lang="en-US" dirty="0"/>
          </a:p>
        </p:txBody>
      </p:sp>
      <p:sp>
        <p:nvSpPr>
          <p:cNvPr id="3" name="Content Placeholder 2"/>
          <p:cNvSpPr>
            <a:spLocks noGrp="1"/>
          </p:cNvSpPr>
          <p:nvPr>
            <p:ph idx="1"/>
          </p:nvPr>
        </p:nvSpPr>
        <p:spPr>
          <a:xfrm>
            <a:off x="107576" y="468593"/>
            <a:ext cx="11805750" cy="6268383"/>
          </a:xfrm>
        </p:spPr>
        <p:txBody>
          <a:bodyPr>
            <a:noAutofit/>
          </a:bodyPr>
          <a:lstStyle/>
          <a:p>
            <a:pPr marL="0" indent="0">
              <a:buNone/>
            </a:pPr>
            <a:r>
              <a:rPr lang="en-US" sz="2000" b="1" dirty="0" smtClean="0"/>
              <a:t>Keywords</a:t>
            </a:r>
          </a:p>
          <a:p>
            <a:r>
              <a:rPr lang="en-US" sz="2000" dirty="0" smtClean="0"/>
              <a:t>Java </a:t>
            </a:r>
            <a:r>
              <a:rPr lang="en-US" sz="2000" dirty="0"/>
              <a:t>keywords are also known as reserved words. </a:t>
            </a:r>
            <a:endParaRPr lang="en-US" sz="2000" dirty="0" smtClean="0"/>
          </a:p>
          <a:p>
            <a:r>
              <a:rPr lang="en-US" sz="2000" dirty="0" smtClean="0"/>
              <a:t>Keywords </a:t>
            </a:r>
            <a:r>
              <a:rPr lang="en-US" sz="2000" dirty="0"/>
              <a:t>are particular words that act as a key to a code. </a:t>
            </a:r>
            <a:endParaRPr lang="en-US" sz="2000" dirty="0" smtClean="0"/>
          </a:p>
          <a:p>
            <a:r>
              <a:rPr lang="en-US" sz="2000" dirty="0" smtClean="0"/>
              <a:t>These </a:t>
            </a:r>
            <a:r>
              <a:rPr lang="en-US" sz="2000" dirty="0"/>
              <a:t>are predefined words by Java so they cannot be used as a variable or object name or class name.</a:t>
            </a:r>
          </a:p>
          <a:p>
            <a:pPr marL="0" indent="0">
              <a:buNone/>
            </a:pPr>
            <a:r>
              <a:rPr lang="en-US" sz="2000" dirty="0"/>
              <a:t>a</a:t>
            </a:r>
            <a:r>
              <a:rPr lang="en-US" sz="2000" dirty="0" smtClean="0"/>
              <a:t>bstract, </a:t>
            </a:r>
            <a:r>
              <a:rPr lang="en-US" sz="2000" dirty="0" err="1" smtClean="0"/>
              <a:t>boolean</a:t>
            </a:r>
            <a:r>
              <a:rPr lang="en-US" sz="2000" dirty="0" smtClean="0"/>
              <a:t>, break, byte, case, catch, char, class, continue, default, do, double, else, extends, final, finally, implements, new, null, synchronized etc.,</a:t>
            </a:r>
          </a:p>
          <a:p>
            <a:pPr marL="0" indent="0">
              <a:buNone/>
            </a:pPr>
            <a:r>
              <a:rPr lang="en-US" sz="2000" dirty="0" smtClean="0"/>
              <a:t> </a:t>
            </a:r>
            <a:r>
              <a:rPr lang="en-IN" sz="2000" dirty="0" smtClean="0"/>
              <a:t>Java </a:t>
            </a:r>
            <a:r>
              <a:rPr lang="en-IN" sz="2000" dirty="0"/>
              <a:t>provides three types of </a:t>
            </a:r>
            <a:r>
              <a:rPr lang="en-IN" sz="2000" b="1" dirty="0"/>
              <a:t>control flow statements</a:t>
            </a:r>
            <a:r>
              <a:rPr lang="en-IN" sz="2000" dirty="0"/>
              <a:t>.</a:t>
            </a:r>
          </a:p>
          <a:p>
            <a:pPr marL="0" indent="0">
              <a:buNone/>
            </a:pPr>
            <a:r>
              <a:rPr lang="en-IN" sz="2000" b="1" dirty="0" smtClean="0"/>
              <a:t>Decision </a:t>
            </a:r>
            <a:r>
              <a:rPr lang="en-IN" sz="2000" b="1" dirty="0"/>
              <a:t>Making </a:t>
            </a:r>
            <a:r>
              <a:rPr lang="en-IN" sz="2000" b="1" dirty="0" smtClean="0"/>
              <a:t>statements: </a:t>
            </a:r>
            <a:r>
              <a:rPr lang="en-IN" sz="2000" dirty="0" smtClean="0"/>
              <a:t>if </a:t>
            </a:r>
            <a:r>
              <a:rPr lang="en-IN" sz="2000" dirty="0" err="1" smtClean="0"/>
              <a:t>statements,switch</a:t>
            </a:r>
            <a:r>
              <a:rPr lang="en-IN" sz="2000" dirty="0" smtClean="0"/>
              <a:t> statement </a:t>
            </a:r>
            <a:r>
              <a:rPr lang="en-IN" sz="2000" b="1" dirty="0" smtClean="0"/>
              <a:t>Loop </a:t>
            </a:r>
            <a:r>
              <a:rPr lang="en-IN" sz="2000" b="1" dirty="0" err="1" smtClean="0"/>
              <a:t>statements</a:t>
            </a:r>
            <a:r>
              <a:rPr lang="en-IN" sz="2000" dirty="0" err="1"/>
              <a:t>:</a:t>
            </a:r>
            <a:r>
              <a:rPr lang="en-IN" sz="2000" dirty="0" err="1" smtClean="0"/>
              <a:t>do</a:t>
            </a:r>
            <a:r>
              <a:rPr lang="en-IN" sz="2000" dirty="0" smtClean="0"/>
              <a:t> </a:t>
            </a:r>
            <a:r>
              <a:rPr lang="en-IN" sz="2000" dirty="0"/>
              <a:t>while </a:t>
            </a:r>
            <a:r>
              <a:rPr lang="en-IN" sz="2000" dirty="0" err="1" smtClean="0"/>
              <a:t>loop,while</a:t>
            </a:r>
            <a:r>
              <a:rPr lang="en-IN" sz="2000" dirty="0" smtClean="0"/>
              <a:t> </a:t>
            </a:r>
            <a:r>
              <a:rPr lang="en-IN" sz="2000" dirty="0" err="1" smtClean="0"/>
              <a:t>loop,for</a:t>
            </a:r>
            <a:r>
              <a:rPr lang="en-IN" sz="2000" dirty="0" smtClean="0"/>
              <a:t> loop, for-each loop </a:t>
            </a:r>
            <a:r>
              <a:rPr lang="en-IN" sz="2000" b="1" dirty="0" smtClean="0"/>
              <a:t>Jump statements</a:t>
            </a:r>
            <a:r>
              <a:rPr lang="en-IN" sz="2000" dirty="0"/>
              <a:t>:</a:t>
            </a:r>
            <a:r>
              <a:rPr lang="en-IN" sz="2000" dirty="0" smtClean="0"/>
              <a:t> break statement, continue statement</a:t>
            </a:r>
          </a:p>
          <a:p>
            <a:pPr marL="0" indent="0">
              <a:buNone/>
            </a:pPr>
            <a:r>
              <a:rPr lang="en-IN" sz="2000" b="1" dirty="0"/>
              <a:t>Decision Making statements</a:t>
            </a:r>
            <a:r>
              <a:rPr lang="en-IN" sz="2000" b="1" dirty="0" smtClean="0"/>
              <a:t>: </a:t>
            </a:r>
            <a:r>
              <a:rPr lang="en-IN" sz="2000" dirty="0" smtClean="0"/>
              <a:t>Decision-making </a:t>
            </a:r>
            <a:r>
              <a:rPr lang="en-IN" sz="2000" dirty="0"/>
              <a:t>statements evaluate the Boolean expression and control the program flow depending upon the result of the condition provided</a:t>
            </a:r>
            <a:r>
              <a:rPr lang="en-IN" sz="2000" dirty="0" smtClean="0"/>
              <a:t>.</a:t>
            </a:r>
          </a:p>
          <a:p>
            <a:pPr marL="0" indent="0">
              <a:buNone/>
            </a:pPr>
            <a:r>
              <a:rPr lang="en-IN" sz="2000" b="1" dirty="0"/>
              <a:t>Simple if statement:</a:t>
            </a:r>
          </a:p>
          <a:p>
            <a:pPr marL="0" indent="0">
              <a:buNone/>
            </a:pPr>
            <a:r>
              <a:rPr lang="en-IN" sz="2000" b="1" dirty="0"/>
              <a:t>if</a:t>
            </a:r>
            <a:r>
              <a:rPr lang="en-IN" sz="2000" dirty="0"/>
              <a:t>(condition) {    </a:t>
            </a:r>
          </a:p>
          <a:p>
            <a:pPr marL="0" indent="0">
              <a:buNone/>
            </a:pPr>
            <a:r>
              <a:rPr lang="en-IN" sz="2000" dirty="0"/>
              <a:t>statement 1;    </a:t>
            </a:r>
          </a:p>
          <a:p>
            <a:pPr marL="0" indent="0">
              <a:buNone/>
            </a:pPr>
            <a:r>
              <a:rPr lang="en-IN" sz="2000" dirty="0"/>
              <a:t>}  </a:t>
            </a:r>
          </a:p>
          <a:p>
            <a:pPr marL="0" indent="0">
              <a:buNone/>
            </a:pPr>
            <a:endParaRPr lang="en-IN" sz="2000" dirty="0"/>
          </a:p>
        </p:txBody>
      </p:sp>
      <p:sp>
        <p:nvSpPr>
          <p:cNvPr id="5" name="TextBox 4"/>
          <p:cNvSpPr txBox="1"/>
          <p:nvPr/>
        </p:nvSpPr>
        <p:spPr>
          <a:xfrm>
            <a:off x="2528047" y="4504766"/>
            <a:ext cx="1869142" cy="2308324"/>
          </a:xfrm>
          <a:prstGeom prst="rect">
            <a:avLst/>
          </a:prstGeom>
          <a:noFill/>
        </p:spPr>
        <p:txBody>
          <a:bodyPr wrap="square" rtlCol="0">
            <a:spAutoFit/>
          </a:bodyPr>
          <a:lstStyle/>
          <a:p>
            <a:r>
              <a:rPr lang="en-IN" b="1" dirty="0" smtClean="0"/>
              <a:t>If-else statement:</a:t>
            </a:r>
          </a:p>
          <a:p>
            <a:r>
              <a:rPr lang="en-IN" b="1" dirty="0" smtClean="0"/>
              <a:t>if</a:t>
            </a:r>
            <a:r>
              <a:rPr lang="en-IN" dirty="0" smtClean="0"/>
              <a:t>(condition</a:t>
            </a:r>
            <a:r>
              <a:rPr lang="en-IN" dirty="0"/>
              <a:t>) {    </a:t>
            </a:r>
          </a:p>
          <a:p>
            <a:r>
              <a:rPr lang="en-IN" dirty="0"/>
              <a:t>statement 1; </a:t>
            </a:r>
          </a:p>
          <a:p>
            <a:r>
              <a:rPr lang="en-IN" dirty="0"/>
              <a:t>}  </a:t>
            </a:r>
          </a:p>
          <a:p>
            <a:r>
              <a:rPr lang="en-IN" b="1" dirty="0"/>
              <a:t>else</a:t>
            </a:r>
            <a:r>
              <a:rPr lang="en-IN" dirty="0"/>
              <a:t>{  </a:t>
            </a:r>
          </a:p>
          <a:p>
            <a:r>
              <a:rPr lang="en-IN" dirty="0"/>
              <a:t>statement </a:t>
            </a:r>
            <a:r>
              <a:rPr lang="en-IN" dirty="0" smtClean="0"/>
              <a:t>2</a:t>
            </a:r>
            <a:r>
              <a:rPr lang="en-IN" dirty="0"/>
              <a:t>;</a:t>
            </a:r>
          </a:p>
          <a:p>
            <a:r>
              <a:rPr lang="en-IN" dirty="0"/>
              <a:t>}  </a:t>
            </a:r>
          </a:p>
          <a:p>
            <a:endParaRPr lang="en-IN" dirty="0"/>
          </a:p>
        </p:txBody>
      </p:sp>
      <p:sp>
        <p:nvSpPr>
          <p:cNvPr id="6" name="TextBox 5"/>
          <p:cNvSpPr txBox="1"/>
          <p:nvPr/>
        </p:nvSpPr>
        <p:spPr>
          <a:xfrm>
            <a:off x="4504765" y="4504766"/>
            <a:ext cx="2191870" cy="2585323"/>
          </a:xfrm>
          <a:prstGeom prst="rect">
            <a:avLst/>
          </a:prstGeom>
          <a:noFill/>
        </p:spPr>
        <p:txBody>
          <a:bodyPr wrap="square" rtlCol="0">
            <a:spAutoFit/>
          </a:bodyPr>
          <a:lstStyle/>
          <a:p>
            <a:r>
              <a:rPr lang="en-IN" b="1" dirty="0" smtClean="0"/>
              <a:t>If-else-if statement:</a:t>
            </a:r>
          </a:p>
          <a:p>
            <a:r>
              <a:rPr lang="en-IN" b="1" dirty="0" smtClean="0"/>
              <a:t>if</a:t>
            </a:r>
            <a:r>
              <a:rPr lang="en-IN" dirty="0" smtClean="0"/>
              <a:t>(condtn1</a:t>
            </a:r>
            <a:r>
              <a:rPr lang="en-IN" dirty="0"/>
              <a:t>) {    </a:t>
            </a:r>
          </a:p>
          <a:p>
            <a:r>
              <a:rPr lang="en-IN" dirty="0"/>
              <a:t>statement 1; </a:t>
            </a:r>
            <a:r>
              <a:rPr lang="en-IN" dirty="0" smtClean="0"/>
              <a:t>}</a:t>
            </a:r>
            <a:r>
              <a:rPr lang="en-IN" dirty="0"/>
              <a:t>  </a:t>
            </a:r>
          </a:p>
          <a:p>
            <a:r>
              <a:rPr lang="en-IN" b="1" dirty="0"/>
              <a:t>else</a:t>
            </a:r>
            <a:r>
              <a:rPr lang="en-IN" dirty="0"/>
              <a:t> </a:t>
            </a:r>
            <a:r>
              <a:rPr lang="en-IN" b="1" dirty="0" smtClean="0"/>
              <a:t>if</a:t>
            </a:r>
            <a:r>
              <a:rPr lang="en-IN" dirty="0" smtClean="0"/>
              <a:t>(condtn2</a:t>
            </a:r>
            <a:r>
              <a:rPr lang="en-IN" dirty="0"/>
              <a:t>) {  </a:t>
            </a:r>
          </a:p>
          <a:p>
            <a:r>
              <a:rPr lang="en-IN" dirty="0"/>
              <a:t>statement </a:t>
            </a:r>
            <a:r>
              <a:rPr lang="en-IN" dirty="0" smtClean="0"/>
              <a:t>2;</a:t>
            </a:r>
            <a:r>
              <a:rPr lang="en-IN" dirty="0"/>
              <a:t>  </a:t>
            </a:r>
          </a:p>
          <a:p>
            <a:r>
              <a:rPr lang="en-IN" dirty="0"/>
              <a:t>}  </a:t>
            </a:r>
          </a:p>
          <a:p>
            <a:r>
              <a:rPr lang="en-IN" b="1" dirty="0"/>
              <a:t>else</a:t>
            </a:r>
            <a:r>
              <a:rPr lang="en-IN" dirty="0"/>
              <a:t> {  </a:t>
            </a:r>
          </a:p>
          <a:p>
            <a:r>
              <a:rPr lang="en-IN" dirty="0"/>
              <a:t>statement </a:t>
            </a:r>
            <a:r>
              <a:rPr lang="en-IN" dirty="0" smtClean="0"/>
              <a:t>3;</a:t>
            </a:r>
            <a:r>
              <a:rPr lang="en-IN" dirty="0"/>
              <a:t>   </a:t>
            </a:r>
            <a:r>
              <a:rPr lang="en-IN" dirty="0" smtClean="0"/>
              <a:t>}</a:t>
            </a:r>
            <a:r>
              <a:rPr lang="en-IN" dirty="0"/>
              <a:t>  </a:t>
            </a:r>
          </a:p>
          <a:p>
            <a:endParaRPr lang="en-IN" dirty="0"/>
          </a:p>
        </p:txBody>
      </p:sp>
      <p:sp>
        <p:nvSpPr>
          <p:cNvPr id="7" name="TextBox 6"/>
          <p:cNvSpPr txBox="1"/>
          <p:nvPr/>
        </p:nvSpPr>
        <p:spPr>
          <a:xfrm>
            <a:off x="7113109" y="4337627"/>
            <a:ext cx="3994161" cy="2862322"/>
          </a:xfrm>
          <a:prstGeom prst="rect">
            <a:avLst/>
          </a:prstGeom>
          <a:noFill/>
        </p:spPr>
        <p:txBody>
          <a:bodyPr wrap="square" rtlCol="0">
            <a:spAutoFit/>
          </a:bodyPr>
          <a:lstStyle/>
          <a:p>
            <a:r>
              <a:rPr lang="en-IN" b="1" dirty="0" smtClean="0"/>
              <a:t>Nested if:</a:t>
            </a:r>
          </a:p>
          <a:p>
            <a:r>
              <a:rPr lang="en-IN" b="1" dirty="0"/>
              <a:t>if</a:t>
            </a:r>
            <a:r>
              <a:rPr lang="en-IN" dirty="0"/>
              <a:t>(condition 1) {    </a:t>
            </a:r>
          </a:p>
          <a:p>
            <a:r>
              <a:rPr lang="en-IN" dirty="0"/>
              <a:t>statement 1; </a:t>
            </a:r>
          </a:p>
          <a:p>
            <a:r>
              <a:rPr lang="en-IN" b="1" dirty="0"/>
              <a:t>if</a:t>
            </a:r>
            <a:r>
              <a:rPr lang="en-IN" dirty="0"/>
              <a:t>(condition 2) {  </a:t>
            </a:r>
          </a:p>
          <a:p>
            <a:r>
              <a:rPr lang="en-IN" dirty="0"/>
              <a:t>statement 2; </a:t>
            </a:r>
          </a:p>
          <a:p>
            <a:r>
              <a:rPr lang="en-IN" dirty="0"/>
              <a:t>}  </a:t>
            </a:r>
          </a:p>
          <a:p>
            <a:r>
              <a:rPr lang="en-IN" b="1" dirty="0"/>
              <a:t>else</a:t>
            </a:r>
            <a:r>
              <a:rPr lang="en-IN" dirty="0"/>
              <a:t>{  </a:t>
            </a:r>
          </a:p>
          <a:p>
            <a:r>
              <a:rPr lang="en-IN" dirty="0"/>
              <a:t>statement </a:t>
            </a:r>
            <a:r>
              <a:rPr lang="en-IN" dirty="0" smtClean="0"/>
              <a:t>3;</a:t>
            </a:r>
            <a:r>
              <a:rPr lang="en-IN" dirty="0"/>
              <a:t> </a:t>
            </a:r>
          </a:p>
          <a:p>
            <a:r>
              <a:rPr lang="en-IN" dirty="0"/>
              <a:t>}  </a:t>
            </a:r>
            <a:r>
              <a:rPr lang="en-IN" dirty="0" smtClean="0"/>
              <a:t>}</a:t>
            </a:r>
            <a:r>
              <a:rPr lang="en-IN" dirty="0"/>
              <a:t>  </a:t>
            </a:r>
          </a:p>
          <a:p>
            <a:endParaRPr lang="en-IN" dirty="0"/>
          </a:p>
        </p:txBody>
      </p:sp>
    </p:spTree>
    <p:extLst>
      <p:ext uri="{BB962C8B-B14F-4D97-AF65-F5344CB8AC3E}">
        <p14:creationId xmlns:p14="http://schemas.microsoft.com/office/powerpoint/2010/main" val="41465742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US" dirty="0" smtClean="0"/>
              <a:t>Introduction to Java</a:t>
            </a:r>
            <a:endParaRPr lang="en-US" dirty="0"/>
          </a:p>
        </p:txBody>
      </p:sp>
      <p:sp>
        <p:nvSpPr>
          <p:cNvPr id="3" name="Content Placeholder 2"/>
          <p:cNvSpPr>
            <a:spLocks noGrp="1"/>
          </p:cNvSpPr>
          <p:nvPr>
            <p:ph idx="1"/>
          </p:nvPr>
        </p:nvSpPr>
        <p:spPr>
          <a:xfrm>
            <a:off x="107575" y="468593"/>
            <a:ext cx="12330953" cy="6268383"/>
          </a:xfrm>
        </p:spPr>
        <p:txBody>
          <a:bodyPr>
            <a:noAutofit/>
          </a:bodyPr>
          <a:lstStyle/>
          <a:p>
            <a:pPr marL="0" indent="0">
              <a:buNone/>
            </a:pPr>
            <a:r>
              <a:rPr lang="en-IN" sz="2000" b="1" dirty="0"/>
              <a:t>Switch Statement</a:t>
            </a:r>
            <a:r>
              <a:rPr lang="en-IN" sz="2000" dirty="0"/>
              <a:t>:</a:t>
            </a:r>
          </a:p>
          <a:p>
            <a:r>
              <a:rPr lang="en-IN" sz="1800" dirty="0" smtClean="0"/>
              <a:t>similar </a:t>
            </a:r>
            <a:r>
              <a:rPr lang="en-IN" sz="1800" dirty="0"/>
              <a:t>to if-else-if statements. </a:t>
            </a:r>
            <a:endParaRPr lang="en-IN" sz="1800" dirty="0" smtClean="0"/>
          </a:p>
          <a:p>
            <a:r>
              <a:rPr lang="en-IN" sz="1800" dirty="0" smtClean="0"/>
              <a:t>The </a:t>
            </a:r>
            <a:r>
              <a:rPr lang="en-IN" sz="1800" dirty="0"/>
              <a:t>switch statement contains multiple blocks of code called cases and a single case is executed based on the variable which is being switched. </a:t>
            </a:r>
            <a:endParaRPr lang="en-IN" sz="1800" dirty="0" smtClean="0"/>
          </a:p>
          <a:p>
            <a:r>
              <a:rPr lang="en-IN" sz="1800" dirty="0" smtClean="0"/>
              <a:t>case </a:t>
            </a:r>
            <a:r>
              <a:rPr lang="en-IN" sz="1800" dirty="0"/>
              <a:t>variables can be </a:t>
            </a:r>
            <a:r>
              <a:rPr lang="en-IN" sz="1800" dirty="0" err="1"/>
              <a:t>int</a:t>
            </a:r>
            <a:r>
              <a:rPr lang="en-IN" sz="1800" dirty="0"/>
              <a:t>, short, byte, char</a:t>
            </a:r>
            <a:r>
              <a:rPr lang="en-IN" sz="1800" dirty="0" smtClean="0"/>
              <a:t>, String </a:t>
            </a:r>
            <a:r>
              <a:rPr lang="en-IN" sz="1800" dirty="0"/>
              <a:t>or enumeration. </a:t>
            </a:r>
          </a:p>
          <a:p>
            <a:r>
              <a:rPr lang="en-IN" sz="1800" dirty="0"/>
              <a:t>Cases cannot be duplicate</a:t>
            </a:r>
          </a:p>
          <a:p>
            <a:r>
              <a:rPr lang="en-IN" sz="1800" dirty="0"/>
              <a:t>Default statement is executed when any of the case doesn't match the value of expression. It is optional.</a:t>
            </a:r>
          </a:p>
          <a:p>
            <a:r>
              <a:rPr lang="en-IN" sz="1800" dirty="0"/>
              <a:t>Break statement terminates the switch block when the condition is </a:t>
            </a:r>
            <a:r>
              <a:rPr lang="en-IN" sz="1800" dirty="0" smtClean="0"/>
              <a:t>satisfied. It </a:t>
            </a:r>
            <a:r>
              <a:rPr lang="en-IN" sz="1800" dirty="0"/>
              <a:t>is optional, if not used, next case is executed.</a:t>
            </a:r>
          </a:p>
          <a:p>
            <a:pPr marL="0" indent="0">
              <a:lnSpc>
                <a:spcPct val="100000"/>
              </a:lnSpc>
              <a:spcBef>
                <a:spcPts val="0"/>
              </a:spcBef>
              <a:buNone/>
            </a:pPr>
            <a:r>
              <a:rPr lang="en-IN" sz="1800" b="1" dirty="0"/>
              <a:t>switch</a:t>
            </a:r>
            <a:r>
              <a:rPr lang="en-IN" sz="1800" dirty="0"/>
              <a:t> (expression){  </a:t>
            </a:r>
            <a:endParaRPr lang="en-IN" sz="1800" dirty="0" smtClean="0"/>
          </a:p>
          <a:p>
            <a:pPr marL="0" indent="0">
              <a:lnSpc>
                <a:spcPct val="100000"/>
              </a:lnSpc>
              <a:spcBef>
                <a:spcPts val="0"/>
              </a:spcBef>
              <a:buNone/>
            </a:pPr>
            <a:r>
              <a:rPr lang="en-IN" sz="1800" b="1" dirty="0" smtClean="0"/>
              <a:t>    case</a:t>
            </a:r>
            <a:r>
              <a:rPr lang="en-IN" sz="1800" dirty="0"/>
              <a:t> value1:  </a:t>
            </a:r>
            <a:endParaRPr lang="en-IN" sz="1800" dirty="0" smtClean="0"/>
          </a:p>
          <a:p>
            <a:pPr marL="0" indent="0">
              <a:lnSpc>
                <a:spcPct val="100000"/>
              </a:lnSpc>
              <a:spcBef>
                <a:spcPts val="0"/>
              </a:spcBef>
              <a:buNone/>
            </a:pPr>
            <a:r>
              <a:rPr lang="en-IN" sz="1800" dirty="0" smtClean="0"/>
              <a:t>    statement1</a:t>
            </a:r>
            <a:r>
              <a:rPr lang="en-IN" sz="1800" dirty="0"/>
              <a:t>;  </a:t>
            </a:r>
            <a:endParaRPr lang="en-IN" sz="1800" dirty="0" smtClean="0"/>
          </a:p>
          <a:p>
            <a:pPr marL="0" indent="0">
              <a:lnSpc>
                <a:spcPct val="100000"/>
              </a:lnSpc>
              <a:spcBef>
                <a:spcPts val="0"/>
              </a:spcBef>
              <a:buNone/>
            </a:pPr>
            <a:r>
              <a:rPr lang="en-IN" sz="1800" b="1" dirty="0" smtClean="0"/>
              <a:t>    break</a:t>
            </a:r>
            <a:r>
              <a:rPr lang="en-IN" sz="1800" dirty="0"/>
              <a:t>;  </a:t>
            </a:r>
            <a:endParaRPr lang="en-IN" sz="1800" dirty="0" smtClean="0"/>
          </a:p>
          <a:p>
            <a:pPr marL="0" indent="0">
              <a:lnSpc>
                <a:spcPct val="100000"/>
              </a:lnSpc>
              <a:spcBef>
                <a:spcPts val="0"/>
              </a:spcBef>
              <a:buNone/>
            </a:pPr>
            <a:r>
              <a:rPr lang="en-IN" sz="1800" dirty="0" smtClean="0"/>
              <a:t>    .</a:t>
            </a:r>
          </a:p>
          <a:p>
            <a:pPr marL="0" indent="0">
              <a:lnSpc>
                <a:spcPct val="100000"/>
              </a:lnSpc>
              <a:spcBef>
                <a:spcPts val="0"/>
              </a:spcBef>
              <a:buNone/>
            </a:pPr>
            <a:r>
              <a:rPr lang="en-IN" sz="1800" dirty="0" smtClean="0"/>
              <a:t>    .</a:t>
            </a:r>
            <a:endParaRPr lang="en-IN" sz="1800" dirty="0"/>
          </a:p>
          <a:p>
            <a:pPr marL="0" indent="0">
              <a:lnSpc>
                <a:spcPct val="100000"/>
              </a:lnSpc>
              <a:spcBef>
                <a:spcPts val="0"/>
              </a:spcBef>
              <a:buNone/>
            </a:pPr>
            <a:r>
              <a:rPr lang="en-IN" sz="1800" dirty="0"/>
              <a:t>    </a:t>
            </a:r>
            <a:r>
              <a:rPr lang="en-IN" sz="1800" b="1" dirty="0"/>
              <a:t>case</a:t>
            </a:r>
            <a:r>
              <a:rPr lang="en-IN" sz="1800" dirty="0"/>
              <a:t> </a:t>
            </a:r>
            <a:r>
              <a:rPr lang="en-IN" sz="1800" dirty="0" err="1"/>
              <a:t>valueN</a:t>
            </a:r>
            <a:r>
              <a:rPr lang="en-IN" sz="1800" dirty="0"/>
              <a:t>:  </a:t>
            </a:r>
          </a:p>
          <a:p>
            <a:pPr marL="0" indent="0">
              <a:lnSpc>
                <a:spcPct val="100000"/>
              </a:lnSpc>
              <a:spcBef>
                <a:spcPts val="0"/>
              </a:spcBef>
              <a:buNone/>
            </a:pPr>
            <a:r>
              <a:rPr lang="en-IN" sz="1800" dirty="0"/>
              <a:t>     </a:t>
            </a:r>
            <a:r>
              <a:rPr lang="en-IN" sz="1800" dirty="0" err="1"/>
              <a:t>statementN</a:t>
            </a:r>
            <a:r>
              <a:rPr lang="en-IN" sz="1800" dirty="0"/>
              <a:t>;  </a:t>
            </a:r>
          </a:p>
          <a:p>
            <a:pPr marL="0" indent="0">
              <a:lnSpc>
                <a:spcPct val="100000"/>
              </a:lnSpc>
              <a:spcBef>
                <a:spcPts val="0"/>
              </a:spcBef>
              <a:buNone/>
            </a:pPr>
            <a:r>
              <a:rPr lang="en-IN" sz="1800" dirty="0"/>
              <a:t>     </a:t>
            </a:r>
            <a:r>
              <a:rPr lang="en-IN" sz="1800" b="1" dirty="0"/>
              <a:t>break</a:t>
            </a:r>
            <a:r>
              <a:rPr lang="en-IN" sz="1800" dirty="0"/>
              <a:t>;  </a:t>
            </a:r>
          </a:p>
          <a:p>
            <a:pPr marL="0" indent="0">
              <a:lnSpc>
                <a:spcPct val="100000"/>
              </a:lnSpc>
              <a:spcBef>
                <a:spcPts val="0"/>
              </a:spcBef>
              <a:buNone/>
            </a:pPr>
            <a:r>
              <a:rPr lang="en-IN" sz="1800" dirty="0"/>
              <a:t>    </a:t>
            </a:r>
            <a:r>
              <a:rPr lang="en-IN" sz="1800" b="1" dirty="0"/>
              <a:t>default</a:t>
            </a:r>
            <a:r>
              <a:rPr lang="en-IN" sz="1800" dirty="0"/>
              <a:t>:  </a:t>
            </a:r>
          </a:p>
          <a:p>
            <a:pPr marL="0" indent="0">
              <a:lnSpc>
                <a:spcPct val="100000"/>
              </a:lnSpc>
              <a:spcBef>
                <a:spcPts val="0"/>
              </a:spcBef>
              <a:buNone/>
            </a:pPr>
            <a:r>
              <a:rPr lang="en-IN" sz="1800" dirty="0"/>
              <a:t>     </a:t>
            </a:r>
            <a:r>
              <a:rPr lang="en-IN" sz="1800" b="1" dirty="0"/>
              <a:t>default</a:t>
            </a:r>
            <a:r>
              <a:rPr lang="en-IN" sz="1800" dirty="0"/>
              <a:t> statement;  </a:t>
            </a:r>
          </a:p>
          <a:p>
            <a:pPr marL="0" indent="0">
              <a:lnSpc>
                <a:spcPct val="100000"/>
              </a:lnSpc>
              <a:spcBef>
                <a:spcPts val="0"/>
              </a:spcBef>
              <a:buNone/>
            </a:pPr>
            <a:r>
              <a:rPr lang="en-IN" sz="1800" dirty="0"/>
              <a:t>}  </a:t>
            </a:r>
          </a:p>
          <a:p>
            <a:pPr marL="0" indent="0">
              <a:spcBef>
                <a:spcPts val="0"/>
              </a:spcBef>
              <a:buNone/>
            </a:pPr>
            <a:endParaRPr lang="en-IN" sz="1800" dirty="0"/>
          </a:p>
          <a:p>
            <a:pPr marL="0" indent="0">
              <a:buNone/>
            </a:pPr>
            <a:endParaRPr lang="en-IN" sz="2000" dirty="0"/>
          </a:p>
        </p:txBody>
      </p:sp>
    </p:spTree>
    <p:extLst>
      <p:ext uri="{BB962C8B-B14F-4D97-AF65-F5344CB8AC3E}">
        <p14:creationId xmlns:p14="http://schemas.microsoft.com/office/powerpoint/2010/main" val="21520388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68593"/>
          </a:xfrm>
        </p:spPr>
        <p:txBody>
          <a:bodyPr>
            <a:normAutofit fontScale="90000"/>
          </a:bodyPr>
          <a:lstStyle/>
          <a:p>
            <a:r>
              <a:rPr lang="en-US" dirty="0" smtClean="0"/>
              <a:t>Introduction to Java</a:t>
            </a:r>
            <a:endParaRPr lang="en-US" dirty="0"/>
          </a:p>
        </p:txBody>
      </p:sp>
      <p:sp>
        <p:nvSpPr>
          <p:cNvPr id="3" name="Content Placeholder 2"/>
          <p:cNvSpPr>
            <a:spLocks noGrp="1"/>
          </p:cNvSpPr>
          <p:nvPr>
            <p:ph idx="1"/>
          </p:nvPr>
        </p:nvSpPr>
        <p:spPr>
          <a:xfrm>
            <a:off x="107576" y="468593"/>
            <a:ext cx="11805750" cy="6268383"/>
          </a:xfrm>
        </p:spPr>
        <p:txBody>
          <a:bodyPr>
            <a:noAutofit/>
          </a:bodyPr>
          <a:lstStyle/>
          <a:p>
            <a:pPr marL="0" indent="0">
              <a:buNone/>
            </a:pPr>
            <a:r>
              <a:rPr lang="en-IN" sz="2000" b="1" dirty="0"/>
              <a:t>Loop Statements</a:t>
            </a:r>
          </a:p>
          <a:p>
            <a:r>
              <a:rPr lang="en-IN" sz="2000" dirty="0"/>
              <a:t>L</a:t>
            </a:r>
            <a:r>
              <a:rPr lang="en-IN" sz="2000" dirty="0" smtClean="0"/>
              <a:t>oop </a:t>
            </a:r>
            <a:r>
              <a:rPr lang="en-IN" sz="2000" dirty="0"/>
              <a:t>statements are used to execute the set of instructions in a repeated order. The execution of the set of instructions depends upon a particular condition.</a:t>
            </a:r>
          </a:p>
          <a:p>
            <a:r>
              <a:rPr lang="en-IN" sz="2000" dirty="0" smtClean="0"/>
              <a:t>There are </a:t>
            </a:r>
            <a:r>
              <a:rPr lang="en-IN" sz="2000" dirty="0"/>
              <a:t>three types of loops that execute similarly. However, there are differences in their syntax and condition checking time.</a:t>
            </a:r>
          </a:p>
          <a:p>
            <a:pPr marL="0" indent="0">
              <a:buNone/>
            </a:pPr>
            <a:r>
              <a:rPr lang="en-IN" sz="2000" dirty="0"/>
              <a:t>for </a:t>
            </a:r>
            <a:r>
              <a:rPr lang="en-IN" sz="2000" dirty="0" smtClean="0"/>
              <a:t>loop, while loop, do-while loop</a:t>
            </a:r>
          </a:p>
          <a:p>
            <a:pPr marL="0" indent="0">
              <a:buNone/>
            </a:pPr>
            <a:r>
              <a:rPr lang="en-IN" sz="2000" b="1" dirty="0"/>
              <a:t>f</a:t>
            </a:r>
            <a:r>
              <a:rPr lang="en-IN" sz="2000" b="1" dirty="0" smtClean="0"/>
              <a:t>or loop: </a:t>
            </a:r>
          </a:p>
          <a:p>
            <a:pPr marL="0" indent="0">
              <a:buNone/>
            </a:pPr>
            <a:r>
              <a:rPr lang="en-IN" sz="2000" b="1" dirty="0" smtClean="0"/>
              <a:t>for</a:t>
            </a:r>
            <a:r>
              <a:rPr lang="en-IN" sz="2000" dirty="0" smtClean="0"/>
              <a:t>(initialization</a:t>
            </a:r>
            <a:r>
              <a:rPr lang="en-IN" sz="2000" dirty="0"/>
              <a:t>, condition, increment/decrement) {    </a:t>
            </a:r>
          </a:p>
          <a:p>
            <a:pPr marL="0" indent="0">
              <a:buNone/>
            </a:pPr>
            <a:r>
              <a:rPr lang="en-IN" sz="2000" dirty="0"/>
              <a:t>//block of statements    </a:t>
            </a:r>
          </a:p>
          <a:p>
            <a:pPr marL="0" indent="0">
              <a:buNone/>
            </a:pPr>
            <a:r>
              <a:rPr lang="en-IN" sz="2000" dirty="0"/>
              <a:t>}    </a:t>
            </a:r>
          </a:p>
          <a:p>
            <a:pPr marL="0" indent="0">
              <a:buNone/>
            </a:pPr>
            <a:endParaRPr lang="en-IN" sz="2000" dirty="0"/>
          </a:p>
        </p:txBody>
      </p:sp>
      <p:sp>
        <p:nvSpPr>
          <p:cNvPr id="5" name="TextBox 4"/>
          <p:cNvSpPr txBox="1"/>
          <p:nvPr/>
        </p:nvSpPr>
        <p:spPr>
          <a:xfrm>
            <a:off x="107576" y="4151653"/>
            <a:ext cx="3939990" cy="1477328"/>
          </a:xfrm>
          <a:prstGeom prst="rect">
            <a:avLst/>
          </a:prstGeom>
          <a:noFill/>
        </p:spPr>
        <p:txBody>
          <a:bodyPr wrap="square" rtlCol="0">
            <a:spAutoFit/>
          </a:bodyPr>
          <a:lstStyle/>
          <a:p>
            <a:r>
              <a:rPr lang="en-IN" b="1" dirty="0" smtClean="0"/>
              <a:t>while loop: (Entry controlled Loop)</a:t>
            </a:r>
          </a:p>
          <a:p>
            <a:r>
              <a:rPr lang="en-IN" b="1" dirty="0"/>
              <a:t>while</a:t>
            </a:r>
            <a:r>
              <a:rPr lang="en-IN" dirty="0"/>
              <a:t>(condition){    </a:t>
            </a:r>
          </a:p>
          <a:p>
            <a:r>
              <a:rPr lang="en-IN" dirty="0"/>
              <a:t>//looping </a:t>
            </a:r>
            <a:r>
              <a:rPr lang="en-IN" dirty="0" smtClean="0"/>
              <a:t>statements</a:t>
            </a:r>
            <a:r>
              <a:rPr lang="en-IN" dirty="0"/>
              <a:t> </a:t>
            </a:r>
          </a:p>
          <a:p>
            <a:r>
              <a:rPr lang="en-IN" dirty="0"/>
              <a:t>}    </a:t>
            </a:r>
          </a:p>
          <a:p>
            <a:endParaRPr lang="en-IN" dirty="0"/>
          </a:p>
        </p:txBody>
      </p:sp>
      <p:sp>
        <p:nvSpPr>
          <p:cNvPr id="6" name="TextBox 5"/>
          <p:cNvSpPr txBox="1"/>
          <p:nvPr/>
        </p:nvSpPr>
        <p:spPr>
          <a:xfrm>
            <a:off x="6280831" y="4151653"/>
            <a:ext cx="3754997" cy="1754326"/>
          </a:xfrm>
          <a:prstGeom prst="rect">
            <a:avLst/>
          </a:prstGeom>
          <a:noFill/>
        </p:spPr>
        <p:txBody>
          <a:bodyPr wrap="square" rtlCol="0">
            <a:spAutoFit/>
          </a:bodyPr>
          <a:lstStyle/>
          <a:p>
            <a:r>
              <a:rPr lang="en-IN" b="1" dirty="0" smtClean="0"/>
              <a:t>do-while loop(Exit Controlled Loop):</a:t>
            </a:r>
          </a:p>
          <a:p>
            <a:r>
              <a:rPr lang="en-IN" b="1" dirty="0"/>
              <a:t>do</a:t>
            </a:r>
            <a:r>
              <a:rPr lang="en-IN" dirty="0"/>
              <a:t>     </a:t>
            </a:r>
          </a:p>
          <a:p>
            <a:r>
              <a:rPr lang="en-IN" dirty="0"/>
              <a:t>{    </a:t>
            </a:r>
          </a:p>
          <a:p>
            <a:r>
              <a:rPr lang="en-IN" dirty="0"/>
              <a:t>//statements    </a:t>
            </a:r>
          </a:p>
          <a:p>
            <a:r>
              <a:rPr lang="en-IN" dirty="0"/>
              <a:t>} </a:t>
            </a:r>
            <a:r>
              <a:rPr lang="en-IN" b="1" dirty="0"/>
              <a:t>while</a:t>
            </a:r>
            <a:r>
              <a:rPr lang="en-IN" dirty="0"/>
              <a:t> (condition);    </a:t>
            </a:r>
          </a:p>
          <a:p>
            <a:endParaRPr lang="en-IN" dirty="0"/>
          </a:p>
        </p:txBody>
      </p:sp>
      <p:sp>
        <p:nvSpPr>
          <p:cNvPr id="8" name="TextBox 7"/>
          <p:cNvSpPr txBox="1"/>
          <p:nvPr/>
        </p:nvSpPr>
        <p:spPr>
          <a:xfrm>
            <a:off x="5462707" y="1851828"/>
            <a:ext cx="6128657" cy="2308324"/>
          </a:xfrm>
          <a:prstGeom prst="rect">
            <a:avLst/>
          </a:prstGeom>
          <a:noFill/>
        </p:spPr>
        <p:txBody>
          <a:bodyPr wrap="square" rtlCol="0">
            <a:spAutoFit/>
          </a:bodyPr>
          <a:lstStyle/>
          <a:p>
            <a:r>
              <a:rPr lang="en-IN" b="1" dirty="0" smtClean="0"/>
              <a:t>For-each:</a:t>
            </a:r>
          </a:p>
          <a:p>
            <a:r>
              <a:rPr lang="en-IN" b="1" dirty="0"/>
              <a:t>for</a:t>
            </a:r>
            <a:r>
              <a:rPr lang="en-IN" dirty="0"/>
              <a:t>(</a:t>
            </a:r>
            <a:r>
              <a:rPr lang="en-IN" dirty="0" err="1"/>
              <a:t>data_type</a:t>
            </a:r>
            <a:r>
              <a:rPr lang="en-IN" dirty="0"/>
              <a:t> </a:t>
            </a:r>
            <a:r>
              <a:rPr lang="en-IN" dirty="0" err="1"/>
              <a:t>var</a:t>
            </a:r>
            <a:r>
              <a:rPr lang="en-IN" dirty="0"/>
              <a:t> : </a:t>
            </a:r>
            <a:r>
              <a:rPr lang="en-IN" dirty="0" err="1"/>
              <a:t>array_name</a:t>
            </a:r>
            <a:r>
              <a:rPr lang="en-IN" dirty="0"/>
              <a:t>/</a:t>
            </a:r>
            <a:r>
              <a:rPr lang="en-IN" dirty="0" err="1"/>
              <a:t>collection_name</a:t>
            </a:r>
            <a:r>
              <a:rPr lang="en-IN" dirty="0"/>
              <a:t>){    </a:t>
            </a:r>
          </a:p>
          <a:p>
            <a:r>
              <a:rPr lang="en-IN" dirty="0"/>
              <a:t>//statements    </a:t>
            </a:r>
            <a:r>
              <a:rPr lang="en-IN" dirty="0" smtClean="0"/>
              <a:t>}</a:t>
            </a:r>
            <a:r>
              <a:rPr lang="en-IN" dirty="0"/>
              <a:t>    </a:t>
            </a:r>
            <a:r>
              <a:rPr lang="en-US" dirty="0"/>
              <a:t> </a:t>
            </a:r>
            <a:endParaRPr lang="en-US" dirty="0" smtClean="0"/>
          </a:p>
          <a:p>
            <a:r>
              <a:rPr lang="en-US" dirty="0" err="1" smtClean="0"/>
              <a:t>int</a:t>
            </a:r>
            <a:r>
              <a:rPr lang="en-US" dirty="0"/>
              <a:t>[] numbers = {1, 2, 3, 4, 5</a:t>
            </a:r>
            <a:r>
              <a:rPr lang="en-US" dirty="0" smtClean="0"/>
              <a:t>};    </a:t>
            </a:r>
          </a:p>
          <a:p>
            <a:r>
              <a:rPr lang="en-US" dirty="0" smtClean="0"/>
              <a:t> </a:t>
            </a:r>
            <a:r>
              <a:rPr lang="en-US" dirty="0"/>
              <a:t>for (</a:t>
            </a:r>
            <a:r>
              <a:rPr lang="en-US" dirty="0" err="1"/>
              <a:t>int</a:t>
            </a:r>
            <a:r>
              <a:rPr lang="en-US" dirty="0"/>
              <a:t> number : numbers) { </a:t>
            </a:r>
            <a:r>
              <a:rPr lang="en-US" dirty="0" err="1"/>
              <a:t>System.out.println</a:t>
            </a:r>
            <a:r>
              <a:rPr lang="en-US" dirty="0"/>
              <a:t>(number); </a:t>
            </a:r>
            <a:r>
              <a:rPr lang="en-US" dirty="0" smtClean="0"/>
              <a:t>}</a:t>
            </a:r>
          </a:p>
          <a:p>
            <a:r>
              <a:rPr lang="en-US" b="1" dirty="0" err="1"/>
              <a:t>when:You</a:t>
            </a:r>
            <a:r>
              <a:rPr lang="en-US" b="1" dirty="0"/>
              <a:t> don’t need the </a:t>
            </a:r>
            <a:r>
              <a:rPr lang="en-US" b="1" dirty="0" smtClean="0"/>
              <a:t>index</a:t>
            </a:r>
          </a:p>
          <a:p>
            <a:r>
              <a:rPr lang="en-US" b="1" dirty="0" smtClean="0"/>
              <a:t>You’re </a:t>
            </a:r>
            <a:r>
              <a:rPr lang="en-US" b="1" dirty="0"/>
              <a:t>not modifying the original </a:t>
            </a:r>
            <a:r>
              <a:rPr lang="en-US" b="1" dirty="0" smtClean="0"/>
              <a:t>data</a:t>
            </a:r>
          </a:p>
          <a:p>
            <a:r>
              <a:rPr lang="en-US" b="1" dirty="0" smtClean="0"/>
              <a:t>You </a:t>
            </a:r>
            <a:r>
              <a:rPr lang="en-US" b="1" dirty="0"/>
              <a:t>just want to read or process each element</a:t>
            </a:r>
            <a:endParaRPr lang="en-IN" b="1" dirty="0"/>
          </a:p>
        </p:txBody>
      </p:sp>
      <p:sp>
        <p:nvSpPr>
          <p:cNvPr id="9" name="TextBox 8"/>
          <p:cNvSpPr txBox="1"/>
          <p:nvPr/>
        </p:nvSpPr>
        <p:spPr>
          <a:xfrm>
            <a:off x="107575" y="5214024"/>
            <a:ext cx="11483789" cy="1477328"/>
          </a:xfrm>
          <a:prstGeom prst="rect">
            <a:avLst/>
          </a:prstGeom>
          <a:noFill/>
        </p:spPr>
        <p:txBody>
          <a:bodyPr wrap="square" rtlCol="0">
            <a:spAutoFit/>
          </a:bodyPr>
          <a:lstStyle/>
          <a:p>
            <a:r>
              <a:rPr lang="en-IN" b="1" dirty="0" smtClean="0"/>
              <a:t>Jump statements:</a:t>
            </a:r>
          </a:p>
          <a:p>
            <a:r>
              <a:rPr lang="en-IN" b="1" dirty="0"/>
              <a:t>b</a:t>
            </a:r>
            <a:r>
              <a:rPr lang="en-IN" b="1" dirty="0" smtClean="0"/>
              <a:t>reak: </a:t>
            </a:r>
            <a:r>
              <a:rPr lang="en-IN" dirty="0"/>
              <a:t>break </a:t>
            </a:r>
            <a:r>
              <a:rPr lang="en-IN" dirty="0" smtClean="0"/>
              <a:t>statement </a:t>
            </a:r>
            <a:r>
              <a:rPr lang="en-IN" dirty="0"/>
              <a:t>used to break the current flow of the program and transfer the control to the next statement outside a loop or switch statement. </a:t>
            </a:r>
            <a:endParaRPr lang="en-IN" dirty="0" smtClean="0"/>
          </a:p>
          <a:p>
            <a:r>
              <a:rPr lang="en-IN" dirty="0"/>
              <a:t>continue statement: doesn't break the loop, whereas, it skips the specific part of the loop and jumps to the next iteration of the loop immediately.</a:t>
            </a:r>
          </a:p>
        </p:txBody>
      </p:sp>
    </p:spTree>
    <p:extLst>
      <p:ext uri="{BB962C8B-B14F-4D97-AF65-F5344CB8AC3E}">
        <p14:creationId xmlns:p14="http://schemas.microsoft.com/office/powerpoint/2010/main" val="40542691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Introduction to Java-Class and Object</a:t>
            </a:r>
            <a:endParaRPr lang="en-US" dirty="0"/>
          </a:p>
        </p:txBody>
      </p:sp>
      <p:sp>
        <p:nvSpPr>
          <p:cNvPr id="3" name="Content Placeholder 2"/>
          <p:cNvSpPr>
            <a:spLocks noGrp="1"/>
          </p:cNvSpPr>
          <p:nvPr>
            <p:ph sz="half" idx="1"/>
          </p:nvPr>
        </p:nvSpPr>
        <p:spPr>
          <a:xfrm>
            <a:off x="134816" y="394530"/>
            <a:ext cx="5884984" cy="5782433"/>
          </a:xfrm>
        </p:spPr>
        <p:txBody>
          <a:bodyPr>
            <a:noAutofit/>
          </a:bodyPr>
          <a:lstStyle/>
          <a:p>
            <a:r>
              <a:rPr lang="en-IN" sz="1800" dirty="0" smtClean="0"/>
              <a:t>multiple classes are allowed </a:t>
            </a:r>
            <a:r>
              <a:rPr lang="en-IN" sz="1800" dirty="0"/>
              <a:t>in different Java files or single Java file. </a:t>
            </a:r>
            <a:r>
              <a:rPr lang="en-IN" sz="1800" dirty="0" smtClean="0"/>
              <a:t>If </a:t>
            </a:r>
            <a:r>
              <a:rPr lang="en-IN" sz="1800" dirty="0"/>
              <a:t>multiple </a:t>
            </a:r>
            <a:r>
              <a:rPr lang="en-IN" sz="1800" dirty="0" smtClean="0"/>
              <a:t>classes is defined </a:t>
            </a:r>
            <a:r>
              <a:rPr lang="en-IN" sz="1800" dirty="0"/>
              <a:t>in a single Java source file, it is a good idea to save the file name with the class name which has main() method</a:t>
            </a:r>
            <a:r>
              <a:rPr lang="en-IN" sz="1800" dirty="0" smtClean="0"/>
              <a:t>.</a:t>
            </a:r>
          </a:p>
          <a:p>
            <a:pPr marL="0" indent="0">
              <a:lnSpc>
                <a:spcPct val="100000"/>
              </a:lnSpc>
              <a:spcBef>
                <a:spcPts val="0"/>
              </a:spcBef>
              <a:buNone/>
            </a:pPr>
            <a:r>
              <a:rPr lang="en-IN" sz="1800" b="1" dirty="0"/>
              <a:t>class</a:t>
            </a:r>
            <a:r>
              <a:rPr lang="en-IN" sz="1800" dirty="0"/>
              <a:t> Student{  </a:t>
            </a:r>
          </a:p>
          <a:p>
            <a:pPr marL="0" indent="0">
              <a:lnSpc>
                <a:spcPct val="100000"/>
              </a:lnSpc>
              <a:spcBef>
                <a:spcPts val="0"/>
              </a:spcBef>
              <a:buNone/>
            </a:pPr>
            <a:r>
              <a:rPr lang="en-IN" sz="1800" dirty="0"/>
              <a:t> </a:t>
            </a:r>
            <a:r>
              <a:rPr lang="en-IN" sz="1800" b="1" dirty="0" err="1"/>
              <a:t>int</a:t>
            </a:r>
            <a:r>
              <a:rPr lang="en-IN" sz="1800" dirty="0"/>
              <a:t> id;  </a:t>
            </a:r>
          </a:p>
          <a:p>
            <a:pPr marL="0" indent="0">
              <a:lnSpc>
                <a:spcPct val="100000"/>
              </a:lnSpc>
              <a:spcBef>
                <a:spcPts val="0"/>
              </a:spcBef>
              <a:buNone/>
            </a:pPr>
            <a:r>
              <a:rPr lang="en-IN" sz="1800" dirty="0"/>
              <a:t> String name;  </a:t>
            </a:r>
          </a:p>
          <a:p>
            <a:pPr marL="0" indent="0">
              <a:lnSpc>
                <a:spcPct val="100000"/>
              </a:lnSpc>
              <a:spcBef>
                <a:spcPts val="0"/>
              </a:spcBef>
              <a:buNone/>
            </a:pPr>
            <a:r>
              <a:rPr lang="en-IN" sz="1800" dirty="0"/>
              <a:t>}  </a:t>
            </a:r>
          </a:p>
          <a:p>
            <a:pPr marL="0" indent="0">
              <a:lnSpc>
                <a:spcPct val="100000"/>
              </a:lnSpc>
              <a:spcBef>
                <a:spcPts val="0"/>
              </a:spcBef>
              <a:buNone/>
            </a:pPr>
            <a:r>
              <a:rPr lang="en-IN" sz="1800" b="1" dirty="0" smtClean="0"/>
              <a:t>class</a:t>
            </a:r>
            <a:r>
              <a:rPr lang="en-IN" sz="1800" dirty="0"/>
              <a:t> </a:t>
            </a:r>
            <a:r>
              <a:rPr lang="en-IN" sz="1800" dirty="0" err="1" smtClean="0"/>
              <a:t>TestStudent</a:t>
            </a:r>
            <a:r>
              <a:rPr lang="en-IN" sz="1800" dirty="0" smtClean="0"/>
              <a:t>{</a:t>
            </a:r>
            <a:r>
              <a:rPr lang="en-IN" sz="1800" dirty="0"/>
              <a:t>  </a:t>
            </a:r>
          </a:p>
          <a:p>
            <a:pPr marL="0" indent="0">
              <a:lnSpc>
                <a:spcPct val="100000"/>
              </a:lnSpc>
              <a:spcBef>
                <a:spcPts val="0"/>
              </a:spcBef>
              <a:buNone/>
            </a:pPr>
            <a:r>
              <a:rPr lang="en-IN" sz="1800" dirty="0"/>
              <a:t> </a:t>
            </a:r>
            <a:r>
              <a:rPr lang="en-IN" sz="1800" b="1" dirty="0"/>
              <a:t>public</a:t>
            </a:r>
            <a:r>
              <a:rPr lang="en-IN" sz="1800" dirty="0"/>
              <a:t> </a:t>
            </a:r>
            <a:r>
              <a:rPr lang="en-IN" sz="1800" b="1" dirty="0"/>
              <a:t>static</a:t>
            </a:r>
            <a:r>
              <a:rPr lang="en-IN" sz="1800" dirty="0"/>
              <a:t> </a:t>
            </a:r>
            <a:r>
              <a:rPr lang="en-IN" sz="1800" b="1" dirty="0"/>
              <a:t>void</a:t>
            </a:r>
            <a:r>
              <a:rPr lang="en-IN" sz="1800" dirty="0"/>
              <a:t> main(String </a:t>
            </a:r>
            <a:r>
              <a:rPr lang="en-IN" sz="1800" dirty="0" err="1"/>
              <a:t>args</a:t>
            </a:r>
            <a:r>
              <a:rPr lang="en-IN" sz="1800" dirty="0"/>
              <a:t>[]){  </a:t>
            </a:r>
          </a:p>
          <a:p>
            <a:pPr marL="0" indent="0">
              <a:lnSpc>
                <a:spcPct val="100000"/>
              </a:lnSpc>
              <a:spcBef>
                <a:spcPts val="0"/>
              </a:spcBef>
              <a:buNone/>
            </a:pPr>
            <a:r>
              <a:rPr lang="en-IN" sz="1800" dirty="0"/>
              <a:t>  Student s1=</a:t>
            </a:r>
            <a:r>
              <a:rPr lang="en-IN" sz="1800" b="1" dirty="0"/>
              <a:t>new</a:t>
            </a:r>
            <a:r>
              <a:rPr lang="en-IN" sz="1800" dirty="0"/>
              <a:t> Student();  </a:t>
            </a:r>
          </a:p>
          <a:p>
            <a:pPr marL="0" indent="0">
              <a:lnSpc>
                <a:spcPct val="100000"/>
              </a:lnSpc>
              <a:spcBef>
                <a:spcPts val="0"/>
              </a:spcBef>
              <a:buNone/>
            </a:pPr>
            <a:r>
              <a:rPr lang="en-IN" sz="1800" dirty="0"/>
              <a:t>  </a:t>
            </a:r>
            <a:r>
              <a:rPr lang="en-IN" sz="1800" dirty="0" err="1"/>
              <a:t>System.out.println</a:t>
            </a:r>
            <a:r>
              <a:rPr lang="en-IN" sz="1800" dirty="0"/>
              <a:t>(s1.id);  </a:t>
            </a:r>
          </a:p>
          <a:p>
            <a:pPr marL="0" indent="0">
              <a:lnSpc>
                <a:spcPct val="100000"/>
              </a:lnSpc>
              <a:spcBef>
                <a:spcPts val="0"/>
              </a:spcBef>
              <a:buNone/>
            </a:pPr>
            <a:r>
              <a:rPr lang="en-IN" sz="1800" dirty="0"/>
              <a:t>  </a:t>
            </a:r>
            <a:r>
              <a:rPr lang="en-IN" sz="1800" dirty="0" err="1"/>
              <a:t>System.out.println</a:t>
            </a:r>
            <a:r>
              <a:rPr lang="en-IN" sz="1800" dirty="0"/>
              <a:t>(s1.name);  </a:t>
            </a:r>
          </a:p>
          <a:p>
            <a:pPr marL="0" indent="0">
              <a:lnSpc>
                <a:spcPct val="100000"/>
              </a:lnSpc>
              <a:spcBef>
                <a:spcPts val="0"/>
              </a:spcBef>
              <a:buNone/>
            </a:pPr>
            <a:r>
              <a:rPr lang="en-IN" sz="1800" dirty="0"/>
              <a:t> }  </a:t>
            </a:r>
          </a:p>
          <a:p>
            <a:pPr marL="0" indent="0">
              <a:lnSpc>
                <a:spcPct val="100000"/>
              </a:lnSpc>
              <a:spcBef>
                <a:spcPts val="0"/>
              </a:spcBef>
              <a:buNone/>
            </a:pPr>
            <a:r>
              <a:rPr lang="en-IN" sz="1800" dirty="0"/>
              <a:t>}  </a:t>
            </a:r>
          </a:p>
          <a:p>
            <a:pPr marL="0" indent="0">
              <a:buNone/>
            </a:pPr>
            <a:endParaRPr lang="en-IN" sz="1800" dirty="0"/>
          </a:p>
          <a:p>
            <a:r>
              <a:rPr lang="en-US" sz="1800" dirty="0"/>
              <a:t>Assigning values directly using </a:t>
            </a:r>
            <a:r>
              <a:rPr lang="en-US" sz="1800" dirty="0" err="1"/>
              <a:t>object.var</a:t>
            </a:r>
            <a:r>
              <a:rPr lang="en-US" sz="1800" dirty="0"/>
              <a:t>	</a:t>
            </a:r>
            <a:endParaRPr lang="en-US" sz="1800" dirty="0" smtClean="0"/>
          </a:p>
          <a:p>
            <a:r>
              <a:rPr lang="en-US" sz="1800" dirty="0" smtClean="0"/>
              <a:t>Quick </a:t>
            </a:r>
            <a:r>
              <a:rPr lang="en-US" sz="1800" dirty="0"/>
              <a:t>manual initialization</a:t>
            </a:r>
            <a:endParaRPr lang="en-IN" sz="1800" dirty="0"/>
          </a:p>
        </p:txBody>
      </p:sp>
      <p:sp>
        <p:nvSpPr>
          <p:cNvPr id="4" name="Content Placeholder 3"/>
          <p:cNvSpPr>
            <a:spLocks noGrp="1"/>
          </p:cNvSpPr>
          <p:nvPr>
            <p:ph sz="half" idx="2"/>
          </p:nvPr>
        </p:nvSpPr>
        <p:spPr>
          <a:xfrm>
            <a:off x="6019799" y="394530"/>
            <a:ext cx="5994009" cy="6343895"/>
          </a:xfrm>
        </p:spPr>
        <p:txBody>
          <a:bodyPr>
            <a:normAutofit fontScale="40000" lnSpcReduction="20000"/>
          </a:bodyPr>
          <a:lstStyle/>
          <a:p>
            <a:pPr marL="0" indent="0">
              <a:buNone/>
            </a:pPr>
            <a:r>
              <a:rPr lang="en-IN" sz="4000" b="1" dirty="0" smtClean="0"/>
              <a:t>Initialize objects</a:t>
            </a:r>
            <a:r>
              <a:rPr lang="en-IN" sz="4000" dirty="0" smtClean="0"/>
              <a:t>: By </a:t>
            </a:r>
            <a:r>
              <a:rPr lang="en-IN" sz="4000" dirty="0"/>
              <a:t>reference </a:t>
            </a:r>
            <a:r>
              <a:rPr lang="en-IN" sz="4000" dirty="0" smtClean="0"/>
              <a:t>variable, By method, By constructor</a:t>
            </a:r>
          </a:p>
          <a:p>
            <a:pPr marL="0" indent="0">
              <a:buNone/>
            </a:pPr>
            <a:r>
              <a:rPr lang="en-IN" sz="4000" b="1" dirty="0"/>
              <a:t>Initialization through </a:t>
            </a:r>
            <a:r>
              <a:rPr lang="en-IN" sz="4000" b="1" dirty="0" smtClean="0"/>
              <a:t>reference- </a:t>
            </a:r>
            <a:r>
              <a:rPr lang="en-IN" sz="4000" dirty="0" smtClean="0"/>
              <a:t>Initializing </a:t>
            </a:r>
            <a:r>
              <a:rPr lang="en-IN" sz="4000" dirty="0"/>
              <a:t>an </a:t>
            </a:r>
            <a:r>
              <a:rPr lang="en-IN" sz="4000" dirty="0" smtClean="0"/>
              <a:t>object through reference </a:t>
            </a:r>
            <a:r>
              <a:rPr lang="en-IN" sz="4000" dirty="0"/>
              <a:t>means storing data into the object</a:t>
            </a:r>
            <a:r>
              <a:rPr lang="en-IN" sz="4000" dirty="0" smtClean="0"/>
              <a:t>.</a:t>
            </a:r>
          </a:p>
          <a:p>
            <a:pPr marL="0" indent="0">
              <a:buNone/>
            </a:pPr>
            <a:r>
              <a:rPr lang="en-IN" sz="4000" dirty="0"/>
              <a:t>multiple </a:t>
            </a:r>
            <a:r>
              <a:rPr lang="en-IN" sz="4000" dirty="0" smtClean="0"/>
              <a:t>objects can be created </a:t>
            </a:r>
            <a:r>
              <a:rPr lang="en-IN" sz="4000" dirty="0"/>
              <a:t>and </a:t>
            </a:r>
            <a:r>
              <a:rPr lang="en-IN" sz="4000" dirty="0" smtClean="0"/>
              <a:t>it can store </a:t>
            </a:r>
            <a:r>
              <a:rPr lang="en-IN" sz="4000" dirty="0"/>
              <a:t>information in it through reference variable</a:t>
            </a:r>
            <a:r>
              <a:rPr lang="en-IN" sz="4000" dirty="0" smtClean="0"/>
              <a:t>.</a:t>
            </a:r>
          </a:p>
          <a:p>
            <a:pPr marL="0" indent="0">
              <a:lnSpc>
                <a:spcPct val="120000"/>
              </a:lnSpc>
              <a:spcBef>
                <a:spcPts val="0"/>
              </a:spcBef>
              <a:buNone/>
            </a:pPr>
            <a:r>
              <a:rPr lang="en-IN" sz="4000" b="1" dirty="0"/>
              <a:t>class</a:t>
            </a:r>
            <a:r>
              <a:rPr lang="en-IN" sz="4000" dirty="0"/>
              <a:t> Student{  </a:t>
            </a:r>
          </a:p>
          <a:p>
            <a:pPr marL="0" indent="0">
              <a:lnSpc>
                <a:spcPct val="120000"/>
              </a:lnSpc>
              <a:spcBef>
                <a:spcPts val="0"/>
              </a:spcBef>
              <a:buNone/>
            </a:pPr>
            <a:r>
              <a:rPr lang="en-IN" sz="4000" dirty="0"/>
              <a:t> </a:t>
            </a:r>
            <a:r>
              <a:rPr lang="en-IN" sz="4000" b="1" dirty="0" err="1"/>
              <a:t>int</a:t>
            </a:r>
            <a:r>
              <a:rPr lang="en-IN" sz="4000" dirty="0"/>
              <a:t> id;  </a:t>
            </a:r>
          </a:p>
          <a:p>
            <a:pPr marL="0" indent="0">
              <a:lnSpc>
                <a:spcPct val="120000"/>
              </a:lnSpc>
              <a:spcBef>
                <a:spcPts val="0"/>
              </a:spcBef>
              <a:buNone/>
            </a:pPr>
            <a:r>
              <a:rPr lang="en-IN" sz="4000" dirty="0"/>
              <a:t> String name;  </a:t>
            </a:r>
          </a:p>
          <a:p>
            <a:pPr marL="0" indent="0">
              <a:lnSpc>
                <a:spcPct val="120000"/>
              </a:lnSpc>
              <a:spcBef>
                <a:spcPts val="0"/>
              </a:spcBef>
              <a:buNone/>
            </a:pPr>
            <a:r>
              <a:rPr lang="en-IN" sz="4000" dirty="0"/>
              <a:t>}  </a:t>
            </a:r>
          </a:p>
          <a:p>
            <a:pPr marL="0" indent="0">
              <a:lnSpc>
                <a:spcPct val="120000"/>
              </a:lnSpc>
              <a:spcBef>
                <a:spcPts val="0"/>
              </a:spcBef>
              <a:buNone/>
            </a:pPr>
            <a:r>
              <a:rPr lang="en-IN" sz="4000" b="1" dirty="0"/>
              <a:t>class</a:t>
            </a:r>
            <a:r>
              <a:rPr lang="en-IN" sz="4000" dirty="0"/>
              <a:t> TestStudent3{  </a:t>
            </a:r>
          </a:p>
          <a:p>
            <a:pPr marL="0" indent="0">
              <a:lnSpc>
                <a:spcPct val="120000"/>
              </a:lnSpc>
              <a:spcBef>
                <a:spcPts val="0"/>
              </a:spcBef>
              <a:buNone/>
            </a:pPr>
            <a:r>
              <a:rPr lang="en-IN" sz="4000" dirty="0"/>
              <a:t> </a:t>
            </a:r>
            <a:r>
              <a:rPr lang="en-IN" sz="4000" b="1" dirty="0"/>
              <a:t>public</a:t>
            </a:r>
            <a:r>
              <a:rPr lang="en-IN" sz="4000" dirty="0"/>
              <a:t> </a:t>
            </a:r>
            <a:r>
              <a:rPr lang="en-IN" sz="4000" b="1" dirty="0"/>
              <a:t>static</a:t>
            </a:r>
            <a:r>
              <a:rPr lang="en-IN" sz="4000" dirty="0"/>
              <a:t> </a:t>
            </a:r>
            <a:r>
              <a:rPr lang="en-IN" sz="4000" b="1" dirty="0"/>
              <a:t>void</a:t>
            </a:r>
            <a:r>
              <a:rPr lang="en-IN" sz="4000" dirty="0"/>
              <a:t> main(String </a:t>
            </a:r>
            <a:r>
              <a:rPr lang="en-IN" sz="4000" dirty="0" err="1"/>
              <a:t>args</a:t>
            </a:r>
            <a:r>
              <a:rPr lang="en-IN" sz="4000" dirty="0"/>
              <a:t>[]){  </a:t>
            </a:r>
          </a:p>
          <a:p>
            <a:pPr marL="0" indent="0">
              <a:lnSpc>
                <a:spcPct val="120000"/>
              </a:lnSpc>
              <a:spcBef>
                <a:spcPts val="0"/>
              </a:spcBef>
              <a:buNone/>
            </a:pPr>
            <a:r>
              <a:rPr lang="en-IN" sz="4000" dirty="0"/>
              <a:t>  //Creating objects  </a:t>
            </a:r>
          </a:p>
          <a:p>
            <a:pPr marL="0" indent="0">
              <a:lnSpc>
                <a:spcPct val="120000"/>
              </a:lnSpc>
              <a:spcBef>
                <a:spcPts val="0"/>
              </a:spcBef>
              <a:buNone/>
            </a:pPr>
            <a:r>
              <a:rPr lang="en-IN" sz="4000" dirty="0"/>
              <a:t>  Student s1=</a:t>
            </a:r>
            <a:r>
              <a:rPr lang="en-IN" sz="4000" b="1" dirty="0"/>
              <a:t>new</a:t>
            </a:r>
            <a:r>
              <a:rPr lang="en-IN" sz="4000" dirty="0"/>
              <a:t> Student();  </a:t>
            </a:r>
          </a:p>
          <a:p>
            <a:pPr marL="0" indent="0">
              <a:lnSpc>
                <a:spcPct val="120000"/>
              </a:lnSpc>
              <a:spcBef>
                <a:spcPts val="0"/>
              </a:spcBef>
              <a:buNone/>
            </a:pPr>
            <a:r>
              <a:rPr lang="en-IN" sz="4000" dirty="0"/>
              <a:t>  Student s2=</a:t>
            </a:r>
            <a:r>
              <a:rPr lang="en-IN" sz="4000" b="1" dirty="0"/>
              <a:t>new</a:t>
            </a:r>
            <a:r>
              <a:rPr lang="en-IN" sz="4000" dirty="0"/>
              <a:t> Student();  </a:t>
            </a:r>
          </a:p>
          <a:p>
            <a:pPr marL="0" indent="0">
              <a:lnSpc>
                <a:spcPct val="120000"/>
              </a:lnSpc>
              <a:spcBef>
                <a:spcPts val="0"/>
              </a:spcBef>
              <a:buNone/>
            </a:pPr>
            <a:r>
              <a:rPr lang="en-IN" sz="4000" dirty="0"/>
              <a:t>  //Initializing objects  </a:t>
            </a:r>
          </a:p>
          <a:p>
            <a:pPr marL="0" indent="0">
              <a:lnSpc>
                <a:spcPct val="120000"/>
              </a:lnSpc>
              <a:spcBef>
                <a:spcPts val="0"/>
              </a:spcBef>
              <a:buNone/>
            </a:pPr>
            <a:r>
              <a:rPr lang="en-IN" sz="4000" dirty="0"/>
              <a:t>  s1.id=101;  </a:t>
            </a:r>
          </a:p>
          <a:p>
            <a:pPr marL="0" indent="0">
              <a:lnSpc>
                <a:spcPct val="120000"/>
              </a:lnSpc>
              <a:spcBef>
                <a:spcPts val="0"/>
              </a:spcBef>
              <a:buNone/>
            </a:pPr>
            <a:r>
              <a:rPr lang="en-IN" sz="4000" dirty="0"/>
              <a:t>  s1.name</a:t>
            </a:r>
            <a:r>
              <a:rPr lang="en-IN" sz="4000" dirty="0" smtClean="0"/>
              <a:t>=“</a:t>
            </a:r>
            <a:r>
              <a:rPr lang="en-IN" sz="4000" dirty="0" err="1" smtClean="0"/>
              <a:t>abc</a:t>
            </a:r>
            <a:r>
              <a:rPr lang="en-IN" sz="4000" dirty="0" smtClean="0"/>
              <a:t>";</a:t>
            </a:r>
            <a:r>
              <a:rPr lang="en-IN" sz="4000" dirty="0"/>
              <a:t>  </a:t>
            </a:r>
          </a:p>
          <a:p>
            <a:pPr marL="0" indent="0">
              <a:lnSpc>
                <a:spcPct val="120000"/>
              </a:lnSpc>
              <a:spcBef>
                <a:spcPts val="0"/>
              </a:spcBef>
              <a:buNone/>
            </a:pPr>
            <a:r>
              <a:rPr lang="en-IN" sz="4000" dirty="0"/>
              <a:t>  s2.id=102;  </a:t>
            </a:r>
          </a:p>
          <a:p>
            <a:pPr marL="0" indent="0">
              <a:lnSpc>
                <a:spcPct val="120000"/>
              </a:lnSpc>
              <a:spcBef>
                <a:spcPts val="0"/>
              </a:spcBef>
              <a:buNone/>
            </a:pPr>
            <a:r>
              <a:rPr lang="en-IN" sz="4000" dirty="0"/>
              <a:t>  s2.name</a:t>
            </a:r>
            <a:r>
              <a:rPr lang="en-IN" sz="4000" dirty="0" smtClean="0"/>
              <a:t>=“</a:t>
            </a:r>
            <a:r>
              <a:rPr lang="en-IN" sz="4000" dirty="0" err="1" smtClean="0"/>
              <a:t>pqr</a:t>
            </a:r>
            <a:r>
              <a:rPr lang="en-IN" sz="4000" dirty="0" smtClean="0"/>
              <a:t>";</a:t>
            </a:r>
            <a:r>
              <a:rPr lang="en-IN" sz="4000" dirty="0"/>
              <a:t>  </a:t>
            </a:r>
          </a:p>
          <a:p>
            <a:pPr marL="0" indent="0">
              <a:lnSpc>
                <a:spcPct val="120000"/>
              </a:lnSpc>
              <a:spcBef>
                <a:spcPts val="0"/>
              </a:spcBef>
              <a:buNone/>
            </a:pPr>
            <a:r>
              <a:rPr lang="en-IN" sz="4000" dirty="0"/>
              <a:t>  //Printing data  </a:t>
            </a:r>
          </a:p>
          <a:p>
            <a:pPr marL="0" indent="0">
              <a:lnSpc>
                <a:spcPct val="120000"/>
              </a:lnSpc>
              <a:spcBef>
                <a:spcPts val="0"/>
              </a:spcBef>
              <a:buNone/>
            </a:pPr>
            <a:r>
              <a:rPr lang="en-IN" sz="4000" dirty="0"/>
              <a:t>  </a:t>
            </a:r>
            <a:r>
              <a:rPr lang="en-IN" sz="4000" dirty="0" err="1"/>
              <a:t>System.out.println</a:t>
            </a:r>
            <a:r>
              <a:rPr lang="en-IN" sz="4000" dirty="0"/>
              <a:t>(s1.id+" "+s1.name);  </a:t>
            </a:r>
          </a:p>
          <a:p>
            <a:pPr marL="0" indent="0">
              <a:lnSpc>
                <a:spcPct val="120000"/>
              </a:lnSpc>
              <a:spcBef>
                <a:spcPts val="0"/>
              </a:spcBef>
              <a:buNone/>
            </a:pPr>
            <a:r>
              <a:rPr lang="en-IN" sz="4000" dirty="0"/>
              <a:t>  </a:t>
            </a:r>
            <a:r>
              <a:rPr lang="en-IN" sz="4000" dirty="0" err="1"/>
              <a:t>System.out.println</a:t>
            </a:r>
            <a:r>
              <a:rPr lang="en-IN" sz="4000" dirty="0"/>
              <a:t>(s2.id+" "+s2.name);  </a:t>
            </a:r>
          </a:p>
          <a:p>
            <a:pPr marL="0" indent="0">
              <a:lnSpc>
                <a:spcPct val="120000"/>
              </a:lnSpc>
              <a:spcBef>
                <a:spcPts val="0"/>
              </a:spcBef>
              <a:buNone/>
            </a:pPr>
            <a:r>
              <a:rPr lang="en-IN" sz="4000" dirty="0"/>
              <a:t> }  </a:t>
            </a:r>
          </a:p>
          <a:p>
            <a:pPr marL="0" indent="0">
              <a:lnSpc>
                <a:spcPct val="120000"/>
              </a:lnSpc>
              <a:spcBef>
                <a:spcPts val="0"/>
              </a:spcBef>
              <a:buNone/>
            </a:pPr>
            <a:r>
              <a:rPr lang="en-IN" sz="4000" dirty="0"/>
              <a:t>}</a:t>
            </a:r>
          </a:p>
          <a:p>
            <a:pPr marL="0" indent="0">
              <a:lnSpc>
                <a:spcPct val="120000"/>
              </a:lnSpc>
              <a:spcBef>
                <a:spcPts val="0"/>
              </a:spcBef>
              <a:buNone/>
            </a:pPr>
            <a:endParaRPr lang="en-IN" dirty="0"/>
          </a:p>
          <a:p>
            <a:pPr marL="0" indent="0">
              <a:lnSpc>
                <a:spcPct val="120000"/>
              </a:lnSpc>
              <a:spcBef>
                <a:spcPts val="0"/>
              </a:spcBef>
              <a:buNone/>
            </a:pPr>
            <a:endParaRPr lang="en-IN" dirty="0"/>
          </a:p>
          <a:p>
            <a:pPr marL="0" indent="0">
              <a:lnSpc>
                <a:spcPct val="120000"/>
              </a:lnSpc>
              <a:spcBef>
                <a:spcPts val="0"/>
              </a:spcBef>
              <a:buNone/>
            </a:pPr>
            <a:endParaRPr lang="en-IN" dirty="0"/>
          </a:p>
        </p:txBody>
      </p:sp>
    </p:spTree>
    <p:extLst>
      <p:ext uri="{BB962C8B-B14F-4D97-AF65-F5344CB8AC3E}">
        <p14:creationId xmlns:p14="http://schemas.microsoft.com/office/powerpoint/2010/main" val="111268510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Introduction to Java-Class and Object</a:t>
            </a:r>
            <a:endParaRPr lang="en-US" dirty="0"/>
          </a:p>
        </p:txBody>
      </p:sp>
      <p:sp>
        <p:nvSpPr>
          <p:cNvPr id="3" name="Content Placeholder 2"/>
          <p:cNvSpPr>
            <a:spLocks noGrp="1"/>
          </p:cNvSpPr>
          <p:nvPr>
            <p:ph sz="half" idx="1"/>
          </p:nvPr>
        </p:nvSpPr>
        <p:spPr>
          <a:xfrm>
            <a:off x="134816" y="394530"/>
            <a:ext cx="5884984" cy="5782433"/>
          </a:xfrm>
        </p:spPr>
        <p:txBody>
          <a:bodyPr>
            <a:noAutofit/>
          </a:bodyPr>
          <a:lstStyle/>
          <a:p>
            <a:pPr marL="0" indent="0">
              <a:buNone/>
            </a:pPr>
            <a:r>
              <a:rPr lang="en-IN" sz="1800" b="1" dirty="0"/>
              <a:t>Initialization through method</a:t>
            </a:r>
          </a:p>
          <a:p>
            <a:pPr marL="0" indent="0">
              <a:buNone/>
            </a:pPr>
            <a:r>
              <a:rPr lang="en-IN" sz="1800" dirty="0" err="1" smtClean="0"/>
              <a:t>Eg</a:t>
            </a:r>
            <a:r>
              <a:rPr lang="en-IN" sz="1800" dirty="0" smtClean="0"/>
              <a:t>: creating </a:t>
            </a:r>
            <a:r>
              <a:rPr lang="en-IN" sz="1800" dirty="0"/>
              <a:t>the two objects of Student class and initializing the value to these objects by invoking the </a:t>
            </a:r>
            <a:r>
              <a:rPr lang="en-IN" sz="1800" dirty="0" err="1"/>
              <a:t>insertRecord</a:t>
            </a:r>
            <a:r>
              <a:rPr lang="en-IN" sz="1800" dirty="0"/>
              <a:t> method. </a:t>
            </a:r>
            <a:endParaRPr lang="en-IN" sz="1800" dirty="0" smtClean="0"/>
          </a:p>
          <a:p>
            <a:pPr marL="0" indent="0">
              <a:buNone/>
            </a:pPr>
            <a:r>
              <a:rPr lang="en-IN" sz="1800" dirty="0" smtClean="0"/>
              <a:t>Also displaying </a:t>
            </a:r>
            <a:r>
              <a:rPr lang="en-IN" sz="1800" dirty="0"/>
              <a:t>the state (data) of the objects by invoking the </a:t>
            </a:r>
            <a:r>
              <a:rPr lang="en-IN" sz="1800" dirty="0" err="1"/>
              <a:t>displayInformation</a:t>
            </a:r>
            <a:r>
              <a:rPr lang="en-IN" sz="1800" dirty="0"/>
              <a:t>() method</a:t>
            </a:r>
            <a:r>
              <a:rPr lang="en-IN" sz="1800" dirty="0" smtClean="0"/>
              <a:t>.</a:t>
            </a:r>
          </a:p>
          <a:p>
            <a:pPr marL="0" indent="0">
              <a:lnSpc>
                <a:spcPct val="100000"/>
              </a:lnSpc>
              <a:spcBef>
                <a:spcPts val="0"/>
              </a:spcBef>
              <a:buNone/>
            </a:pPr>
            <a:r>
              <a:rPr lang="en-IN" sz="1800" dirty="0"/>
              <a:t>class Student{  </a:t>
            </a:r>
          </a:p>
          <a:p>
            <a:pPr marL="0" indent="0">
              <a:lnSpc>
                <a:spcPct val="100000"/>
              </a:lnSpc>
              <a:spcBef>
                <a:spcPts val="0"/>
              </a:spcBef>
              <a:buNone/>
            </a:pPr>
            <a:r>
              <a:rPr lang="en-IN" sz="1800" dirty="0"/>
              <a:t> </a:t>
            </a:r>
            <a:r>
              <a:rPr lang="en-IN" sz="1800" dirty="0" err="1"/>
              <a:t>int</a:t>
            </a:r>
            <a:r>
              <a:rPr lang="en-IN" sz="1800" dirty="0"/>
              <a:t> </a:t>
            </a:r>
            <a:r>
              <a:rPr lang="en-IN" sz="1800" dirty="0" err="1"/>
              <a:t>rollno</a:t>
            </a:r>
            <a:r>
              <a:rPr lang="en-IN" sz="1800" dirty="0"/>
              <a:t>;  </a:t>
            </a:r>
          </a:p>
          <a:p>
            <a:pPr marL="0" indent="0">
              <a:lnSpc>
                <a:spcPct val="100000"/>
              </a:lnSpc>
              <a:spcBef>
                <a:spcPts val="0"/>
              </a:spcBef>
              <a:buNone/>
            </a:pPr>
            <a:r>
              <a:rPr lang="en-IN" sz="1800" dirty="0"/>
              <a:t> String name;  </a:t>
            </a:r>
          </a:p>
          <a:p>
            <a:pPr marL="0" indent="0">
              <a:lnSpc>
                <a:spcPct val="100000"/>
              </a:lnSpc>
              <a:spcBef>
                <a:spcPts val="0"/>
              </a:spcBef>
              <a:buNone/>
            </a:pPr>
            <a:r>
              <a:rPr lang="en-IN" sz="1800" dirty="0"/>
              <a:t> void </a:t>
            </a:r>
            <a:r>
              <a:rPr lang="en-IN" sz="1800" dirty="0" err="1"/>
              <a:t>insertRecord</a:t>
            </a:r>
            <a:r>
              <a:rPr lang="en-IN" sz="1800" dirty="0"/>
              <a:t>(</a:t>
            </a:r>
            <a:r>
              <a:rPr lang="en-IN" sz="1800" dirty="0" err="1"/>
              <a:t>int</a:t>
            </a:r>
            <a:r>
              <a:rPr lang="en-IN" sz="1800" dirty="0"/>
              <a:t> r, String n){  </a:t>
            </a:r>
          </a:p>
          <a:p>
            <a:pPr marL="0" indent="0">
              <a:lnSpc>
                <a:spcPct val="100000"/>
              </a:lnSpc>
              <a:spcBef>
                <a:spcPts val="0"/>
              </a:spcBef>
              <a:buNone/>
            </a:pPr>
            <a:r>
              <a:rPr lang="en-IN" sz="1800" dirty="0"/>
              <a:t>  </a:t>
            </a:r>
            <a:r>
              <a:rPr lang="en-IN" sz="1800" dirty="0" err="1"/>
              <a:t>rollno</a:t>
            </a:r>
            <a:r>
              <a:rPr lang="en-IN" sz="1800" dirty="0"/>
              <a:t>=r;  </a:t>
            </a:r>
          </a:p>
          <a:p>
            <a:pPr marL="0" indent="0">
              <a:lnSpc>
                <a:spcPct val="100000"/>
              </a:lnSpc>
              <a:spcBef>
                <a:spcPts val="0"/>
              </a:spcBef>
              <a:buNone/>
            </a:pPr>
            <a:r>
              <a:rPr lang="en-IN" sz="1800" dirty="0"/>
              <a:t>  name=n;  </a:t>
            </a:r>
          </a:p>
          <a:p>
            <a:pPr marL="0" indent="0">
              <a:lnSpc>
                <a:spcPct val="100000"/>
              </a:lnSpc>
              <a:spcBef>
                <a:spcPts val="0"/>
              </a:spcBef>
              <a:buNone/>
            </a:pPr>
            <a:r>
              <a:rPr lang="en-IN" sz="1800" dirty="0"/>
              <a:t> }  </a:t>
            </a:r>
          </a:p>
          <a:p>
            <a:pPr marL="0" indent="0">
              <a:lnSpc>
                <a:spcPct val="100000"/>
              </a:lnSpc>
              <a:spcBef>
                <a:spcPts val="0"/>
              </a:spcBef>
              <a:buNone/>
            </a:pPr>
            <a:r>
              <a:rPr lang="en-IN" sz="1800" dirty="0"/>
              <a:t> void </a:t>
            </a:r>
            <a:r>
              <a:rPr lang="en-IN" sz="1800" dirty="0" err="1"/>
              <a:t>displayInformation</a:t>
            </a:r>
            <a:r>
              <a:rPr lang="en-IN" sz="1800" dirty="0"/>
              <a:t>(){</a:t>
            </a:r>
            <a:r>
              <a:rPr lang="en-IN" sz="1800" dirty="0" err="1"/>
              <a:t>System.out.println</a:t>
            </a:r>
            <a:r>
              <a:rPr lang="en-IN" sz="1800" dirty="0"/>
              <a:t>(</a:t>
            </a:r>
            <a:r>
              <a:rPr lang="en-IN" sz="1800" dirty="0" err="1"/>
              <a:t>rollno</a:t>
            </a:r>
            <a:r>
              <a:rPr lang="en-IN" sz="1800" dirty="0" smtClean="0"/>
              <a:t>+“ "+</a:t>
            </a:r>
            <a:r>
              <a:rPr lang="en-IN" sz="1800" dirty="0"/>
              <a:t>name);}  </a:t>
            </a:r>
            <a:r>
              <a:rPr lang="en-IN" sz="1800" dirty="0" smtClean="0"/>
              <a:t>}  </a:t>
            </a:r>
            <a:endParaRPr lang="en-IN" sz="1800" dirty="0"/>
          </a:p>
          <a:p>
            <a:pPr marL="0" indent="0">
              <a:lnSpc>
                <a:spcPct val="100000"/>
              </a:lnSpc>
              <a:spcBef>
                <a:spcPts val="0"/>
              </a:spcBef>
              <a:buNone/>
            </a:pPr>
            <a:r>
              <a:rPr lang="en-IN" sz="1800" dirty="0"/>
              <a:t>class </a:t>
            </a:r>
            <a:r>
              <a:rPr lang="en-IN" sz="1800" dirty="0" err="1" smtClean="0"/>
              <a:t>TestStudent</a:t>
            </a:r>
            <a:r>
              <a:rPr lang="en-IN" sz="1800" dirty="0" smtClean="0"/>
              <a:t>{  </a:t>
            </a:r>
            <a:endParaRPr lang="en-IN" sz="1800" dirty="0"/>
          </a:p>
          <a:p>
            <a:pPr marL="0" indent="0">
              <a:lnSpc>
                <a:spcPct val="100000"/>
              </a:lnSpc>
              <a:spcBef>
                <a:spcPts val="0"/>
              </a:spcBef>
              <a:buNone/>
            </a:pPr>
            <a:r>
              <a:rPr lang="en-IN" sz="1800" dirty="0"/>
              <a:t> public static void main(String </a:t>
            </a:r>
            <a:r>
              <a:rPr lang="en-IN" sz="1800" dirty="0" err="1"/>
              <a:t>args</a:t>
            </a:r>
            <a:r>
              <a:rPr lang="en-IN" sz="1800" dirty="0"/>
              <a:t>[]){  </a:t>
            </a:r>
          </a:p>
          <a:p>
            <a:pPr marL="0" indent="0">
              <a:lnSpc>
                <a:spcPct val="100000"/>
              </a:lnSpc>
              <a:spcBef>
                <a:spcPts val="0"/>
              </a:spcBef>
              <a:buNone/>
            </a:pPr>
            <a:r>
              <a:rPr lang="en-IN" sz="1800" dirty="0"/>
              <a:t>  Student s1=new Student();  </a:t>
            </a:r>
          </a:p>
          <a:p>
            <a:pPr marL="0" indent="0">
              <a:lnSpc>
                <a:spcPct val="100000"/>
              </a:lnSpc>
              <a:spcBef>
                <a:spcPts val="0"/>
              </a:spcBef>
              <a:buNone/>
            </a:pPr>
            <a:r>
              <a:rPr lang="en-IN" sz="1800" dirty="0"/>
              <a:t>  Student s2=new Student();  </a:t>
            </a:r>
          </a:p>
          <a:p>
            <a:pPr marL="0" indent="0">
              <a:lnSpc>
                <a:spcPct val="100000"/>
              </a:lnSpc>
              <a:spcBef>
                <a:spcPts val="0"/>
              </a:spcBef>
              <a:buNone/>
            </a:pPr>
            <a:r>
              <a:rPr lang="en-IN" sz="1800" dirty="0"/>
              <a:t>  s1.insertRecord(111</a:t>
            </a:r>
            <a:r>
              <a:rPr lang="en-IN" sz="1800" dirty="0" smtClean="0"/>
              <a:t>,“abc");  </a:t>
            </a:r>
            <a:endParaRPr lang="en-IN" sz="1800" dirty="0"/>
          </a:p>
          <a:p>
            <a:pPr marL="0" indent="0">
              <a:lnSpc>
                <a:spcPct val="100000"/>
              </a:lnSpc>
              <a:spcBef>
                <a:spcPts val="0"/>
              </a:spcBef>
              <a:buNone/>
            </a:pPr>
            <a:r>
              <a:rPr lang="en-IN" sz="1800" dirty="0"/>
              <a:t>  s2.insertRecord(222</a:t>
            </a:r>
            <a:r>
              <a:rPr lang="en-IN" sz="1800" dirty="0" smtClean="0"/>
              <a:t>,“pqr");  </a:t>
            </a:r>
            <a:endParaRPr lang="en-IN" sz="1800" dirty="0"/>
          </a:p>
          <a:p>
            <a:pPr marL="0" indent="0">
              <a:lnSpc>
                <a:spcPct val="100000"/>
              </a:lnSpc>
              <a:spcBef>
                <a:spcPts val="0"/>
              </a:spcBef>
              <a:buNone/>
            </a:pPr>
            <a:r>
              <a:rPr lang="en-IN" sz="1800" dirty="0"/>
              <a:t>  s1.displayInformation();  </a:t>
            </a:r>
          </a:p>
          <a:p>
            <a:pPr marL="0" indent="0">
              <a:lnSpc>
                <a:spcPct val="100000"/>
              </a:lnSpc>
              <a:spcBef>
                <a:spcPts val="0"/>
              </a:spcBef>
              <a:buNone/>
            </a:pPr>
            <a:r>
              <a:rPr lang="en-IN" sz="1800" dirty="0"/>
              <a:t>  s2.displayInformation();  </a:t>
            </a:r>
            <a:r>
              <a:rPr lang="en-IN" sz="1800" dirty="0" smtClean="0"/>
              <a:t> </a:t>
            </a:r>
            <a:r>
              <a:rPr lang="en-IN" sz="1800" dirty="0"/>
              <a:t>}  </a:t>
            </a:r>
            <a:r>
              <a:rPr lang="en-IN" sz="1800" dirty="0" smtClean="0"/>
              <a:t>} </a:t>
            </a:r>
            <a:endParaRPr lang="en-IN" sz="1800" dirty="0"/>
          </a:p>
        </p:txBody>
      </p:sp>
      <p:sp>
        <p:nvSpPr>
          <p:cNvPr id="4" name="Content Placeholder 3"/>
          <p:cNvSpPr>
            <a:spLocks noGrp="1"/>
          </p:cNvSpPr>
          <p:nvPr>
            <p:ph sz="half" idx="2"/>
          </p:nvPr>
        </p:nvSpPr>
        <p:spPr>
          <a:xfrm>
            <a:off x="6019799" y="394530"/>
            <a:ext cx="5994009" cy="6343895"/>
          </a:xfrm>
        </p:spPr>
        <p:txBody>
          <a:bodyPr>
            <a:normAutofit/>
          </a:bodyPr>
          <a:lstStyle/>
          <a:p>
            <a:pPr>
              <a:lnSpc>
                <a:spcPct val="120000"/>
              </a:lnSpc>
              <a:spcBef>
                <a:spcPts val="0"/>
              </a:spcBef>
            </a:pPr>
            <a:r>
              <a:rPr lang="en-IN" sz="1600" dirty="0"/>
              <a:t>object gets the memory in heap memory area. </a:t>
            </a:r>
            <a:endParaRPr lang="en-IN" sz="1600" dirty="0" smtClean="0"/>
          </a:p>
          <a:p>
            <a:pPr>
              <a:lnSpc>
                <a:spcPct val="120000"/>
              </a:lnSpc>
              <a:spcBef>
                <a:spcPts val="0"/>
              </a:spcBef>
            </a:pPr>
            <a:r>
              <a:rPr lang="en-IN" sz="1600" dirty="0" smtClean="0"/>
              <a:t>The </a:t>
            </a:r>
            <a:r>
              <a:rPr lang="en-IN" sz="1600" dirty="0"/>
              <a:t>reference variable refers to the object allocated in the heap memory area. </a:t>
            </a:r>
            <a:endParaRPr lang="en-IN" sz="1600" dirty="0" smtClean="0"/>
          </a:p>
          <a:p>
            <a:pPr>
              <a:lnSpc>
                <a:spcPct val="120000"/>
              </a:lnSpc>
              <a:spcBef>
                <a:spcPts val="0"/>
              </a:spcBef>
            </a:pPr>
            <a:r>
              <a:rPr lang="en-IN" sz="1600" dirty="0" smtClean="0"/>
              <a:t>Here</a:t>
            </a:r>
            <a:r>
              <a:rPr lang="en-IN" sz="1600" dirty="0"/>
              <a:t>, s1 and s2 both are reference variables that refer to the objects allocated in memory</a:t>
            </a:r>
            <a:r>
              <a:rPr lang="en-IN" sz="1600" dirty="0" smtClean="0"/>
              <a:t>.</a:t>
            </a:r>
          </a:p>
          <a:p>
            <a:pPr>
              <a:lnSpc>
                <a:spcPct val="120000"/>
              </a:lnSpc>
              <a:spcBef>
                <a:spcPts val="0"/>
              </a:spcBef>
            </a:pPr>
            <a:r>
              <a:rPr lang="en-US" sz="1600" dirty="0"/>
              <a:t>Use setter/custom method after creation	</a:t>
            </a:r>
            <a:endParaRPr lang="en-US" sz="1600" dirty="0" smtClean="0"/>
          </a:p>
          <a:p>
            <a:pPr>
              <a:lnSpc>
                <a:spcPct val="120000"/>
              </a:lnSpc>
              <a:spcBef>
                <a:spcPts val="0"/>
              </a:spcBef>
            </a:pPr>
            <a:r>
              <a:rPr lang="en-US" sz="1600" dirty="0" smtClean="0"/>
              <a:t>When </a:t>
            </a:r>
            <a:r>
              <a:rPr lang="en-US" sz="1600" dirty="0"/>
              <a:t>input comes dynamically</a:t>
            </a:r>
            <a:endParaRPr lang="en-IN" sz="1600" dirty="0"/>
          </a:p>
          <a:p>
            <a:pPr marL="0" indent="0">
              <a:lnSpc>
                <a:spcPct val="120000"/>
              </a:lnSpc>
              <a:spcBef>
                <a:spcPts val="0"/>
              </a:spcBef>
              <a:buNone/>
            </a:pPr>
            <a:endParaRPr lang="en-IN" sz="1600" dirty="0"/>
          </a:p>
          <a:p>
            <a:pPr>
              <a:lnSpc>
                <a:spcPct val="120000"/>
              </a:lnSpc>
              <a:spcBef>
                <a:spcPts val="0"/>
              </a:spcBef>
            </a:pPr>
            <a:endParaRPr lang="en-IN" sz="1600" dirty="0"/>
          </a:p>
        </p:txBody>
      </p:sp>
      <p:sp>
        <p:nvSpPr>
          <p:cNvPr id="5" name="Rectangle 4"/>
          <p:cNvSpPr/>
          <p:nvPr/>
        </p:nvSpPr>
        <p:spPr>
          <a:xfrm>
            <a:off x="5915026" y="3025421"/>
            <a:ext cx="2303286" cy="315154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 name="Rectangle 5"/>
          <p:cNvSpPr/>
          <p:nvPr/>
        </p:nvSpPr>
        <p:spPr>
          <a:xfrm>
            <a:off x="6400800" y="5614988"/>
            <a:ext cx="1514475" cy="41433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smtClean="0"/>
              <a:t>s1</a:t>
            </a:r>
            <a:endParaRPr lang="en-IN" dirty="0"/>
          </a:p>
        </p:txBody>
      </p:sp>
      <p:sp>
        <p:nvSpPr>
          <p:cNvPr id="7" name="Rectangle 6"/>
          <p:cNvSpPr/>
          <p:nvPr/>
        </p:nvSpPr>
        <p:spPr>
          <a:xfrm>
            <a:off x="6400800" y="4843463"/>
            <a:ext cx="1514476" cy="47148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smtClean="0"/>
              <a:t>s2</a:t>
            </a:r>
            <a:endParaRPr lang="en-IN" dirty="0"/>
          </a:p>
        </p:txBody>
      </p:sp>
      <p:sp>
        <p:nvSpPr>
          <p:cNvPr id="8" name="Oval 7"/>
          <p:cNvSpPr/>
          <p:nvPr/>
        </p:nvSpPr>
        <p:spPr>
          <a:xfrm>
            <a:off x="9158288" y="2200275"/>
            <a:ext cx="2641721" cy="397668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Rectangle 8"/>
          <p:cNvSpPr/>
          <p:nvPr/>
        </p:nvSpPr>
        <p:spPr>
          <a:xfrm>
            <a:off x="9913290" y="3624260"/>
            <a:ext cx="1471612" cy="71437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err="1" smtClean="0"/>
              <a:t>Rollno</a:t>
            </a:r>
            <a:r>
              <a:rPr lang="en-IN" dirty="0" smtClean="0"/>
              <a:t>=111</a:t>
            </a:r>
          </a:p>
          <a:p>
            <a:pPr algn="ctr"/>
            <a:r>
              <a:rPr lang="en-IN" dirty="0" smtClean="0"/>
              <a:t>Name=</a:t>
            </a:r>
            <a:r>
              <a:rPr lang="en-IN" dirty="0" err="1" smtClean="0"/>
              <a:t>abc</a:t>
            </a:r>
            <a:endParaRPr lang="en-IN" dirty="0"/>
          </a:p>
        </p:txBody>
      </p:sp>
      <p:sp>
        <p:nvSpPr>
          <p:cNvPr id="10" name="Rectangle 9"/>
          <p:cNvSpPr/>
          <p:nvPr/>
        </p:nvSpPr>
        <p:spPr>
          <a:xfrm>
            <a:off x="9913290" y="4722018"/>
            <a:ext cx="1471612" cy="71437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err="1" smtClean="0"/>
              <a:t>Rollno</a:t>
            </a:r>
            <a:r>
              <a:rPr lang="en-IN" dirty="0" smtClean="0"/>
              <a:t>=222</a:t>
            </a:r>
          </a:p>
          <a:p>
            <a:pPr algn="ctr"/>
            <a:r>
              <a:rPr lang="en-IN" dirty="0" smtClean="0"/>
              <a:t>Name=</a:t>
            </a:r>
            <a:r>
              <a:rPr lang="en-IN" dirty="0" err="1" smtClean="0"/>
              <a:t>pqr</a:t>
            </a:r>
            <a:endParaRPr lang="en-IN" dirty="0"/>
          </a:p>
        </p:txBody>
      </p:sp>
      <p:cxnSp>
        <p:nvCxnSpPr>
          <p:cNvPr id="12" name="Straight Arrow Connector 11"/>
          <p:cNvCxnSpPr/>
          <p:nvPr/>
        </p:nvCxnSpPr>
        <p:spPr>
          <a:xfrm flipV="1">
            <a:off x="7915275" y="3981447"/>
            <a:ext cx="1998015" cy="1840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7" idx="3"/>
          </p:cNvCxnSpPr>
          <p:nvPr/>
        </p:nvCxnSpPr>
        <p:spPr>
          <a:xfrm flipV="1">
            <a:off x="7915276" y="4843463"/>
            <a:ext cx="1998014" cy="235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915025" y="6415088"/>
            <a:ext cx="2471738" cy="369332"/>
          </a:xfrm>
          <a:prstGeom prst="rect">
            <a:avLst/>
          </a:prstGeom>
          <a:noFill/>
        </p:spPr>
        <p:txBody>
          <a:bodyPr wrap="square" rtlCol="0">
            <a:spAutoFit/>
          </a:bodyPr>
          <a:lstStyle/>
          <a:p>
            <a:r>
              <a:rPr lang="en-IN" dirty="0" smtClean="0"/>
              <a:t>Stack memory</a:t>
            </a:r>
            <a:endParaRPr lang="en-IN" dirty="0"/>
          </a:p>
        </p:txBody>
      </p:sp>
      <p:sp>
        <p:nvSpPr>
          <p:cNvPr id="16" name="TextBox 15"/>
          <p:cNvSpPr txBox="1"/>
          <p:nvPr/>
        </p:nvSpPr>
        <p:spPr>
          <a:xfrm>
            <a:off x="9913290" y="6176963"/>
            <a:ext cx="1616723" cy="369332"/>
          </a:xfrm>
          <a:prstGeom prst="rect">
            <a:avLst/>
          </a:prstGeom>
          <a:noFill/>
        </p:spPr>
        <p:txBody>
          <a:bodyPr wrap="square" rtlCol="0">
            <a:spAutoFit/>
          </a:bodyPr>
          <a:lstStyle/>
          <a:p>
            <a:r>
              <a:rPr lang="en-IN" dirty="0" smtClean="0"/>
              <a:t>Heap memory</a:t>
            </a:r>
            <a:endParaRPr lang="en-IN" dirty="0"/>
          </a:p>
        </p:txBody>
      </p:sp>
    </p:spTree>
    <p:extLst>
      <p:ext uri="{BB962C8B-B14F-4D97-AF65-F5344CB8AC3E}">
        <p14:creationId xmlns:p14="http://schemas.microsoft.com/office/powerpoint/2010/main" val="2409617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Introduction to Java-Class and Object</a:t>
            </a:r>
            <a:endParaRPr lang="en-US" dirty="0"/>
          </a:p>
        </p:txBody>
      </p:sp>
      <p:sp>
        <p:nvSpPr>
          <p:cNvPr id="3" name="Content Placeholder 2"/>
          <p:cNvSpPr>
            <a:spLocks noGrp="1"/>
          </p:cNvSpPr>
          <p:nvPr>
            <p:ph sz="half" idx="1"/>
          </p:nvPr>
        </p:nvSpPr>
        <p:spPr>
          <a:xfrm>
            <a:off x="134816" y="394530"/>
            <a:ext cx="5884984" cy="5782433"/>
          </a:xfrm>
        </p:spPr>
        <p:txBody>
          <a:bodyPr>
            <a:noAutofit/>
          </a:bodyPr>
          <a:lstStyle/>
          <a:p>
            <a:pPr marL="0" indent="0">
              <a:buNone/>
            </a:pPr>
            <a:r>
              <a:rPr lang="en-IN" sz="1800" b="1" dirty="0"/>
              <a:t>Initialization </a:t>
            </a:r>
            <a:r>
              <a:rPr lang="en-IN" sz="1800" b="1" dirty="0" smtClean="0"/>
              <a:t>through constructor</a:t>
            </a:r>
          </a:p>
          <a:p>
            <a:pPr marL="0" indent="0">
              <a:buNone/>
            </a:pPr>
            <a:r>
              <a:rPr lang="en-US" sz="1800" b="1" dirty="0"/>
              <a:t>Object is initialized automatically at the time of creation using a constructor.</a:t>
            </a:r>
            <a:endParaRPr lang="en-IN" sz="1800" b="1" dirty="0"/>
          </a:p>
          <a:p>
            <a:pPr marL="0" indent="0">
              <a:lnSpc>
                <a:spcPct val="100000"/>
              </a:lnSpc>
              <a:spcBef>
                <a:spcPts val="0"/>
              </a:spcBef>
              <a:buNone/>
            </a:pPr>
            <a:r>
              <a:rPr lang="en-IN" sz="1800" dirty="0" smtClean="0"/>
              <a:t>class </a:t>
            </a:r>
            <a:r>
              <a:rPr lang="en-IN" sz="1800" dirty="0"/>
              <a:t>Student{  </a:t>
            </a:r>
          </a:p>
          <a:p>
            <a:pPr marL="0" indent="0">
              <a:lnSpc>
                <a:spcPct val="100000"/>
              </a:lnSpc>
              <a:spcBef>
                <a:spcPts val="0"/>
              </a:spcBef>
              <a:buNone/>
            </a:pPr>
            <a:r>
              <a:rPr lang="en-IN" sz="1800" dirty="0"/>
              <a:t> </a:t>
            </a:r>
            <a:r>
              <a:rPr lang="en-IN" sz="1800" dirty="0" err="1"/>
              <a:t>int</a:t>
            </a:r>
            <a:r>
              <a:rPr lang="en-IN" sz="1800" dirty="0"/>
              <a:t> </a:t>
            </a:r>
            <a:r>
              <a:rPr lang="en-IN" sz="1800" dirty="0" err="1"/>
              <a:t>rollno</a:t>
            </a:r>
            <a:r>
              <a:rPr lang="en-IN" sz="1800" dirty="0"/>
              <a:t>;  </a:t>
            </a:r>
          </a:p>
          <a:p>
            <a:pPr marL="0" indent="0">
              <a:lnSpc>
                <a:spcPct val="100000"/>
              </a:lnSpc>
              <a:spcBef>
                <a:spcPts val="0"/>
              </a:spcBef>
              <a:buNone/>
            </a:pPr>
            <a:r>
              <a:rPr lang="en-IN" sz="1800" dirty="0"/>
              <a:t> String name;  </a:t>
            </a:r>
          </a:p>
          <a:p>
            <a:pPr marL="0" indent="0">
              <a:lnSpc>
                <a:spcPct val="100000"/>
              </a:lnSpc>
              <a:spcBef>
                <a:spcPts val="0"/>
              </a:spcBef>
              <a:buNone/>
            </a:pPr>
            <a:r>
              <a:rPr lang="en-IN" sz="1800" dirty="0"/>
              <a:t> </a:t>
            </a:r>
            <a:r>
              <a:rPr lang="en-IN" sz="1800" dirty="0" smtClean="0"/>
              <a:t>Student(</a:t>
            </a:r>
            <a:r>
              <a:rPr lang="en-IN" sz="1800" dirty="0" err="1" smtClean="0"/>
              <a:t>int</a:t>
            </a:r>
            <a:r>
              <a:rPr lang="en-IN" sz="1800" dirty="0" smtClean="0"/>
              <a:t> </a:t>
            </a:r>
            <a:r>
              <a:rPr lang="en-IN" sz="1800" dirty="0"/>
              <a:t>r, String n){  </a:t>
            </a:r>
          </a:p>
          <a:p>
            <a:pPr marL="0" indent="0">
              <a:lnSpc>
                <a:spcPct val="100000"/>
              </a:lnSpc>
              <a:spcBef>
                <a:spcPts val="0"/>
              </a:spcBef>
              <a:buNone/>
            </a:pPr>
            <a:r>
              <a:rPr lang="en-IN" sz="1800" dirty="0"/>
              <a:t>  </a:t>
            </a:r>
            <a:r>
              <a:rPr lang="en-IN" sz="1800" dirty="0" err="1"/>
              <a:t>rollno</a:t>
            </a:r>
            <a:r>
              <a:rPr lang="en-IN" sz="1800" dirty="0"/>
              <a:t>=r;  </a:t>
            </a:r>
          </a:p>
          <a:p>
            <a:pPr marL="0" indent="0">
              <a:lnSpc>
                <a:spcPct val="100000"/>
              </a:lnSpc>
              <a:spcBef>
                <a:spcPts val="0"/>
              </a:spcBef>
              <a:buNone/>
            </a:pPr>
            <a:r>
              <a:rPr lang="en-IN" sz="1800" dirty="0"/>
              <a:t>  name=n;  </a:t>
            </a:r>
          </a:p>
          <a:p>
            <a:pPr marL="0" indent="0">
              <a:lnSpc>
                <a:spcPct val="100000"/>
              </a:lnSpc>
              <a:spcBef>
                <a:spcPts val="0"/>
              </a:spcBef>
              <a:buNone/>
            </a:pPr>
            <a:r>
              <a:rPr lang="en-IN" sz="1800" dirty="0"/>
              <a:t> }  </a:t>
            </a:r>
          </a:p>
          <a:p>
            <a:pPr marL="0" indent="0">
              <a:lnSpc>
                <a:spcPct val="100000"/>
              </a:lnSpc>
              <a:spcBef>
                <a:spcPts val="0"/>
              </a:spcBef>
              <a:buNone/>
            </a:pPr>
            <a:r>
              <a:rPr lang="en-IN" sz="1800" dirty="0"/>
              <a:t> void </a:t>
            </a:r>
            <a:r>
              <a:rPr lang="en-IN" sz="1800" dirty="0" err="1"/>
              <a:t>displayInformation</a:t>
            </a:r>
            <a:r>
              <a:rPr lang="en-IN" sz="1800" dirty="0"/>
              <a:t>(){</a:t>
            </a:r>
            <a:r>
              <a:rPr lang="en-IN" sz="1800" dirty="0" err="1"/>
              <a:t>System.out.println</a:t>
            </a:r>
            <a:r>
              <a:rPr lang="en-IN" sz="1800" dirty="0"/>
              <a:t>(</a:t>
            </a:r>
            <a:r>
              <a:rPr lang="en-IN" sz="1800" dirty="0" err="1"/>
              <a:t>rollno</a:t>
            </a:r>
            <a:r>
              <a:rPr lang="en-IN" sz="1800" dirty="0" smtClean="0"/>
              <a:t>+“ "+</a:t>
            </a:r>
            <a:r>
              <a:rPr lang="en-IN" sz="1800" dirty="0"/>
              <a:t>name);}  </a:t>
            </a:r>
            <a:r>
              <a:rPr lang="en-IN" sz="1800" dirty="0" smtClean="0"/>
              <a:t>}  </a:t>
            </a:r>
            <a:endParaRPr lang="en-IN" sz="1800" dirty="0"/>
          </a:p>
          <a:p>
            <a:pPr marL="0" indent="0">
              <a:lnSpc>
                <a:spcPct val="100000"/>
              </a:lnSpc>
              <a:spcBef>
                <a:spcPts val="0"/>
              </a:spcBef>
              <a:buNone/>
            </a:pPr>
            <a:r>
              <a:rPr lang="en-IN" sz="1800" dirty="0"/>
              <a:t>class </a:t>
            </a:r>
            <a:r>
              <a:rPr lang="en-IN" sz="1800" dirty="0" err="1" smtClean="0"/>
              <a:t>TestStudent</a:t>
            </a:r>
            <a:r>
              <a:rPr lang="en-IN" sz="1800" dirty="0" smtClean="0"/>
              <a:t>{  </a:t>
            </a:r>
            <a:endParaRPr lang="en-IN" sz="1800" dirty="0"/>
          </a:p>
          <a:p>
            <a:pPr marL="0" indent="0">
              <a:lnSpc>
                <a:spcPct val="100000"/>
              </a:lnSpc>
              <a:spcBef>
                <a:spcPts val="0"/>
              </a:spcBef>
              <a:buNone/>
            </a:pPr>
            <a:r>
              <a:rPr lang="en-IN" sz="1800" dirty="0"/>
              <a:t> public static void main(String </a:t>
            </a:r>
            <a:r>
              <a:rPr lang="en-IN" sz="1800" dirty="0" err="1"/>
              <a:t>args</a:t>
            </a:r>
            <a:r>
              <a:rPr lang="en-IN" sz="1800" dirty="0"/>
              <a:t>[]){  </a:t>
            </a:r>
          </a:p>
          <a:p>
            <a:pPr marL="0" indent="0">
              <a:lnSpc>
                <a:spcPct val="100000"/>
              </a:lnSpc>
              <a:spcBef>
                <a:spcPts val="0"/>
              </a:spcBef>
              <a:buNone/>
            </a:pPr>
            <a:r>
              <a:rPr lang="en-IN" sz="1800" dirty="0"/>
              <a:t>  Student s1=new </a:t>
            </a:r>
            <a:r>
              <a:rPr lang="en-IN" sz="1800" dirty="0" smtClean="0"/>
              <a:t>Student(111,”abc”);  </a:t>
            </a:r>
            <a:endParaRPr lang="en-IN" sz="1800" dirty="0"/>
          </a:p>
          <a:p>
            <a:pPr marL="0" indent="0">
              <a:lnSpc>
                <a:spcPct val="100000"/>
              </a:lnSpc>
              <a:spcBef>
                <a:spcPts val="0"/>
              </a:spcBef>
              <a:buNone/>
            </a:pPr>
            <a:r>
              <a:rPr lang="en-IN" sz="1800" dirty="0"/>
              <a:t>  Student s2=new </a:t>
            </a:r>
            <a:r>
              <a:rPr lang="en-IN" sz="1800" dirty="0" smtClean="0"/>
              <a:t>Student(222,”pqr”);    </a:t>
            </a:r>
            <a:endParaRPr lang="en-IN" sz="1800" dirty="0"/>
          </a:p>
          <a:p>
            <a:pPr marL="0" indent="0">
              <a:lnSpc>
                <a:spcPct val="100000"/>
              </a:lnSpc>
              <a:spcBef>
                <a:spcPts val="0"/>
              </a:spcBef>
              <a:buNone/>
            </a:pPr>
            <a:r>
              <a:rPr lang="en-IN" sz="1800" dirty="0"/>
              <a:t>  s1.displayInformation();  </a:t>
            </a:r>
          </a:p>
          <a:p>
            <a:pPr marL="0" indent="0">
              <a:lnSpc>
                <a:spcPct val="100000"/>
              </a:lnSpc>
              <a:spcBef>
                <a:spcPts val="0"/>
              </a:spcBef>
              <a:buNone/>
            </a:pPr>
            <a:r>
              <a:rPr lang="en-IN" sz="1800" dirty="0"/>
              <a:t>  s2.displayInformation();  </a:t>
            </a:r>
            <a:r>
              <a:rPr lang="en-IN" sz="1800" dirty="0" smtClean="0"/>
              <a:t> </a:t>
            </a:r>
            <a:r>
              <a:rPr lang="en-IN" sz="1800" dirty="0"/>
              <a:t>}  </a:t>
            </a:r>
            <a:r>
              <a:rPr lang="en-IN" sz="1800" dirty="0" smtClean="0"/>
              <a:t>} </a:t>
            </a:r>
            <a:endParaRPr lang="en-IN" sz="1800" dirty="0"/>
          </a:p>
        </p:txBody>
      </p:sp>
      <p:sp>
        <p:nvSpPr>
          <p:cNvPr id="4" name="Content Placeholder 3"/>
          <p:cNvSpPr>
            <a:spLocks noGrp="1"/>
          </p:cNvSpPr>
          <p:nvPr>
            <p:ph sz="half" idx="2"/>
          </p:nvPr>
        </p:nvSpPr>
        <p:spPr>
          <a:xfrm>
            <a:off x="6019799" y="394530"/>
            <a:ext cx="5994009" cy="6343895"/>
          </a:xfrm>
        </p:spPr>
        <p:txBody>
          <a:bodyPr>
            <a:normAutofit/>
          </a:bodyPr>
          <a:lstStyle/>
          <a:p>
            <a:pPr marL="0" indent="0">
              <a:lnSpc>
                <a:spcPct val="120000"/>
              </a:lnSpc>
              <a:spcBef>
                <a:spcPts val="0"/>
              </a:spcBef>
              <a:buNone/>
            </a:pPr>
            <a:r>
              <a:rPr lang="en-US" sz="1600" dirty="0"/>
              <a:t>Initialize at object creation	</a:t>
            </a:r>
            <a:endParaRPr lang="en-US" sz="1600" dirty="0" smtClean="0"/>
          </a:p>
          <a:p>
            <a:pPr marL="0" indent="0">
              <a:lnSpc>
                <a:spcPct val="120000"/>
              </a:lnSpc>
              <a:spcBef>
                <a:spcPts val="0"/>
              </a:spcBef>
              <a:buNone/>
            </a:pPr>
            <a:r>
              <a:rPr lang="en-US" sz="1600" dirty="0" smtClean="0"/>
              <a:t>Clean </a:t>
            </a:r>
            <a:r>
              <a:rPr lang="en-US" sz="1600" dirty="0"/>
              <a:t>&amp; safe initialization pattern</a:t>
            </a:r>
            <a:endParaRPr lang="en-IN" sz="1600" dirty="0"/>
          </a:p>
        </p:txBody>
      </p:sp>
    </p:spTree>
    <p:extLst>
      <p:ext uri="{BB962C8B-B14F-4D97-AF65-F5344CB8AC3E}">
        <p14:creationId xmlns:p14="http://schemas.microsoft.com/office/powerpoint/2010/main" val="184982014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Java-Arrays</a:t>
            </a:r>
            <a:endParaRPr lang="en-US" dirty="0"/>
          </a:p>
        </p:txBody>
      </p:sp>
      <p:sp>
        <p:nvSpPr>
          <p:cNvPr id="3" name="Content Placeholder 2"/>
          <p:cNvSpPr>
            <a:spLocks noGrp="1"/>
          </p:cNvSpPr>
          <p:nvPr>
            <p:ph sz="half" idx="1"/>
          </p:nvPr>
        </p:nvSpPr>
        <p:spPr>
          <a:xfrm>
            <a:off x="134815" y="402771"/>
            <a:ext cx="8432242" cy="6335654"/>
          </a:xfrm>
        </p:spPr>
        <p:txBody>
          <a:bodyPr>
            <a:noAutofit/>
          </a:bodyPr>
          <a:lstStyle/>
          <a:p>
            <a:pPr marL="0" indent="0">
              <a:buNone/>
            </a:pPr>
            <a:r>
              <a:rPr lang="en-IN" sz="1800" b="1" dirty="0" smtClean="0"/>
              <a:t>Arrays</a:t>
            </a:r>
            <a:endParaRPr lang="en-IN" sz="1800" b="1" dirty="0"/>
          </a:p>
          <a:p>
            <a:pPr marL="0" indent="0">
              <a:buNone/>
            </a:pPr>
            <a:r>
              <a:rPr lang="en-IN" sz="1800" dirty="0"/>
              <a:t>C</a:t>
            </a:r>
            <a:r>
              <a:rPr lang="en-IN" sz="1800" dirty="0" smtClean="0"/>
              <a:t>ollection </a:t>
            </a:r>
            <a:r>
              <a:rPr lang="en-IN" sz="1800" dirty="0"/>
              <a:t>of similar type of elements which has contiguous memory location</a:t>
            </a:r>
            <a:r>
              <a:rPr lang="en-IN" sz="1800" dirty="0" smtClean="0"/>
              <a:t>.</a:t>
            </a:r>
          </a:p>
          <a:p>
            <a:pPr marL="0" indent="0">
              <a:buNone/>
            </a:pPr>
            <a:r>
              <a:rPr lang="en-US" sz="1800" dirty="0"/>
              <a:t>A</a:t>
            </a:r>
            <a:r>
              <a:rPr lang="en-US" sz="1800" dirty="0" smtClean="0"/>
              <a:t>ll </a:t>
            </a:r>
            <a:r>
              <a:rPr lang="en-US" sz="1800" dirty="0"/>
              <a:t>arrays are dynamically </a:t>
            </a:r>
            <a:r>
              <a:rPr lang="en-US" sz="1800" dirty="0" smtClean="0"/>
              <a:t>allocated</a:t>
            </a:r>
          </a:p>
          <a:p>
            <a:pPr marL="0" indent="0">
              <a:buNone/>
            </a:pPr>
            <a:r>
              <a:rPr lang="en-US" sz="1800" dirty="0" smtClean="0"/>
              <a:t>Since </a:t>
            </a:r>
            <a:r>
              <a:rPr lang="en-US" sz="1800" b="1" dirty="0"/>
              <a:t>arrays are objects in Java</a:t>
            </a:r>
            <a:r>
              <a:rPr lang="en-US" sz="1800" dirty="0"/>
              <a:t>, we can find their length using the </a:t>
            </a:r>
            <a:r>
              <a:rPr lang="en-US" sz="1800" i="1" dirty="0"/>
              <a:t>object property </a:t>
            </a:r>
            <a:r>
              <a:rPr lang="en-US" sz="1800" b="1" i="1" dirty="0"/>
              <a:t>length</a:t>
            </a:r>
            <a:r>
              <a:rPr lang="en-US" sz="1800" dirty="0"/>
              <a:t>. </a:t>
            </a:r>
            <a:endParaRPr lang="en-US" sz="1800" dirty="0" smtClean="0"/>
          </a:p>
          <a:p>
            <a:pPr marL="0" indent="0">
              <a:buNone/>
            </a:pPr>
            <a:r>
              <a:rPr lang="en-US" sz="1800" dirty="0" smtClean="0"/>
              <a:t>This </a:t>
            </a:r>
            <a:r>
              <a:rPr lang="en-US" sz="1800" dirty="0"/>
              <a:t>is different from C/C++ where we find length using </a:t>
            </a:r>
            <a:r>
              <a:rPr lang="en-US" sz="1800" dirty="0" err="1"/>
              <a:t>sizeof</a:t>
            </a:r>
            <a:r>
              <a:rPr lang="en-US" sz="1800" dirty="0"/>
              <a:t>.</a:t>
            </a:r>
          </a:p>
          <a:p>
            <a:pPr marL="0" indent="0">
              <a:buNone/>
            </a:pPr>
            <a:r>
              <a:rPr lang="en-US" sz="1800" dirty="0"/>
              <a:t>A Java array variable can also be declared like other variables with </a:t>
            </a:r>
            <a:r>
              <a:rPr lang="en-US" sz="1800" b="1" dirty="0"/>
              <a:t>[]</a:t>
            </a:r>
            <a:r>
              <a:rPr lang="en-US" sz="1800" dirty="0"/>
              <a:t> after the data type.</a:t>
            </a:r>
          </a:p>
          <a:p>
            <a:pPr marL="0" indent="0">
              <a:buNone/>
            </a:pPr>
            <a:r>
              <a:rPr lang="en-US" sz="1800" dirty="0"/>
              <a:t>The variables in the array are ordered and each have an index beginning from 0.</a:t>
            </a:r>
          </a:p>
          <a:p>
            <a:pPr marL="0" indent="0">
              <a:buNone/>
            </a:pPr>
            <a:r>
              <a:rPr lang="en-US" sz="1800" dirty="0"/>
              <a:t>Java array can be also be used as a </a:t>
            </a:r>
            <a:r>
              <a:rPr lang="en-US" sz="1800" b="1" dirty="0"/>
              <a:t>static field, a local variable or a method parameter</a:t>
            </a:r>
            <a:r>
              <a:rPr lang="en-US" sz="1800" dirty="0"/>
              <a:t>.</a:t>
            </a:r>
          </a:p>
          <a:p>
            <a:pPr marL="0" indent="0">
              <a:buNone/>
            </a:pPr>
            <a:r>
              <a:rPr lang="en-US" sz="1800" dirty="0"/>
              <a:t>The size of an array must be specified by an </a:t>
            </a:r>
            <a:r>
              <a:rPr lang="en-US" sz="1800" dirty="0" err="1"/>
              <a:t>int</a:t>
            </a:r>
            <a:r>
              <a:rPr lang="en-US" sz="1800" dirty="0"/>
              <a:t> or short value and not long.</a:t>
            </a:r>
            <a:endParaRPr lang="en-IN" sz="1800" dirty="0" smtClean="0"/>
          </a:p>
          <a:p>
            <a:pPr marL="0" indent="0">
              <a:buNone/>
            </a:pPr>
            <a:r>
              <a:rPr lang="en-US" sz="1800" b="1" dirty="0"/>
              <a:t>Java provides the feature of anonymous arrays which is not available in C/C</a:t>
            </a:r>
            <a:r>
              <a:rPr lang="en-US" sz="1800" b="1" dirty="0" smtClean="0"/>
              <a:t>++</a:t>
            </a:r>
          </a:p>
          <a:p>
            <a:pPr marL="0" indent="0">
              <a:lnSpc>
                <a:spcPct val="100000"/>
              </a:lnSpc>
              <a:spcBef>
                <a:spcPts val="0"/>
              </a:spcBef>
              <a:buNone/>
            </a:pPr>
            <a:r>
              <a:rPr lang="en-US" sz="1800" b="1" dirty="0"/>
              <a:t>Advantages</a:t>
            </a:r>
          </a:p>
          <a:p>
            <a:pPr marL="0" indent="0">
              <a:lnSpc>
                <a:spcPct val="100000"/>
              </a:lnSpc>
              <a:spcBef>
                <a:spcPts val="0"/>
              </a:spcBef>
              <a:buNone/>
            </a:pPr>
            <a:r>
              <a:rPr lang="en-US" sz="1800" b="1" dirty="0"/>
              <a:t>Code Optimization:</a:t>
            </a:r>
            <a:r>
              <a:rPr lang="en-US" sz="1800" dirty="0"/>
              <a:t> It makes the code optimized, we can retrieve or sort the data efficiently.</a:t>
            </a:r>
          </a:p>
          <a:p>
            <a:pPr marL="0" indent="0">
              <a:lnSpc>
                <a:spcPct val="100000"/>
              </a:lnSpc>
              <a:spcBef>
                <a:spcPts val="0"/>
              </a:spcBef>
              <a:buNone/>
            </a:pPr>
            <a:r>
              <a:rPr lang="en-US" sz="1800" b="1" dirty="0"/>
              <a:t>Random access:</a:t>
            </a:r>
            <a:r>
              <a:rPr lang="en-US" sz="1800" dirty="0"/>
              <a:t> We can get any data located at an index position.</a:t>
            </a:r>
          </a:p>
          <a:p>
            <a:pPr marL="0" indent="0">
              <a:lnSpc>
                <a:spcPct val="100000"/>
              </a:lnSpc>
              <a:spcBef>
                <a:spcPts val="0"/>
              </a:spcBef>
              <a:buNone/>
            </a:pPr>
            <a:r>
              <a:rPr lang="en-US" sz="1800" b="1" dirty="0"/>
              <a:t>Disadvantages</a:t>
            </a:r>
          </a:p>
          <a:p>
            <a:pPr marL="0" indent="0">
              <a:lnSpc>
                <a:spcPct val="100000"/>
              </a:lnSpc>
              <a:spcBef>
                <a:spcPts val="0"/>
              </a:spcBef>
              <a:buNone/>
            </a:pPr>
            <a:r>
              <a:rPr lang="en-US" sz="1800" b="1" dirty="0"/>
              <a:t>Size Limit:</a:t>
            </a:r>
            <a:r>
              <a:rPr lang="en-US" sz="1800" dirty="0"/>
              <a:t> We can store only the fixed size of elements in the array. It doesn't grow its size at runtime. </a:t>
            </a:r>
            <a:r>
              <a:rPr lang="en-US" sz="1800" b="1" dirty="0"/>
              <a:t>To solve this problem, collection framework is used in Java which grows automatically.</a:t>
            </a:r>
          </a:p>
          <a:p>
            <a:pPr marL="0" indent="0">
              <a:buNone/>
            </a:pPr>
            <a:endParaRPr lang="en-IN" sz="1800" dirty="0" smtClean="0"/>
          </a:p>
        </p:txBody>
      </p:sp>
      <p:sp>
        <p:nvSpPr>
          <p:cNvPr id="4" name="Content Placeholder 3"/>
          <p:cNvSpPr>
            <a:spLocks noGrp="1"/>
          </p:cNvSpPr>
          <p:nvPr>
            <p:ph sz="half" idx="2"/>
          </p:nvPr>
        </p:nvSpPr>
        <p:spPr>
          <a:xfrm>
            <a:off x="8229600" y="394530"/>
            <a:ext cx="3962399" cy="6343895"/>
          </a:xfrm>
        </p:spPr>
        <p:txBody>
          <a:bodyPr>
            <a:normAutofit fontScale="92500"/>
          </a:bodyPr>
          <a:lstStyle/>
          <a:p>
            <a:pPr marL="0" indent="0">
              <a:lnSpc>
                <a:spcPct val="120000"/>
              </a:lnSpc>
              <a:spcBef>
                <a:spcPts val="0"/>
              </a:spcBef>
              <a:buNone/>
            </a:pPr>
            <a:r>
              <a:rPr lang="en-US" sz="2000" b="1" dirty="0" err="1"/>
              <a:t>i</a:t>
            </a:r>
            <a:r>
              <a:rPr lang="en-US" sz="2000" b="1" dirty="0" err="1" smtClean="0"/>
              <a:t>nstanceof</a:t>
            </a:r>
            <a:r>
              <a:rPr lang="en-US" sz="2000" b="1" dirty="0" smtClean="0"/>
              <a:t> operator</a:t>
            </a:r>
          </a:p>
          <a:p>
            <a:r>
              <a:rPr lang="en-US" sz="2000" dirty="0"/>
              <a:t>U</a:t>
            </a:r>
            <a:r>
              <a:rPr lang="en-US" sz="2000" dirty="0" smtClean="0"/>
              <a:t>sed </a:t>
            </a:r>
            <a:r>
              <a:rPr lang="en-US" sz="2000" dirty="0"/>
              <a:t>to test whether the object is an instance of the specified type (class or subclass or interface).</a:t>
            </a:r>
          </a:p>
          <a:p>
            <a:r>
              <a:rPr lang="en-US" sz="2000" dirty="0"/>
              <a:t>A</a:t>
            </a:r>
            <a:r>
              <a:rPr lang="en-US" sz="2000" dirty="0" smtClean="0"/>
              <a:t>lso </a:t>
            </a:r>
            <a:r>
              <a:rPr lang="en-US" sz="2000" dirty="0"/>
              <a:t>known as type </a:t>
            </a:r>
            <a:r>
              <a:rPr lang="en-US" sz="2000" i="1" dirty="0"/>
              <a:t>comparison operator</a:t>
            </a:r>
            <a:r>
              <a:rPr lang="en-US" sz="2000" dirty="0"/>
              <a:t> because it compares the instance with type. </a:t>
            </a:r>
            <a:endParaRPr lang="en-US" sz="2000" dirty="0" smtClean="0"/>
          </a:p>
          <a:p>
            <a:r>
              <a:rPr lang="en-US" sz="2000" dirty="0" smtClean="0"/>
              <a:t>It </a:t>
            </a:r>
            <a:r>
              <a:rPr lang="en-US" sz="2000" dirty="0"/>
              <a:t>returns either true or false. </a:t>
            </a:r>
            <a:endParaRPr lang="en-US" sz="2000" dirty="0" smtClean="0"/>
          </a:p>
          <a:p>
            <a:r>
              <a:rPr lang="en-US" sz="2000" dirty="0" smtClean="0"/>
              <a:t>If </a:t>
            </a:r>
            <a:r>
              <a:rPr lang="en-US" sz="2000" dirty="0" err="1" smtClean="0"/>
              <a:t>instanceof</a:t>
            </a:r>
            <a:r>
              <a:rPr lang="en-US" sz="2000" dirty="0" smtClean="0"/>
              <a:t> </a:t>
            </a:r>
            <a:r>
              <a:rPr lang="en-US" sz="2000" dirty="0"/>
              <a:t>operator </a:t>
            </a:r>
            <a:r>
              <a:rPr lang="en-US" sz="2000" dirty="0" smtClean="0"/>
              <a:t>is applied with </a:t>
            </a:r>
            <a:r>
              <a:rPr lang="en-US" sz="2000" dirty="0"/>
              <a:t>any variable that has null value, it returns false</a:t>
            </a:r>
            <a:r>
              <a:rPr lang="en-US" sz="2000" dirty="0" smtClean="0"/>
              <a:t>.</a:t>
            </a:r>
          </a:p>
          <a:p>
            <a:pPr marL="0" indent="0">
              <a:lnSpc>
                <a:spcPct val="110000"/>
              </a:lnSpc>
              <a:spcBef>
                <a:spcPts val="0"/>
              </a:spcBef>
              <a:buNone/>
            </a:pPr>
            <a:r>
              <a:rPr lang="en-US" sz="2000" i="1" dirty="0"/>
              <a:t>public class test{  </a:t>
            </a:r>
          </a:p>
          <a:p>
            <a:pPr marL="0" indent="0">
              <a:lnSpc>
                <a:spcPct val="110000"/>
              </a:lnSpc>
              <a:spcBef>
                <a:spcPts val="0"/>
              </a:spcBef>
              <a:buNone/>
            </a:pPr>
            <a:r>
              <a:rPr lang="en-US" sz="2000" i="1" dirty="0"/>
              <a:t> public static void main(String </a:t>
            </a:r>
            <a:r>
              <a:rPr lang="en-US" sz="2000" i="1" dirty="0" err="1"/>
              <a:t>args</a:t>
            </a:r>
            <a:r>
              <a:rPr lang="en-US" sz="2000" i="1" dirty="0"/>
              <a:t>[]){  </a:t>
            </a:r>
          </a:p>
          <a:p>
            <a:pPr marL="0" indent="0">
              <a:lnSpc>
                <a:spcPct val="110000"/>
              </a:lnSpc>
              <a:spcBef>
                <a:spcPts val="0"/>
              </a:spcBef>
              <a:buNone/>
            </a:pPr>
            <a:r>
              <a:rPr lang="en-US" sz="2000" i="1" dirty="0"/>
              <a:t> test s=new test();  </a:t>
            </a:r>
          </a:p>
          <a:p>
            <a:pPr marL="0" indent="0">
              <a:lnSpc>
                <a:spcPct val="110000"/>
              </a:lnSpc>
              <a:spcBef>
                <a:spcPts val="0"/>
              </a:spcBef>
              <a:buNone/>
            </a:pPr>
            <a:r>
              <a:rPr lang="en-US" sz="2000" i="1" dirty="0"/>
              <a:t> </a:t>
            </a:r>
            <a:r>
              <a:rPr lang="en-US" sz="2000" i="1" dirty="0" err="1"/>
              <a:t>System.out.println</a:t>
            </a:r>
            <a:r>
              <a:rPr lang="en-US" sz="2000" i="1" dirty="0"/>
              <a:t>(s </a:t>
            </a:r>
            <a:r>
              <a:rPr lang="en-US" sz="2000" i="1" dirty="0" err="1"/>
              <a:t>instanceof</a:t>
            </a:r>
            <a:r>
              <a:rPr lang="en-US" sz="2000" i="1" dirty="0"/>
              <a:t> test);</a:t>
            </a:r>
          </a:p>
          <a:p>
            <a:pPr marL="0" indent="0">
              <a:lnSpc>
                <a:spcPct val="110000"/>
              </a:lnSpc>
              <a:spcBef>
                <a:spcPts val="0"/>
              </a:spcBef>
              <a:buNone/>
            </a:pPr>
            <a:r>
              <a:rPr lang="en-US" sz="2000" i="1" dirty="0"/>
              <a:t> test s1=null;</a:t>
            </a:r>
          </a:p>
          <a:p>
            <a:pPr marL="0" indent="0">
              <a:lnSpc>
                <a:spcPct val="110000"/>
              </a:lnSpc>
              <a:spcBef>
                <a:spcPts val="0"/>
              </a:spcBef>
              <a:buNone/>
            </a:pPr>
            <a:r>
              <a:rPr lang="en-US" sz="2000" i="1" dirty="0"/>
              <a:t> </a:t>
            </a:r>
            <a:r>
              <a:rPr lang="en-US" sz="2000" i="1" dirty="0" err="1"/>
              <a:t>System.out.println</a:t>
            </a:r>
            <a:r>
              <a:rPr lang="en-US" sz="2000" i="1" dirty="0"/>
              <a:t>(s1 </a:t>
            </a:r>
            <a:r>
              <a:rPr lang="en-US" sz="2000" i="1" dirty="0" err="1"/>
              <a:t>instanceof</a:t>
            </a:r>
            <a:r>
              <a:rPr lang="en-US" sz="2000" i="1" dirty="0"/>
              <a:t> test);</a:t>
            </a:r>
          </a:p>
          <a:p>
            <a:pPr marL="0" indent="0">
              <a:lnSpc>
                <a:spcPct val="110000"/>
              </a:lnSpc>
              <a:spcBef>
                <a:spcPts val="0"/>
              </a:spcBef>
              <a:buNone/>
            </a:pPr>
            <a:r>
              <a:rPr lang="en-US" sz="2000" i="1" dirty="0"/>
              <a:t> }  </a:t>
            </a:r>
            <a:r>
              <a:rPr lang="en-US" sz="2000" i="1" dirty="0" smtClean="0"/>
              <a:t>} </a:t>
            </a:r>
            <a:endParaRPr lang="en-US" sz="2000" i="1" dirty="0"/>
          </a:p>
          <a:p>
            <a:pPr marL="0" indent="0">
              <a:lnSpc>
                <a:spcPct val="120000"/>
              </a:lnSpc>
              <a:spcBef>
                <a:spcPts val="0"/>
              </a:spcBef>
              <a:buNone/>
            </a:pPr>
            <a:endParaRPr lang="en-IN" sz="1600" dirty="0"/>
          </a:p>
          <a:p>
            <a:pPr>
              <a:lnSpc>
                <a:spcPct val="120000"/>
              </a:lnSpc>
              <a:spcBef>
                <a:spcPts val="0"/>
              </a:spcBef>
            </a:pPr>
            <a:endParaRPr lang="en-IN" sz="1600" dirty="0"/>
          </a:p>
        </p:txBody>
      </p:sp>
    </p:spTree>
    <p:extLst>
      <p:ext uri="{BB962C8B-B14F-4D97-AF65-F5344CB8AC3E}">
        <p14:creationId xmlns:p14="http://schemas.microsoft.com/office/powerpoint/2010/main" val="52511648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Java-Arrays</a:t>
            </a:r>
            <a:endParaRPr lang="en-US" dirty="0"/>
          </a:p>
        </p:txBody>
      </p:sp>
      <p:sp>
        <p:nvSpPr>
          <p:cNvPr id="3" name="Content Placeholder 2"/>
          <p:cNvSpPr>
            <a:spLocks noGrp="1"/>
          </p:cNvSpPr>
          <p:nvPr>
            <p:ph sz="half" idx="1"/>
          </p:nvPr>
        </p:nvSpPr>
        <p:spPr>
          <a:xfrm>
            <a:off x="134815" y="394529"/>
            <a:ext cx="11724676" cy="6343895"/>
          </a:xfrm>
        </p:spPr>
        <p:txBody>
          <a:bodyPr>
            <a:noAutofit/>
          </a:bodyPr>
          <a:lstStyle/>
          <a:p>
            <a:pPr marL="0" indent="0">
              <a:buNone/>
            </a:pPr>
            <a:r>
              <a:rPr lang="en-IN" sz="1800" b="1" dirty="0" smtClean="0"/>
              <a:t>Types of Arrays</a:t>
            </a:r>
            <a:endParaRPr lang="en-IN" sz="1800" b="1" dirty="0"/>
          </a:p>
          <a:p>
            <a:pPr marL="0" indent="0">
              <a:buNone/>
            </a:pPr>
            <a:r>
              <a:rPr lang="en-US" sz="2000" dirty="0"/>
              <a:t>T</a:t>
            </a:r>
            <a:r>
              <a:rPr lang="en-US" sz="2000" dirty="0" smtClean="0"/>
              <a:t>wo </a:t>
            </a:r>
            <a:r>
              <a:rPr lang="en-US" sz="2000" dirty="0"/>
              <a:t>types of array.</a:t>
            </a:r>
          </a:p>
          <a:p>
            <a:r>
              <a:rPr lang="en-US" sz="2000" dirty="0"/>
              <a:t>Single Dimensional Array</a:t>
            </a:r>
          </a:p>
          <a:p>
            <a:r>
              <a:rPr lang="en-US" sz="2000" dirty="0"/>
              <a:t>Multidimensional Array</a:t>
            </a:r>
          </a:p>
          <a:p>
            <a:pPr marL="0" indent="0">
              <a:buNone/>
            </a:pPr>
            <a:r>
              <a:rPr lang="en-US" sz="1800" b="1" dirty="0"/>
              <a:t>Declaring Array Variables</a:t>
            </a:r>
          </a:p>
          <a:p>
            <a:pPr marL="0" indent="0">
              <a:buNone/>
            </a:pPr>
            <a:r>
              <a:rPr lang="en-US" sz="1800" dirty="0"/>
              <a:t>D</a:t>
            </a:r>
            <a:r>
              <a:rPr lang="en-US" sz="1800" dirty="0" smtClean="0"/>
              <a:t>eclare </a:t>
            </a:r>
            <a:r>
              <a:rPr lang="en-US" sz="1800" dirty="0"/>
              <a:t>a variable to reference the array, and you must specify the type of array the variable can reference. </a:t>
            </a:r>
            <a:endParaRPr lang="en-US" sz="1800" dirty="0" smtClean="0"/>
          </a:p>
          <a:p>
            <a:pPr marL="0" indent="0">
              <a:buNone/>
            </a:pPr>
            <a:r>
              <a:rPr lang="en-US" sz="1800" b="1" dirty="0"/>
              <a:t>S</a:t>
            </a:r>
            <a:r>
              <a:rPr lang="en-US" sz="1800" b="1" dirty="0" smtClean="0"/>
              <a:t>yntax </a:t>
            </a:r>
            <a:r>
              <a:rPr lang="en-US" sz="1800" b="1" dirty="0"/>
              <a:t>for declaring an array variable −</a:t>
            </a:r>
          </a:p>
          <a:p>
            <a:pPr marL="0" indent="0">
              <a:lnSpc>
                <a:spcPct val="100000"/>
              </a:lnSpc>
              <a:spcBef>
                <a:spcPts val="0"/>
              </a:spcBef>
              <a:buNone/>
            </a:pPr>
            <a:r>
              <a:rPr lang="en-US" sz="1800" dirty="0" err="1" smtClean="0"/>
              <a:t>dataType</a:t>
            </a:r>
            <a:r>
              <a:rPr lang="en-US" sz="1800" dirty="0"/>
              <a:t>[] </a:t>
            </a:r>
            <a:r>
              <a:rPr lang="en-US" sz="1800" dirty="0" err="1"/>
              <a:t>arrayRefVar</a:t>
            </a:r>
            <a:r>
              <a:rPr lang="en-US" sz="1800" dirty="0"/>
              <a:t>;   </a:t>
            </a:r>
          </a:p>
          <a:p>
            <a:pPr marL="0" indent="0">
              <a:lnSpc>
                <a:spcPct val="100000"/>
              </a:lnSpc>
              <a:spcBef>
                <a:spcPts val="0"/>
              </a:spcBef>
              <a:buNone/>
            </a:pPr>
            <a:r>
              <a:rPr lang="en-US" sz="1800" dirty="0"/>
              <a:t>or</a:t>
            </a:r>
          </a:p>
          <a:p>
            <a:pPr marL="0" indent="0">
              <a:lnSpc>
                <a:spcPct val="100000"/>
              </a:lnSpc>
              <a:spcBef>
                <a:spcPts val="0"/>
              </a:spcBef>
              <a:buNone/>
            </a:pPr>
            <a:r>
              <a:rPr lang="en-US" sz="1800" dirty="0" err="1"/>
              <a:t>dataType</a:t>
            </a:r>
            <a:r>
              <a:rPr lang="en-US" sz="1800" dirty="0"/>
              <a:t> </a:t>
            </a:r>
            <a:r>
              <a:rPr lang="en-US" sz="1800" dirty="0" err="1"/>
              <a:t>arrayRefVar</a:t>
            </a:r>
            <a:r>
              <a:rPr lang="en-US" sz="1800" dirty="0" smtClean="0"/>
              <a:t>[];</a:t>
            </a:r>
          </a:p>
          <a:p>
            <a:pPr marL="0" indent="0">
              <a:lnSpc>
                <a:spcPct val="100000"/>
              </a:lnSpc>
              <a:spcBef>
                <a:spcPts val="0"/>
              </a:spcBef>
              <a:buNone/>
            </a:pPr>
            <a:r>
              <a:rPr lang="en-US" sz="1800" dirty="0"/>
              <a:t>o</a:t>
            </a:r>
            <a:r>
              <a:rPr lang="en-US" sz="1800" dirty="0" smtClean="0"/>
              <a:t>r</a:t>
            </a:r>
          </a:p>
          <a:p>
            <a:pPr marL="0" indent="0">
              <a:lnSpc>
                <a:spcPct val="100000"/>
              </a:lnSpc>
              <a:spcBef>
                <a:spcPts val="0"/>
              </a:spcBef>
              <a:buNone/>
            </a:pPr>
            <a:r>
              <a:rPr lang="en-IN" sz="1800" dirty="0" err="1"/>
              <a:t>dataType</a:t>
            </a:r>
            <a:r>
              <a:rPr lang="en-IN" sz="1800" dirty="0"/>
              <a:t> []</a:t>
            </a:r>
            <a:r>
              <a:rPr lang="en-IN" sz="1800" dirty="0" err="1" smtClean="0"/>
              <a:t>arrayRefVar</a:t>
            </a:r>
            <a:r>
              <a:rPr lang="en-IN" sz="1800" dirty="0" smtClean="0"/>
              <a:t>;</a:t>
            </a:r>
          </a:p>
          <a:p>
            <a:pPr marL="0" indent="0">
              <a:buNone/>
            </a:pPr>
            <a:r>
              <a:rPr lang="en-US" sz="1800" b="1" dirty="0"/>
              <a:t>Instantiation of an Array in Java</a:t>
            </a:r>
          </a:p>
          <a:p>
            <a:pPr marL="0" indent="0">
              <a:buNone/>
            </a:pPr>
            <a:r>
              <a:rPr lang="en-US" sz="1800" dirty="0" err="1" smtClean="0"/>
              <a:t>arrayRefVar</a:t>
            </a:r>
            <a:r>
              <a:rPr lang="en-US" sz="1800" dirty="0" smtClean="0"/>
              <a:t>=new </a:t>
            </a:r>
            <a:r>
              <a:rPr lang="en-US" sz="1800" dirty="0"/>
              <a:t>datatype[size]; </a:t>
            </a:r>
            <a:r>
              <a:rPr lang="en-US" sz="1800" dirty="0" smtClean="0"/>
              <a:t> </a:t>
            </a:r>
          </a:p>
          <a:p>
            <a:pPr marL="0" indent="0">
              <a:buNone/>
            </a:pPr>
            <a:r>
              <a:rPr lang="en-US" sz="1800" b="1" dirty="0"/>
              <a:t>Declaring an array variable, creating an array, and assigning the reference of the array </a:t>
            </a:r>
            <a:endParaRPr lang="en-US" sz="1800" b="1" dirty="0" smtClean="0"/>
          </a:p>
          <a:p>
            <a:pPr marL="0" indent="0">
              <a:buNone/>
            </a:pPr>
            <a:r>
              <a:rPr lang="en-US" sz="1800" dirty="0" err="1" smtClean="0"/>
              <a:t>dataType</a:t>
            </a:r>
            <a:r>
              <a:rPr lang="en-US" sz="1800" dirty="0"/>
              <a:t>[] </a:t>
            </a:r>
            <a:r>
              <a:rPr lang="en-US" sz="1800" dirty="0" err="1"/>
              <a:t>arrayRefVar</a:t>
            </a:r>
            <a:r>
              <a:rPr lang="en-US" sz="1800" dirty="0"/>
              <a:t> = new </a:t>
            </a:r>
            <a:r>
              <a:rPr lang="en-US" sz="1800" dirty="0" err="1"/>
              <a:t>dataType</a:t>
            </a:r>
            <a:r>
              <a:rPr lang="en-US" sz="1800" dirty="0"/>
              <a:t>[</a:t>
            </a:r>
            <a:r>
              <a:rPr lang="en-US" sz="1800" dirty="0" err="1"/>
              <a:t>arraySize</a:t>
            </a:r>
            <a:r>
              <a:rPr lang="en-US" sz="1800" dirty="0" smtClean="0"/>
              <a:t>]; </a:t>
            </a:r>
            <a:r>
              <a:rPr lang="en-US" sz="1800" dirty="0"/>
              <a:t>or </a:t>
            </a:r>
            <a:r>
              <a:rPr lang="en-US" sz="1800" dirty="0" err="1"/>
              <a:t>dataType</a:t>
            </a:r>
            <a:r>
              <a:rPr lang="en-US" sz="1800" dirty="0"/>
              <a:t>[] </a:t>
            </a:r>
            <a:r>
              <a:rPr lang="en-US" sz="1800" dirty="0" err="1"/>
              <a:t>arrayRefVar</a:t>
            </a:r>
            <a:r>
              <a:rPr lang="en-US" sz="1800" dirty="0"/>
              <a:t> = {value0, value1, ..., </a:t>
            </a:r>
            <a:r>
              <a:rPr lang="en-US" sz="1800" dirty="0" err="1"/>
              <a:t>valuek</a:t>
            </a:r>
            <a:r>
              <a:rPr lang="en-US" sz="1800" dirty="0"/>
              <a:t>};</a:t>
            </a:r>
          </a:p>
          <a:p>
            <a:pPr marL="0" indent="0">
              <a:buNone/>
            </a:pPr>
            <a:endParaRPr lang="en-US" sz="1800" dirty="0" smtClean="0"/>
          </a:p>
          <a:p>
            <a:pPr marL="0" indent="0">
              <a:buNone/>
            </a:pPr>
            <a:endParaRPr lang="en-IN" sz="1800" dirty="0"/>
          </a:p>
        </p:txBody>
      </p:sp>
    </p:spTree>
    <p:extLst>
      <p:ext uri="{BB962C8B-B14F-4D97-AF65-F5344CB8AC3E}">
        <p14:creationId xmlns:p14="http://schemas.microsoft.com/office/powerpoint/2010/main" val="410588597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29"/>
          </a:xfrm>
        </p:spPr>
        <p:txBody>
          <a:bodyPr>
            <a:noAutofit/>
          </a:bodyPr>
          <a:lstStyle/>
          <a:p>
            <a:r>
              <a:rPr lang="en-US" sz="3200" dirty="0" smtClean="0"/>
              <a:t>Java-Arrays</a:t>
            </a:r>
            <a:endParaRPr lang="en-US" sz="3200" dirty="0"/>
          </a:p>
        </p:txBody>
      </p:sp>
      <p:sp>
        <p:nvSpPr>
          <p:cNvPr id="3" name="Content Placeholder 2"/>
          <p:cNvSpPr>
            <a:spLocks noGrp="1"/>
          </p:cNvSpPr>
          <p:nvPr>
            <p:ph sz="half" idx="1"/>
          </p:nvPr>
        </p:nvSpPr>
        <p:spPr>
          <a:xfrm>
            <a:off x="134816" y="394529"/>
            <a:ext cx="6127440" cy="6343895"/>
          </a:xfrm>
        </p:spPr>
        <p:txBody>
          <a:bodyPr>
            <a:noAutofit/>
          </a:bodyPr>
          <a:lstStyle/>
          <a:p>
            <a:pPr marL="0" indent="0">
              <a:lnSpc>
                <a:spcPct val="100000"/>
              </a:lnSpc>
              <a:spcBef>
                <a:spcPts val="0"/>
              </a:spcBef>
              <a:buNone/>
            </a:pPr>
            <a:r>
              <a:rPr lang="en-IN" sz="1800" dirty="0" smtClean="0"/>
              <a:t>public </a:t>
            </a:r>
            <a:r>
              <a:rPr lang="en-IN" sz="1800" dirty="0"/>
              <a:t>class </a:t>
            </a:r>
            <a:r>
              <a:rPr lang="en-IN" sz="1800" dirty="0" err="1"/>
              <a:t>Testarray</a:t>
            </a:r>
            <a:r>
              <a:rPr lang="en-IN" sz="1800" dirty="0"/>
              <a:t>{  </a:t>
            </a:r>
          </a:p>
          <a:p>
            <a:pPr marL="0" indent="0">
              <a:lnSpc>
                <a:spcPct val="100000"/>
              </a:lnSpc>
              <a:spcBef>
                <a:spcPts val="0"/>
              </a:spcBef>
              <a:buNone/>
            </a:pPr>
            <a:r>
              <a:rPr lang="en-IN" sz="1800" dirty="0"/>
              <a:t>public static void main(String </a:t>
            </a:r>
            <a:r>
              <a:rPr lang="en-IN" sz="1800" dirty="0" err="1"/>
              <a:t>args</a:t>
            </a:r>
            <a:r>
              <a:rPr lang="en-IN" sz="1800" dirty="0"/>
              <a:t>[]){  </a:t>
            </a:r>
          </a:p>
          <a:p>
            <a:pPr marL="0" indent="0">
              <a:lnSpc>
                <a:spcPct val="100000"/>
              </a:lnSpc>
              <a:spcBef>
                <a:spcPts val="0"/>
              </a:spcBef>
              <a:buNone/>
            </a:pPr>
            <a:r>
              <a:rPr lang="en-IN" sz="1800" dirty="0" err="1"/>
              <a:t>int</a:t>
            </a:r>
            <a:r>
              <a:rPr lang="en-IN" sz="1800" dirty="0"/>
              <a:t> a[]=new </a:t>
            </a:r>
            <a:r>
              <a:rPr lang="en-IN" sz="1800" dirty="0" err="1"/>
              <a:t>int</a:t>
            </a:r>
            <a:r>
              <a:rPr lang="en-IN" sz="1800" dirty="0"/>
              <a:t>[5];//declaration and instantiation  </a:t>
            </a:r>
          </a:p>
          <a:p>
            <a:pPr marL="0" indent="0">
              <a:lnSpc>
                <a:spcPct val="100000"/>
              </a:lnSpc>
              <a:spcBef>
                <a:spcPts val="0"/>
              </a:spcBef>
              <a:buNone/>
            </a:pPr>
            <a:r>
              <a:rPr lang="en-IN" sz="1800" dirty="0"/>
              <a:t>a[0]=10;//initialization  </a:t>
            </a:r>
          </a:p>
          <a:p>
            <a:pPr marL="0" indent="0">
              <a:lnSpc>
                <a:spcPct val="100000"/>
              </a:lnSpc>
              <a:spcBef>
                <a:spcPts val="0"/>
              </a:spcBef>
              <a:buNone/>
            </a:pPr>
            <a:r>
              <a:rPr lang="en-IN" sz="1800" dirty="0"/>
              <a:t>a[1]=20;  </a:t>
            </a:r>
          </a:p>
          <a:p>
            <a:pPr marL="0" indent="0">
              <a:lnSpc>
                <a:spcPct val="100000"/>
              </a:lnSpc>
              <a:spcBef>
                <a:spcPts val="0"/>
              </a:spcBef>
              <a:buNone/>
            </a:pPr>
            <a:r>
              <a:rPr lang="en-IN" sz="1800" dirty="0"/>
              <a:t>a[2]=70;  </a:t>
            </a:r>
          </a:p>
          <a:p>
            <a:pPr marL="0" indent="0">
              <a:lnSpc>
                <a:spcPct val="100000"/>
              </a:lnSpc>
              <a:spcBef>
                <a:spcPts val="0"/>
              </a:spcBef>
              <a:buNone/>
            </a:pPr>
            <a:r>
              <a:rPr lang="en-IN" sz="1800" dirty="0"/>
              <a:t>a[3]=40;  </a:t>
            </a:r>
          </a:p>
          <a:p>
            <a:pPr marL="0" indent="0">
              <a:lnSpc>
                <a:spcPct val="100000"/>
              </a:lnSpc>
              <a:spcBef>
                <a:spcPts val="0"/>
              </a:spcBef>
              <a:buNone/>
            </a:pPr>
            <a:r>
              <a:rPr lang="en-IN" sz="1800" dirty="0"/>
              <a:t>a[4]=50;  </a:t>
            </a:r>
          </a:p>
          <a:p>
            <a:pPr marL="0" indent="0">
              <a:lnSpc>
                <a:spcPct val="100000"/>
              </a:lnSpc>
              <a:spcBef>
                <a:spcPts val="0"/>
              </a:spcBef>
              <a:buNone/>
            </a:pPr>
            <a:r>
              <a:rPr lang="en-IN" sz="1800" dirty="0" smtClean="0"/>
              <a:t>for(</a:t>
            </a:r>
            <a:r>
              <a:rPr lang="en-IN" sz="1800" dirty="0" err="1" smtClean="0"/>
              <a:t>int</a:t>
            </a:r>
            <a:r>
              <a:rPr lang="en-IN" sz="1800" dirty="0" smtClean="0"/>
              <a:t> </a:t>
            </a:r>
            <a:r>
              <a:rPr lang="en-IN" sz="1800" dirty="0" err="1"/>
              <a:t>i</a:t>
            </a:r>
            <a:r>
              <a:rPr lang="en-IN" sz="1800" dirty="0"/>
              <a:t>=0;i&lt;</a:t>
            </a:r>
            <a:r>
              <a:rPr lang="en-IN" sz="1800" dirty="0" err="1"/>
              <a:t>a.length;i</a:t>
            </a:r>
            <a:r>
              <a:rPr lang="en-IN" sz="1800" dirty="0"/>
              <a:t>++)//length is the property of array  </a:t>
            </a:r>
          </a:p>
          <a:p>
            <a:pPr marL="0" indent="0">
              <a:lnSpc>
                <a:spcPct val="100000"/>
              </a:lnSpc>
              <a:spcBef>
                <a:spcPts val="0"/>
              </a:spcBef>
              <a:buNone/>
            </a:pPr>
            <a:r>
              <a:rPr lang="en-IN" sz="1800" dirty="0" err="1"/>
              <a:t>System.out.println</a:t>
            </a:r>
            <a:r>
              <a:rPr lang="en-IN" sz="1800" dirty="0"/>
              <a:t>(a[</a:t>
            </a:r>
            <a:r>
              <a:rPr lang="en-IN" sz="1800" dirty="0" err="1"/>
              <a:t>i</a:t>
            </a:r>
            <a:r>
              <a:rPr lang="en-IN" sz="1800" dirty="0"/>
              <a:t>]);  </a:t>
            </a:r>
          </a:p>
          <a:p>
            <a:pPr marL="0" indent="0">
              <a:lnSpc>
                <a:spcPct val="100000"/>
              </a:lnSpc>
              <a:spcBef>
                <a:spcPts val="0"/>
              </a:spcBef>
              <a:buNone/>
            </a:pPr>
            <a:r>
              <a:rPr lang="en-IN" sz="1800" dirty="0"/>
              <a:t>double b[]={</a:t>
            </a:r>
            <a:r>
              <a:rPr lang="en-IN" sz="1800" dirty="0" smtClean="0"/>
              <a:t>33.1,3.4,4.80,5.565}; </a:t>
            </a:r>
          </a:p>
          <a:p>
            <a:pPr marL="0" indent="0">
              <a:lnSpc>
                <a:spcPct val="100000"/>
              </a:lnSpc>
              <a:spcBef>
                <a:spcPts val="0"/>
              </a:spcBef>
              <a:buNone/>
            </a:pPr>
            <a:r>
              <a:rPr lang="en-IN" sz="1800" dirty="0" smtClean="0"/>
              <a:t>double total=0.0;</a:t>
            </a:r>
          </a:p>
          <a:p>
            <a:pPr marL="0" indent="0">
              <a:lnSpc>
                <a:spcPct val="100000"/>
              </a:lnSpc>
              <a:spcBef>
                <a:spcPts val="0"/>
              </a:spcBef>
              <a:buNone/>
            </a:pPr>
            <a:r>
              <a:rPr lang="en-IN" sz="1800" dirty="0" smtClean="0"/>
              <a:t>for(</a:t>
            </a:r>
            <a:r>
              <a:rPr lang="en-IN" sz="1800" dirty="0" err="1" smtClean="0"/>
              <a:t>int</a:t>
            </a:r>
            <a:r>
              <a:rPr lang="en-IN" sz="1800" dirty="0" smtClean="0"/>
              <a:t> </a:t>
            </a:r>
            <a:r>
              <a:rPr lang="en-IN" sz="1800" dirty="0" err="1"/>
              <a:t>i</a:t>
            </a:r>
            <a:r>
              <a:rPr lang="en-IN" sz="1800" dirty="0"/>
              <a:t>=0;i&lt;</a:t>
            </a:r>
            <a:r>
              <a:rPr lang="en-IN" sz="1800" dirty="0" err="1"/>
              <a:t>b.length;i</a:t>
            </a:r>
            <a:r>
              <a:rPr lang="en-IN" sz="1800" dirty="0"/>
              <a:t>++)//length is the property of array  </a:t>
            </a:r>
          </a:p>
          <a:p>
            <a:pPr marL="0" indent="0">
              <a:lnSpc>
                <a:spcPct val="100000"/>
              </a:lnSpc>
              <a:spcBef>
                <a:spcPts val="0"/>
              </a:spcBef>
              <a:buNone/>
            </a:pPr>
            <a:r>
              <a:rPr lang="en-IN" sz="1800" dirty="0"/>
              <a:t>{</a:t>
            </a:r>
          </a:p>
          <a:p>
            <a:pPr marL="0" indent="0">
              <a:lnSpc>
                <a:spcPct val="100000"/>
              </a:lnSpc>
              <a:spcBef>
                <a:spcPts val="0"/>
              </a:spcBef>
              <a:buNone/>
            </a:pPr>
            <a:r>
              <a:rPr lang="en-IN" sz="1800" dirty="0"/>
              <a:t>    </a:t>
            </a:r>
            <a:r>
              <a:rPr lang="en-IN" sz="1800" dirty="0" err="1"/>
              <a:t>System.out.println</a:t>
            </a:r>
            <a:r>
              <a:rPr lang="en-IN" sz="1800" dirty="0"/>
              <a:t>(b[</a:t>
            </a:r>
            <a:r>
              <a:rPr lang="en-IN" sz="1800" dirty="0" err="1"/>
              <a:t>i</a:t>
            </a:r>
            <a:r>
              <a:rPr lang="en-IN" sz="1800" dirty="0"/>
              <a:t>]); </a:t>
            </a:r>
          </a:p>
          <a:p>
            <a:pPr marL="0" indent="0">
              <a:lnSpc>
                <a:spcPct val="100000"/>
              </a:lnSpc>
              <a:spcBef>
                <a:spcPts val="0"/>
              </a:spcBef>
              <a:buNone/>
            </a:pPr>
            <a:r>
              <a:rPr lang="en-IN" sz="1800" dirty="0"/>
              <a:t>    total += b[</a:t>
            </a:r>
            <a:r>
              <a:rPr lang="en-IN" sz="1800" dirty="0" err="1"/>
              <a:t>i</a:t>
            </a:r>
            <a:r>
              <a:rPr lang="en-IN" sz="1800" dirty="0"/>
              <a:t>];</a:t>
            </a:r>
          </a:p>
          <a:p>
            <a:pPr marL="0" indent="0">
              <a:lnSpc>
                <a:spcPct val="100000"/>
              </a:lnSpc>
              <a:spcBef>
                <a:spcPts val="0"/>
              </a:spcBef>
              <a:buNone/>
            </a:pPr>
            <a:r>
              <a:rPr lang="en-IN" sz="1800" dirty="0" smtClean="0"/>
              <a:t>}</a:t>
            </a:r>
          </a:p>
          <a:p>
            <a:pPr marL="0" indent="0">
              <a:lnSpc>
                <a:spcPct val="100000"/>
              </a:lnSpc>
              <a:spcBef>
                <a:spcPts val="0"/>
              </a:spcBef>
              <a:buNone/>
            </a:pPr>
            <a:r>
              <a:rPr lang="en-IN" sz="1800" dirty="0" err="1"/>
              <a:t>System.out.println</a:t>
            </a:r>
            <a:r>
              <a:rPr lang="en-IN" sz="1800" dirty="0"/>
              <a:t>("total "+total);</a:t>
            </a:r>
          </a:p>
          <a:p>
            <a:pPr marL="0" indent="0">
              <a:lnSpc>
                <a:spcPct val="100000"/>
              </a:lnSpc>
              <a:spcBef>
                <a:spcPts val="0"/>
              </a:spcBef>
              <a:buNone/>
            </a:pPr>
            <a:r>
              <a:rPr lang="en-IN" sz="1800" dirty="0" err="1"/>
              <a:t>int</a:t>
            </a:r>
            <a:r>
              <a:rPr lang="en-IN" sz="1800" dirty="0"/>
              <a:t> </a:t>
            </a:r>
            <a:r>
              <a:rPr lang="en-IN" sz="1800" dirty="0" err="1"/>
              <a:t>arr</a:t>
            </a:r>
            <a:r>
              <a:rPr lang="en-IN" sz="1800" dirty="0"/>
              <a:t>[]={33,3,4,5};  </a:t>
            </a:r>
          </a:p>
          <a:p>
            <a:pPr marL="0" indent="0">
              <a:lnSpc>
                <a:spcPct val="100000"/>
              </a:lnSpc>
              <a:spcBef>
                <a:spcPts val="0"/>
              </a:spcBef>
              <a:buNone/>
            </a:pPr>
            <a:r>
              <a:rPr lang="en-IN" sz="1800" dirty="0" err="1" smtClean="0"/>
              <a:t>System.out.println</a:t>
            </a:r>
            <a:r>
              <a:rPr lang="en-IN" sz="1800" dirty="0"/>
              <a:t>("</a:t>
            </a:r>
            <a:r>
              <a:rPr lang="en-IN" sz="1800" dirty="0" err="1"/>
              <a:t>eg</a:t>
            </a:r>
            <a:r>
              <a:rPr lang="en-IN" sz="1800" dirty="0"/>
              <a:t> for </a:t>
            </a:r>
            <a:r>
              <a:rPr lang="en-IN" sz="1800" dirty="0" err="1"/>
              <a:t>foreach</a:t>
            </a:r>
            <a:r>
              <a:rPr lang="en-IN" sz="1800" dirty="0"/>
              <a:t>");</a:t>
            </a:r>
          </a:p>
          <a:p>
            <a:pPr marL="0" indent="0">
              <a:lnSpc>
                <a:spcPct val="100000"/>
              </a:lnSpc>
              <a:spcBef>
                <a:spcPts val="0"/>
              </a:spcBef>
              <a:buNone/>
            </a:pPr>
            <a:r>
              <a:rPr lang="en-IN" sz="1800" dirty="0"/>
              <a:t>for(</a:t>
            </a:r>
            <a:r>
              <a:rPr lang="en-IN" sz="1800" dirty="0" err="1"/>
              <a:t>int</a:t>
            </a:r>
            <a:r>
              <a:rPr lang="en-IN" sz="1800" dirty="0"/>
              <a:t> i:arr)  </a:t>
            </a:r>
          </a:p>
          <a:p>
            <a:pPr marL="0" indent="0">
              <a:lnSpc>
                <a:spcPct val="100000"/>
              </a:lnSpc>
              <a:spcBef>
                <a:spcPts val="0"/>
              </a:spcBef>
              <a:buNone/>
            </a:pPr>
            <a:r>
              <a:rPr lang="en-IN" sz="1800" dirty="0" err="1"/>
              <a:t>System.out.println</a:t>
            </a:r>
            <a:r>
              <a:rPr lang="en-IN" sz="1800" dirty="0"/>
              <a:t>(</a:t>
            </a:r>
            <a:r>
              <a:rPr lang="en-IN" sz="1800" dirty="0" err="1"/>
              <a:t>i</a:t>
            </a:r>
            <a:r>
              <a:rPr lang="en-IN" sz="1800" dirty="0"/>
              <a:t>);  </a:t>
            </a:r>
          </a:p>
          <a:p>
            <a:pPr marL="0" indent="0">
              <a:lnSpc>
                <a:spcPct val="100000"/>
              </a:lnSpc>
              <a:spcBef>
                <a:spcPts val="0"/>
              </a:spcBef>
              <a:buNone/>
            </a:pPr>
            <a:r>
              <a:rPr lang="en-IN" sz="1800" dirty="0"/>
              <a:t>}} </a:t>
            </a:r>
          </a:p>
          <a:p>
            <a:pPr marL="0" indent="0">
              <a:lnSpc>
                <a:spcPct val="100000"/>
              </a:lnSpc>
              <a:spcBef>
                <a:spcPts val="0"/>
              </a:spcBef>
              <a:buNone/>
            </a:pPr>
            <a:endParaRPr lang="en-IN" sz="1800" dirty="0"/>
          </a:p>
          <a:p>
            <a:pPr marL="0" indent="0">
              <a:lnSpc>
                <a:spcPct val="100000"/>
              </a:lnSpc>
              <a:spcBef>
                <a:spcPts val="0"/>
              </a:spcBef>
              <a:buNone/>
            </a:pPr>
            <a:endParaRPr lang="en-IN" sz="1800" dirty="0"/>
          </a:p>
          <a:p>
            <a:pPr marL="0" indent="0">
              <a:lnSpc>
                <a:spcPct val="100000"/>
              </a:lnSpc>
              <a:spcBef>
                <a:spcPts val="0"/>
              </a:spcBef>
              <a:buNone/>
            </a:pPr>
            <a:r>
              <a:rPr lang="en-IN" sz="1800" dirty="0"/>
              <a:t> </a:t>
            </a:r>
            <a:endParaRPr lang="en-IN" sz="1800" dirty="0" smtClean="0"/>
          </a:p>
        </p:txBody>
      </p:sp>
      <p:sp>
        <p:nvSpPr>
          <p:cNvPr id="4" name="Content Placeholder 3"/>
          <p:cNvSpPr>
            <a:spLocks noGrp="1"/>
          </p:cNvSpPr>
          <p:nvPr>
            <p:ph sz="half" idx="2"/>
          </p:nvPr>
        </p:nvSpPr>
        <p:spPr>
          <a:xfrm>
            <a:off x="6761018" y="124692"/>
            <a:ext cx="5430981" cy="6613734"/>
          </a:xfrm>
        </p:spPr>
        <p:txBody>
          <a:bodyPr>
            <a:normAutofit fontScale="92500" lnSpcReduction="10000"/>
          </a:bodyPr>
          <a:lstStyle/>
          <a:p>
            <a:pPr marL="0" indent="0">
              <a:lnSpc>
                <a:spcPct val="120000"/>
              </a:lnSpc>
              <a:spcBef>
                <a:spcPts val="0"/>
              </a:spcBef>
              <a:buNone/>
            </a:pPr>
            <a:r>
              <a:rPr lang="en-US" sz="1600" b="1" dirty="0"/>
              <a:t>Anonymous Array in Java</a:t>
            </a:r>
          </a:p>
          <a:p>
            <a:pPr marL="0" indent="0">
              <a:lnSpc>
                <a:spcPct val="120000"/>
              </a:lnSpc>
              <a:spcBef>
                <a:spcPts val="0"/>
              </a:spcBef>
              <a:buNone/>
            </a:pPr>
            <a:r>
              <a:rPr lang="en-US" sz="1600" dirty="0"/>
              <a:t>Java supports the feature of an anonymous </a:t>
            </a:r>
            <a:r>
              <a:rPr lang="en-US" sz="1600" dirty="0" smtClean="0"/>
              <a:t>array : </a:t>
            </a:r>
            <a:r>
              <a:rPr lang="en-US" sz="1600" b="1" dirty="0" smtClean="0"/>
              <a:t>Don’t need </a:t>
            </a:r>
            <a:r>
              <a:rPr lang="en-US" sz="1600" b="1" dirty="0"/>
              <a:t>to declare the array while passing an array to the method</a:t>
            </a:r>
            <a:r>
              <a:rPr lang="en-US" sz="1600" b="1" dirty="0" smtClean="0"/>
              <a:t>.</a:t>
            </a:r>
          </a:p>
          <a:p>
            <a:pPr marL="0" indent="0">
              <a:lnSpc>
                <a:spcPct val="120000"/>
              </a:lnSpc>
              <a:spcBef>
                <a:spcPts val="0"/>
              </a:spcBef>
              <a:buNone/>
            </a:pPr>
            <a:r>
              <a:rPr lang="en-IN" sz="1600" dirty="0"/>
              <a:t>For Anonymous array creation, do not mention size in []. The number of values passing inside {} will become the size</a:t>
            </a:r>
            <a:r>
              <a:rPr lang="en-IN" sz="1600" dirty="0" smtClean="0"/>
              <a:t>.</a:t>
            </a:r>
          </a:p>
          <a:p>
            <a:pPr marL="0" indent="0">
              <a:lnSpc>
                <a:spcPct val="120000"/>
              </a:lnSpc>
              <a:spcBef>
                <a:spcPts val="0"/>
              </a:spcBef>
              <a:buNone/>
            </a:pPr>
            <a:r>
              <a:rPr lang="en-US" sz="1600" b="1" dirty="0"/>
              <a:t>An anonymous array in Java is an array that is created and used without assigning it to a variable.</a:t>
            </a:r>
            <a:r>
              <a:rPr lang="en-US" sz="1600" dirty="0"/>
              <a:t> It's often used for one-time use cases, typically when passing an array as a parameter to a method.</a:t>
            </a:r>
            <a:endParaRPr lang="en-IN" sz="1600" dirty="0"/>
          </a:p>
          <a:p>
            <a:pPr marL="0" indent="0">
              <a:buNone/>
            </a:pPr>
            <a:r>
              <a:rPr lang="en-US" sz="1600" b="1" dirty="0"/>
              <a:t>When to Use Anonymous Arrays:</a:t>
            </a:r>
          </a:p>
          <a:p>
            <a:r>
              <a:rPr lang="en-US" sz="1600" dirty="0"/>
              <a:t>When you need to create an array for immediate use and don't need to reference it later.</a:t>
            </a:r>
          </a:p>
          <a:p>
            <a:r>
              <a:rPr lang="en-US" sz="1600" dirty="0"/>
              <a:t>When passing an array as an argument to a method.</a:t>
            </a:r>
          </a:p>
          <a:p>
            <a:pPr marL="0" indent="0">
              <a:lnSpc>
                <a:spcPct val="120000"/>
              </a:lnSpc>
              <a:spcBef>
                <a:spcPts val="0"/>
              </a:spcBef>
              <a:buNone/>
            </a:pPr>
            <a:endParaRPr lang="en-US" sz="1600" dirty="0" smtClean="0"/>
          </a:p>
          <a:p>
            <a:pPr marL="0" indent="0">
              <a:lnSpc>
                <a:spcPct val="120000"/>
              </a:lnSpc>
              <a:spcBef>
                <a:spcPts val="0"/>
              </a:spcBef>
              <a:buNone/>
            </a:pPr>
            <a:r>
              <a:rPr lang="en-IN" sz="1600" dirty="0"/>
              <a:t>class </a:t>
            </a:r>
            <a:r>
              <a:rPr lang="en-IN" sz="1600" dirty="0" err="1"/>
              <a:t>TestAnonymousArray</a:t>
            </a:r>
            <a:r>
              <a:rPr lang="en-IN" sz="1600" dirty="0"/>
              <a:t>{  </a:t>
            </a:r>
          </a:p>
          <a:p>
            <a:pPr marL="0" indent="0">
              <a:lnSpc>
                <a:spcPct val="120000"/>
              </a:lnSpc>
              <a:spcBef>
                <a:spcPts val="0"/>
              </a:spcBef>
              <a:buNone/>
            </a:pPr>
            <a:r>
              <a:rPr lang="en-IN" sz="1600" dirty="0"/>
              <a:t>//creating a method which receives an array as a parameter  </a:t>
            </a:r>
          </a:p>
          <a:p>
            <a:pPr marL="0" indent="0">
              <a:lnSpc>
                <a:spcPct val="120000"/>
              </a:lnSpc>
              <a:spcBef>
                <a:spcPts val="0"/>
              </a:spcBef>
              <a:buNone/>
            </a:pPr>
            <a:r>
              <a:rPr lang="en-IN" sz="1600" dirty="0"/>
              <a:t>void </a:t>
            </a:r>
            <a:r>
              <a:rPr lang="en-IN" sz="1600" dirty="0" err="1"/>
              <a:t>printArray</a:t>
            </a:r>
            <a:r>
              <a:rPr lang="en-IN" sz="1600" dirty="0"/>
              <a:t>(</a:t>
            </a:r>
            <a:r>
              <a:rPr lang="en-IN" sz="1600" dirty="0" err="1"/>
              <a:t>int</a:t>
            </a:r>
            <a:r>
              <a:rPr lang="en-IN" sz="1600" dirty="0"/>
              <a:t> </a:t>
            </a:r>
            <a:r>
              <a:rPr lang="en-IN" sz="1600" dirty="0" err="1"/>
              <a:t>arr</a:t>
            </a:r>
            <a:r>
              <a:rPr lang="en-IN" sz="1600" dirty="0"/>
              <a:t>[]){  </a:t>
            </a:r>
          </a:p>
          <a:p>
            <a:pPr marL="0" indent="0">
              <a:lnSpc>
                <a:spcPct val="120000"/>
              </a:lnSpc>
              <a:spcBef>
                <a:spcPts val="0"/>
              </a:spcBef>
              <a:buNone/>
            </a:pPr>
            <a:r>
              <a:rPr lang="en-IN" sz="1600" dirty="0"/>
              <a:t>for(</a:t>
            </a:r>
            <a:r>
              <a:rPr lang="en-IN" sz="1600" dirty="0" err="1"/>
              <a:t>int</a:t>
            </a:r>
            <a:r>
              <a:rPr lang="en-IN" sz="1600" dirty="0"/>
              <a:t> </a:t>
            </a:r>
            <a:r>
              <a:rPr lang="en-IN" sz="1600" dirty="0" err="1"/>
              <a:t>i</a:t>
            </a:r>
            <a:r>
              <a:rPr lang="en-IN" sz="1600" dirty="0"/>
              <a:t>=0;i&lt;</a:t>
            </a:r>
            <a:r>
              <a:rPr lang="en-IN" sz="1600" dirty="0" err="1"/>
              <a:t>arr.length;i</a:t>
            </a:r>
            <a:r>
              <a:rPr lang="en-IN" sz="1600" dirty="0"/>
              <a:t>++)  </a:t>
            </a:r>
          </a:p>
          <a:p>
            <a:pPr marL="0" indent="0">
              <a:lnSpc>
                <a:spcPct val="120000"/>
              </a:lnSpc>
              <a:spcBef>
                <a:spcPts val="0"/>
              </a:spcBef>
              <a:buNone/>
            </a:pPr>
            <a:r>
              <a:rPr lang="en-IN" sz="1600" dirty="0" err="1"/>
              <a:t>System.out.println</a:t>
            </a:r>
            <a:r>
              <a:rPr lang="en-IN" sz="1600" dirty="0"/>
              <a:t>(</a:t>
            </a:r>
            <a:r>
              <a:rPr lang="en-IN" sz="1600" dirty="0" err="1"/>
              <a:t>arr</a:t>
            </a:r>
            <a:r>
              <a:rPr lang="en-IN" sz="1600" dirty="0"/>
              <a:t>[</a:t>
            </a:r>
            <a:r>
              <a:rPr lang="en-IN" sz="1600" dirty="0" err="1"/>
              <a:t>i</a:t>
            </a:r>
            <a:r>
              <a:rPr lang="en-IN" sz="1600" dirty="0"/>
              <a:t>]);  </a:t>
            </a:r>
          </a:p>
          <a:p>
            <a:pPr marL="0" indent="0">
              <a:lnSpc>
                <a:spcPct val="120000"/>
              </a:lnSpc>
              <a:spcBef>
                <a:spcPts val="0"/>
              </a:spcBef>
              <a:buNone/>
            </a:pPr>
            <a:r>
              <a:rPr lang="en-IN" sz="1600" dirty="0"/>
              <a:t>}  }</a:t>
            </a:r>
          </a:p>
          <a:p>
            <a:pPr marL="0" indent="0">
              <a:lnSpc>
                <a:spcPct val="120000"/>
              </a:lnSpc>
              <a:spcBef>
                <a:spcPts val="0"/>
              </a:spcBef>
              <a:buNone/>
            </a:pPr>
            <a:r>
              <a:rPr lang="en-IN" sz="1600" dirty="0"/>
              <a:t> public class test{</a:t>
            </a:r>
          </a:p>
          <a:p>
            <a:pPr marL="0" indent="0">
              <a:lnSpc>
                <a:spcPct val="120000"/>
              </a:lnSpc>
              <a:spcBef>
                <a:spcPts val="0"/>
              </a:spcBef>
              <a:buNone/>
            </a:pPr>
            <a:r>
              <a:rPr lang="en-IN" sz="1600" dirty="0"/>
              <a:t>public static void main(String </a:t>
            </a:r>
            <a:r>
              <a:rPr lang="en-IN" sz="1600" dirty="0" err="1"/>
              <a:t>args</a:t>
            </a:r>
            <a:r>
              <a:rPr lang="en-IN" sz="1600" dirty="0"/>
              <a:t>[]){ </a:t>
            </a:r>
          </a:p>
          <a:p>
            <a:pPr marL="0" indent="0">
              <a:lnSpc>
                <a:spcPct val="120000"/>
              </a:lnSpc>
              <a:spcBef>
                <a:spcPts val="0"/>
              </a:spcBef>
              <a:buNone/>
            </a:pPr>
            <a:r>
              <a:rPr lang="en-IN" sz="1600" dirty="0"/>
              <a:t>    </a:t>
            </a:r>
            <a:r>
              <a:rPr lang="en-IN" sz="1600" dirty="0" err="1"/>
              <a:t>TestAnonymousArray</a:t>
            </a:r>
            <a:r>
              <a:rPr lang="en-IN" sz="1600" dirty="0"/>
              <a:t> t1= new </a:t>
            </a:r>
            <a:r>
              <a:rPr lang="en-IN" sz="1600" dirty="0" err="1"/>
              <a:t>TestAnonymousArray</a:t>
            </a:r>
            <a:r>
              <a:rPr lang="en-IN" sz="1600" dirty="0"/>
              <a:t>();</a:t>
            </a:r>
          </a:p>
          <a:p>
            <a:pPr marL="0" indent="0">
              <a:lnSpc>
                <a:spcPct val="120000"/>
              </a:lnSpc>
              <a:spcBef>
                <a:spcPts val="0"/>
              </a:spcBef>
              <a:buNone/>
            </a:pPr>
            <a:r>
              <a:rPr lang="en-IN" sz="1600" dirty="0"/>
              <a:t>t1.printArray(new </a:t>
            </a:r>
            <a:r>
              <a:rPr lang="en-IN" sz="1600" dirty="0" err="1"/>
              <a:t>int</a:t>
            </a:r>
            <a:r>
              <a:rPr lang="en-IN" sz="1600" dirty="0"/>
              <a:t>[]{10,22,44,66});//passing anonymous array to method  </a:t>
            </a:r>
          </a:p>
          <a:p>
            <a:pPr marL="0" indent="0">
              <a:lnSpc>
                <a:spcPct val="120000"/>
              </a:lnSpc>
              <a:spcBef>
                <a:spcPts val="0"/>
              </a:spcBef>
              <a:buNone/>
            </a:pPr>
            <a:r>
              <a:rPr lang="en-IN" sz="1600" dirty="0"/>
              <a:t>}} </a:t>
            </a:r>
          </a:p>
        </p:txBody>
      </p:sp>
    </p:spTree>
    <p:extLst>
      <p:ext uri="{BB962C8B-B14F-4D97-AF65-F5344CB8AC3E}">
        <p14:creationId xmlns:p14="http://schemas.microsoft.com/office/powerpoint/2010/main" val="79549853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29"/>
          </a:xfrm>
        </p:spPr>
        <p:txBody>
          <a:bodyPr>
            <a:noAutofit/>
          </a:bodyPr>
          <a:lstStyle/>
          <a:p>
            <a:r>
              <a:rPr lang="en-US" sz="3200" dirty="0" smtClean="0"/>
              <a:t>Java-Arrays</a:t>
            </a:r>
            <a:endParaRPr lang="en-US" sz="3200" dirty="0"/>
          </a:p>
        </p:txBody>
      </p:sp>
      <p:sp>
        <p:nvSpPr>
          <p:cNvPr id="3" name="Content Placeholder 2"/>
          <p:cNvSpPr>
            <a:spLocks noGrp="1"/>
          </p:cNvSpPr>
          <p:nvPr>
            <p:ph sz="half" idx="1"/>
          </p:nvPr>
        </p:nvSpPr>
        <p:spPr>
          <a:xfrm>
            <a:off x="134816" y="394529"/>
            <a:ext cx="6127440" cy="6343895"/>
          </a:xfrm>
        </p:spPr>
        <p:txBody>
          <a:bodyPr>
            <a:noAutofit/>
          </a:bodyPr>
          <a:lstStyle/>
          <a:p>
            <a:pPr marL="0" indent="0">
              <a:lnSpc>
                <a:spcPct val="100000"/>
              </a:lnSpc>
              <a:spcBef>
                <a:spcPts val="0"/>
              </a:spcBef>
              <a:buNone/>
            </a:pPr>
            <a:r>
              <a:rPr lang="en-US" sz="1800" b="1" dirty="0"/>
              <a:t>Passing an array to </a:t>
            </a:r>
            <a:r>
              <a:rPr lang="en-US" sz="1800" b="1" dirty="0" smtClean="0"/>
              <a:t>method</a:t>
            </a:r>
          </a:p>
          <a:p>
            <a:pPr marL="0" indent="0">
              <a:lnSpc>
                <a:spcPct val="100000"/>
              </a:lnSpc>
              <a:spcBef>
                <a:spcPts val="0"/>
              </a:spcBef>
              <a:buNone/>
            </a:pPr>
            <a:endParaRPr lang="en-US" sz="1800" dirty="0"/>
          </a:p>
          <a:p>
            <a:pPr marL="0" indent="0">
              <a:lnSpc>
                <a:spcPct val="100000"/>
              </a:lnSpc>
              <a:spcBef>
                <a:spcPts val="0"/>
              </a:spcBef>
              <a:buNone/>
            </a:pPr>
            <a:r>
              <a:rPr lang="en-IN" sz="1800" dirty="0"/>
              <a:t>class Testarray2{</a:t>
            </a:r>
          </a:p>
          <a:p>
            <a:pPr marL="0" indent="0">
              <a:lnSpc>
                <a:spcPct val="100000"/>
              </a:lnSpc>
              <a:spcBef>
                <a:spcPts val="0"/>
              </a:spcBef>
              <a:buNone/>
            </a:pPr>
            <a:r>
              <a:rPr lang="en-IN" sz="1800" dirty="0"/>
              <a:t>void min(</a:t>
            </a:r>
            <a:r>
              <a:rPr lang="en-IN" sz="1800" dirty="0" err="1"/>
              <a:t>int</a:t>
            </a:r>
            <a:r>
              <a:rPr lang="en-IN" sz="1800" dirty="0"/>
              <a:t> </a:t>
            </a:r>
            <a:r>
              <a:rPr lang="en-IN" sz="1800" dirty="0" err="1"/>
              <a:t>arr</a:t>
            </a:r>
            <a:r>
              <a:rPr lang="en-IN" sz="1800" dirty="0"/>
              <a:t>[]){</a:t>
            </a:r>
          </a:p>
          <a:p>
            <a:pPr marL="0" indent="0">
              <a:lnSpc>
                <a:spcPct val="100000"/>
              </a:lnSpc>
              <a:spcBef>
                <a:spcPts val="0"/>
              </a:spcBef>
              <a:buNone/>
            </a:pPr>
            <a:r>
              <a:rPr lang="en-IN" sz="1800" dirty="0" err="1"/>
              <a:t>int</a:t>
            </a:r>
            <a:r>
              <a:rPr lang="en-IN" sz="1800" dirty="0"/>
              <a:t> min=</a:t>
            </a:r>
            <a:r>
              <a:rPr lang="en-IN" sz="1800" dirty="0" err="1"/>
              <a:t>arr</a:t>
            </a:r>
            <a:r>
              <a:rPr lang="en-IN" sz="1800" dirty="0"/>
              <a:t>[0];</a:t>
            </a:r>
          </a:p>
          <a:p>
            <a:pPr marL="0" indent="0">
              <a:lnSpc>
                <a:spcPct val="100000"/>
              </a:lnSpc>
              <a:spcBef>
                <a:spcPts val="0"/>
              </a:spcBef>
              <a:buNone/>
            </a:pPr>
            <a:r>
              <a:rPr lang="en-IN" sz="1800" dirty="0"/>
              <a:t>for(</a:t>
            </a:r>
            <a:r>
              <a:rPr lang="en-IN" sz="1800" dirty="0" err="1"/>
              <a:t>int</a:t>
            </a:r>
            <a:r>
              <a:rPr lang="en-IN" sz="1800" dirty="0"/>
              <a:t> </a:t>
            </a:r>
            <a:r>
              <a:rPr lang="en-IN" sz="1800" dirty="0" err="1"/>
              <a:t>i</a:t>
            </a:r>
            <a:r>
              <a:rPr lang="en-IN" sz="1800" dirty="0"/>
              <a:t>=1;i&lt;</a:t>
            </a:r>
            <a:r>
              <a:rPr lang="en-IN" sz="1800" dirty="0" err="1"/>
              <a:t>arr.length;i</a:t>
            </a:r>
            <a:r>
              <a:rPr lang="en-IN" sz="1800" dirty="0"/>
              <a:t>++)</a:t>
            </a:r>
          </a:p>
          <a:p>
            <a:pPr marL="0" indent="0">
              <a:lnSpc>
                <a:spcPct val="100000"/>
              </a:lnSpc>
              <a:spcBef>
                <a:spcPts val="0"/>
              </a:spcBef>
              <a:buNone/>
            </a:pPr>
            <a:r>
              <a:rPr lang="en-IN" sz="1800" dirty="0"/>
              <a:t> if(min&gt;</a:t>
            </a:r>
            <a:r>
              <a:rPr lang="en-IN" sz="1800" dirty="0" err="1"/>
              <a:t>arr</a:t>
            </a:r>
            <a:r>
              <a:rPr lang="en-IN" sz="1800" dirty="0"/>
              <a:t>[</a:t>
            </a:r>
            <a:r>
              <a:rPr lang="en-IN" sz="1800" dirty="0" err="1"/>
              <a:t>i</a:t>
            </a:r>
            <a:r>
              <a:rPr lang="en-IN" sz="1800" dirty="0"/>
              <a:t>])</a:t>
            </a:r>
          </a:p>
          <a:p>
            <a:pPr marL="0" indent="0">
              <a:lnSpc>
                <a:spcPct val="100000"/>
              </a:lnSpc>
              <a:spcBef>
                <a:spcPts val="0"/>
              </a:spcBef>
              <a:buNone/>
            </a:pPr>
            <a:r>
              <a:rPr lang="en-IN" sz="1800" dirty="0"/>
              <a:t>  min=</a:t>
            </a:r>
            <a:r>
              <a:rPr lang="en-IN" sz="1800" dirty="0" err="1"/>
              <a:t>arr</a:t>
            </a:r>
            <a:r>
              <a:rPr lang="en-IN" sz="1800" dirty="0"/>
              <a:t>[</a:t>
            </a:r>
            <a:r>
              <a:rPr lang="en-IN" sz="1800" dirty="0" err="1"/>
              <a:t>i</a:t>
            </a:r>
            <a:r>
              <a:rPr lang="en-IN" sz="1800" dirty="0"/>
              <a:t>];</a:t>
            </a:r>
          </a:p>
          <a:p>
            <a:pPr marL="0" indent="0">
              <a:lnSpc>
                <a:spcPct val="100000"/>
              </a:lnSpc>
              <a:spcBef>
                <a:spcPts val="0"/>
              </a:spcBef>
              <a:buNone/>
            </a:pPr>
            <a:endParaRPr lang="en-IN" sz="1800" dirty="0"/>
          </a:p>
          <a:p>
            <a:pPr marL="0" indent="0">
              <a:lnSpc>
                <a:spcPct val="100000"/>
              </a:lnSpc>
              <a:spcBef>
                <a:spcPts val="0"/>
              </a:spcBef>
              <a:buNone/>
            </a:pPr>
            <a:r>
              <a:rPr lang="en-IN" sz="1800" dirty="0" err="1"/>
              <a:t>System.out.println</a:t>
            </a:r>
            <a:r>
              <a:rPr lang="en-IN" sz="1800" dirty="0"/>
              <a:t>(min);</a:t>
            </a:r>
          </a:p>
          <a:p>
            <a:pPr marL="0" indent="0">
              <a:lnSpc>
                <a:spcPct val="100000"/>
              </a:lnSpc>
              <a:spcBef>
                <a:spcPts val="0"/>
              </a:spcBef>
              <a:buNone/>
            </a:pPr>
            <a:r>
              <a:rPr lang="en-IN" sz="1800" dirty="0"/>
              <a:t>}}</a:t>
            </a:r>
          </a:p>
          <a:p>
            <a:pPr marL="0" indent="0">
              <a:lnSpc>
                <a:spcPct val="100000"/>
              </a:lnSpc>
              <a:spcBef>
                <a:spcPts val="0"/>
              </a:spcBef>
              <a:buNone/>
            </a:pPr>
            <a:r>
              <a:rPr lang="en-IN" sz="1800" dirty="0"/>
              <a:t>public class test{</a:t>
            </a:r>
          </a:p>
          <a:p>
            <a:pPr marL="0" indent="0">
              <a:lnSpc>
                <a:spcPct val="100000"/>
              </a:lnSpc>
              <a:spcBef>
                <a:spcPts val="0"/>
              </a:spcBef>
              <a:buNone/>
            </a:pPr>
            <a:r>
              <a:rPr lang="en-IN" sz="1800" dirty="0"/>
              <a:t>public static void main(String </a:t>
            </a:r>
            <a:r>
              <a:rPr lang="en-IN" sz="1800" dirty="0" err="1"/>
              <a:t>args</a:t>
            </a:r>
            <a:r>
              <a:rPr lang="en-IN" sz="1800" dirty="0"/>
              <a:t>[]){</a:t>
            </a:r>
          </a:p>
          <a:p>
            <a:pPr marL="0" indent="0">
              <a:lnSpc>
                <a:spcPct val="100000"/>
              </a:lnSpc>
              <a:spcBef>
                <a:spcPts val="0"/>
              </a:spcBef>
              <a:buNone/>
            </a:pPr>
            <a:r>
              <a:rPr lang="en-IN" sz="1800" dirty="0"/>
              <a:t>Testarray2 t= new Testarray2();</a:t>
            </a:r>
          </a:p>
          <a:p>
            <a:pPr marL="0" indent="0">
              <a:lnSpc>
                <a:spcPct val="100000"/>
              </a:lnSpc>
              <a:spcBef>
                <a:spcPts val="0"/>
              </a:spcBef>
              <a:buNone/>
            </a:pPr>
            <a:r>
              <a:rPr lang="en-IN" sz="1800" dirty="0" err="1"/>
              <a:t>int</a:t>
            </a:r>
            <a:r>
              <a:rPr lang="en-IN" sz="1800" dirty="0"/>
              <a:t> a[]={33,3,4,5};</a:t>
            </a:r>
          </a:p>
          <a:p>
            <a:pPr marL="0" indent="0">
              <a:lnSpc>
                <a:spcPct val="100000"/>
              </a:lnSpc>
              <a:spcBef>
                <a:spcPts val="0"/>
              </a:spcBef>
              <a:buNone/>
            </a:pPr>
            <a:r>
              <a:rPr lang="en-IN" sz="1800" dirty="0" err="1"/>
              <a:t>t.min</a:t>
            </a:r>
            <a:r>
              <a:rPr lang="en-IN" sz="1800" dirty="0"/>
              <a:t>(a);//passing array to method</a:t>
            </a:r>
          </a:p>
          <a:p>
            <a:pPr marL="0" indent="0">
              <a:lnSpc>
                <a:spcPct val="100000"/>
              </a:lnSpc>
              <a:spcBef>
                <a:spcPts val="0"/>
              </a:spcBef>
              <a:buNone/>
            </a:pPr>
            <a:endParaRPr lang="en-IN" sz="1800" dirty="0"/>
          </a:p>
          <a:p>
            <a:pPr marL="0" indent="0">
              <a:lnSpc>
                <a:spcPct val="100000"/>
              </a:lnSpc>
              <a:spcBef>
                <a:spcPts val="0"/>
              </a:spcBef>
              <a:buNone/>
            </a:pPr>
            <a:r>
              <a:rPr lang="en-IN" sz="1800" dirty="0"/>
              <a:t>}}</a:t>
            </a:r>
          </a:p>
          <a:p>
            <a:pPr marL="0" indent="0">
              <a:lnSpc>
                <a:spcPct val="100000"/>
              </a:lnSpc>
              <a:spcBef>
                <a:spcPts val="0"/>
              </a:spcBef>
              <a:buNone/>
            </a:pPr>
            <a:endParaRPr lang="en-IN" sz="1800" dirty="0"/>
          </a:p>
          <a:p>
            <a:pPr marL="0" indent="0">
              <a:lnSpc>
                <a:spcPct val="100000"/>
              </a:lnSpc>
              <a:spcBef>
                <a:spcPts val="0"/>
              </a:spcBef>
              <a:buNone/>
            </a:pPr>
            <a:endParaRPr lang="en-IN" sz="1800" dirty="0"/>
          </a:p>
          <a:p>
            <a:pPr marL="0" indent="0">
              <a:lnSpc>
                <a:spcPct val="100000"/>
              </a:lnSpc>
              <a:spcBef>
                <a:spcPts val="0"/>
              </a:spcBef>
              <a:buNone/>
            </a:pPr>
            <a:r>
              <a:rPr lang="en-IN" sz="1800" dirty="0"/>
              <a:t> </a:t>
            </a:r>
            <a:endParaRPr lang="en-IN" sz="1800" dirty="0" smtClean="0"/>
          </a:p>
        </p:txBody>
      </p:sp>
      <p:sp>
        <p:nvSpPr>
          <p:cNvPr id="4" name="Content Placeholder 3"/>
          <p:cNvSpPr>
            <a:spLocks noGrp="1"/>
          </p:cNvSpPr>
          <p:nvPr>
            <p:ph sz="half" idx="2"/>
          </p:nvPr>
        </p:nvSpPr>
        <p:spPr>
          <a:xfrm>
            <a:off x="6761018" y="124692"/>
            <a:ext cx="5430981" cy="6613734"/>
          </a:xfrm>
        </p:spPr>
        <p:txBody>
          <a:bodyPr>
            <a:normAutofit/>
          </a:bodyPr>
          <a:lstStyle/>
          <a:p>
            <a:pPr marL="0" indent="0">
              <a:lnSpc>
                <a:spcPct val="120000"/>
              </a:lnSpc>
              <a:spcBef>
                <a:spcPts val="0"/>
              </a:spcBef>
              <a:buNone/>
            </a:pPr>
            <a:r>
              <a:rPr lang="en-US" sz="1600" b="1" dirty="0"/>
              <a:t>Returning Array from the </a:t>
            </a:r>
            <a:r>
              <a:rPr lang="en-US" sz="1600" b="1" dirty="0" smtClean="0"/>
              <a:t>Method</a:t>
            </a:r>
          </a:p>
          <a:p>
            <a:pPr marL="0" indent="0">
              <a:lnSpc>
                <a:spcPct val="120000"/>
              </a:lnSpc>
              <a:spcBef>
                <a:spcPts val="0"/>
              </a:spcBef>
              <a:buNone/>
            </a:pPr>
            <a:r>
              <a:rPr lang="en-IN" sz="1600" b="1" dirty="0"/>
              <a:t>Method returning the array must have the return type as an array of the same data type as that of the array being returned. </a:t>
            </a:r>
            <a:endParaRPr lang="en-US" sz="1600" b="1" dirty="0" smtClean="0"/>
          </a:p>
          <a:p>
            <a:pPr marL="0" indent="0">
              <a:lnSpc>
                <a:spcPct val="120000"/>
              </a:lnSpc>
              <a:spcBef>
                <a:spcPts val="0"/>
              </a:spcBef>
              <a:buNone/>
            </a:pPr>
            <a:r>
              <a:rPr lang="en-US" sz="1600" dirty="0"/>
              <a:t>class </a:t>
            </a:r>
            <a:r>
              <a:rPr lang="en-US" sz="1600" dirty="0" err="1"/>
              <a:t>TestReturnArray</a:t>
            </a:r>
            <a:r>
              <a:rPr lang="en-US" sz="1600" dirty="0"/>
              <a:t>{  </a:t>
            </a:r>
          </a:p>
          <a:p>
            <a:pPr marL="0" indent="0">
              <a:lnSpc>
                <a:spcPct val="120000"/>
              </a:lnSpc>
              <a:spcBef>
                <a:spcPts val="0"/>
              </a:spcBef>
              <a:buNone/>
            </a:pPr>
            <a:r>
              <a:rPr lang="en-US" sz="1600" dirty="0"/>
              <a:t>//creating method which returns an array  </a:t>
            </a:r>
          </a:p>
          <a:p>
            <a:pPr marL="0" indent="0">
              <a:lnSpc>
                <a:spcPct val="120000"/>
              </a:lnSpc>
              <a:spcBef>
                <a:spcPts val="0"/>
              </a:spcBef>
              <a:buNone/>
            </a:pPr>
            <a:r>
              <a:rPr lang="en-US" sz="1600" dirty="0"/>
              <a:t> </a:t>
            </a:r>
            <a:r>
              <a:rPr lang="en-US" sz="1600" dirty="0" err="1"/>
              <a:t>int</a:t>
            </a:r>
            <a:r>
              <a:rPr lang="en-US" sz="1600" dirty="0"/>
              <a:t>[] get(){  </a:t>
            </a:r>
          </a:p>
          <a:p>
            <a:pPr marL="0" indent="0">
              <a:lnSpc>
                <a:spcPct val="120000"/>
              </a:lnSpc>
              <a:spcBef>
                <a:spcPts val="0"/>
              </a:spcBef>
              <a:buNone/>
            </a:pPr>
            <a:r>
              <a:rPr lang="en-US" sz="1600" dirty="0"/>
              <a:t>return new </a:t>
            </a:r>
            <a:r>
              <a:rPr lang="en-US" sz="1600" dirty="0" err="1"/>
              <a:t>int</a:t>
            </a:r>
            <a:r>
              <a:rPr lang="en-US" sz="1600" dirty="0"/>
              <a:t>[]{10,30,50,90,60};  </a:t>
            </a:r>
          </a:p>
          <a:p>
            <a:pPr marL="0" indent="0">
              <a:lnSpc>
                <a:spcPct val="120000"/>
              </a:lnSpc>
              <a:spcBef>
                <a:spcPts val="0"/>
              </a:spcBef>
              <a:buNone/>
            </a:pPr>
            <a:r>
              <a:rPr lang="en-US" sz="1600" dirty="0"/>
              <a:t>}  </a:t>
            </a:r>
          </a:p>
          <a:p>
            <a:pPr marL="0" indent="0">
              <a:lnSpc>
                <a:spcPct val="120000"/>
              </a:lnSpc>
              <a:spcBef>
                <a:spcPts val="0"/>
              </a:spcBef>
              <a:buNone/>
            </a:pPr>
            <a:r>
              <a:rPr lang="en-US" sz="1600" dirty="0"/>
              <a:t>}</a:t>
            </a:r>
          </a:p>
          <a:p>
            <a:pPr marL="0" indent="0">
              <a:lnSpc>
                <a:spcPct val="120000"/>
              </a:lnSpc>
              <a:spcBef>
                <a:spcPts val="0"/>
              </a:spcBef>
              <a:buNone/>
            </a:pPr>
            <a:r>
              <a:rPr lang="en-US" sz="1600" dirty="0"/>
              <a:t>public class test{</a:t>
            </a:r>
          </a:p>
          <a:p>
            <a:pPr marL="0" indent="0">
              <a:lnSpc>
                <a:spcPct val="120000"/>
              </a:lnSpc>
              <a:spcBef>
                <a:spcPts val="0"/>
              </a:spcBef>
              <a:buNone/>
            </a:pPr>
            <a:r>
              <a:rPr lang="en-US" sz="1600" dirty="0"/>
              <a:t>public static void main(String </a:t>
            </a:r>
            <a:r>
              <a:rPr lang="en-US" sz="1600" dirty="0" err="1"/>
              <a:t>args</a:t>
            </a:r>
            <a:r>
              <a:rPr lang="en-US" sz="1600" dirty="0"/>
              <a:t>[]){  </a:t>
            </a:r>
          </a:p>
          <a:p>
            <a:pPr marL="0" indent="0">
              <a:lnSpc>
                <a:spcPct val="120000"/>
              </a:lnSpc>
              <a:spcBef>
                <a:spcPts val="0"/>
              </a:spcBef>
              <a:buNone/>
            </a:pPr>
            <a:r>
              <a:rPr lang="en-US" sz="1600" dirty="0"/>
              <a:t>   </a:t>
            </a:r>
            <a:r>
              <a:rPr lang="en-US" sz="1600" dirty="0" err="1"/>
              <a:t>TestReturnArray</a:t>
            </a:r>
            <a:r>
              <a:rPr lang="en-US" sz="1600" dirty="0"/>
              <a:t> t1= new </a:t>
            </a:r>
            <a:r>
              <a:rPr lang="en-US" sz="1600" dirty="0" err="1"/>
              <a:t>TestReturnArray</a:t>
            </a:r>
            <a:r>
              <a:rPr lang="en-US" sz="1600" dirty="0"/>
              <a:t>(); </a:t>
            </a:r>
          </a:p>
          <a:p>
            <a:pPr marL="0" indent="0">
              <a:lnSpc>
                <a:spcPct val="120000"/>
              </a:lnSpc>
              <a:spcBef>
                <a:spcPts val="0"/>
              </a:spcBef>
              <a:buNone/>
            </a:pPr>
            <a:r>
              <a:rPr lang="en-US" sz="1600" dirty="0"/>
              <a:t>//calling method which returns an array  </a:t>
            </a:r>
          </a:p>
          <a:p>
            <a:pPr marL="0" indent="0">
              <a:lnSpc>
                <a:spcPct val="120000"/>
              </a:lnSpc>
              <a:spcBef>
                <a:spcPts val="0"/>
              </a:spcBef>
              <a:buNone/>
            </a:pPr>
            <a:r>
              <a:rPr lang="en-US" sz="1600" dirty="0" err="1"/>
              <a:t>int</a:t>
            </a:r>
            <a:r>
              <a:rPr lang="en-US" sz="1600" dirty="0"/>
              <a:t> </a:t>
            </a:r>
            <a:r>
              <a:rPr lang="en-US" sz="1600" dirty="0" err="1"/>
              <a:t>arr</a:t>
            </a:r>
            <a:r>
              <a:rPr lang="en-US" sz="1600" dirty="0"/>
              <a:t>[]=t1.get();  </a:t>
            </a:r>
          </a:p>
          <a:p>
            <a:pPr marL="0" indent="0">
              <a:lnSpc>
                <a:spcPct val="120000"/>
              </a:lnSpc>
              <a:spcBef>
                <a:spcPts val="0"/>
              </a:spcBef>
              <a:buNone/>
            </a:pPr>
            <a:r>
              <a:rPr lang="en-US" sz="1600" dirty="0"/>
              <a:t>//printing the values of an array  </a:t>
            </a:r>
          </a:p>
          <a:p>
            <a:pPr marL="0" indent="0">
              <a:lnSpc>
                <a:spcPct val="120000"/>
              </a:lnSpc>
              <a:spcBef>
                <a:spcPts val="0"/>
              </a:spcBef>
              <a:buNone/>
            </a:pPr>
            <a:r>
              <a:rPr lang="en-US" sz="1600" dirty="0"/>
              <a:t>for(</a:t>
            </a:r>
            <a:r>
              <a:rPr lang="en-US" sz="1600" dirty="0" err="1"/>
              <a:t>int</a:t>
            </a:r>
            <a:r>
              <a:rPr lang="en-US" sz="1600" dirty="0"/>
              <a:t> </a:t>
            </a:r>
            <a:r>
              <a:rPr lang="en-US" sz="1600" dirty="0" err="1"/>
              <a:t>i</a:t>
            </a:r>
            <a:r>
              <a:rPr lang="en-US" sz="1600" dirty="0"/>
              <a:t>=0;i&lt;</a:t>
            </a:r>
            <a:r>
              <a:rPr lang="en-US" sz="1600" dirty="0" err="1"/>
              <a:t>arr.length;i</a:t>
            </a:r>
            <a:r>
              <a:rPr lang="en-US" sz="1600" dirty="0"/>
              <a:t>++)  </a:t>
            </a:r>
          </a:p>
          <a:p>
            <a:pPr marL="0" indent="0">
              <a:lnSpc>
                <a:spcPct val="120000"/>
              </a:lnSpc>
              <a:spcBef>
                <a:spcPts val="0"/>
              </a:spcBef>
              <a:buNone/>
            </a:pPr>
            <a:r>
              <a:rPr lang="en-US" sz="1600" dirty="0" err="1"/>
              <a:t>System.out.println</a:t>
            </a:r>
            <a:r>
              <a:rPr lang="en-US" sz="1600" dirty="0"/>
              <a:t>(</a:t>
            </a:r>
            <a:r>
              <a:rPr lang="en-US" sz="1600" dirty="0" err="1"/>
              <a:t>arr</a:t>
            </a:r>
            <a:r>
              <a:rPr lang="en-US" sz="1600" dirty="0"/>
              <a:t>[</a:t>
            </a:r>
            <a:r>
              <a:rPr lang="en-US" sz="1600" dirty="0" err="1"/>
              <a:t>i</a:t>
            </a:r>
            <a:r>
              <a:rPr lang="en-US" sz="1600" dirty="0"/>
              <a:t>]);  </a:t>
            </a:r>
          </a:p>
          <a:p>
            <a:pPr marL="0" indent="0">
              <a:lnSpc>
                <a:spcPct val="120000"/>
              </a:lnSpc>
              <a:spcBef>
                <a:spcPts val="0"/>
              </a:spcBef>
              <a:buNone/>
            </a:pPr>
            <a:r>
              <a:rPr lang="en-US" sz="1600" dirty="0"/>
              <a:t>}} </a:t>
            </a:r>
            <a:endParaRPr lang="en-IN" sz="1600" dirty="0"/>
          </a:p>
        </p:txBody>
      </p:sp>
    </p:spTree>
    <p:extLst>
      <p:ext uri="{BB962C8B-B14F-4D97-AF65-F5344CB8AC3E}">
        <p14:creationId xmlns:p14="http://schemas.microsoft.com/office/powerpoint/2010/main" val="424280992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Java-Arrays</a:t>
            </a:r>
            <a:endParaRPr lang="en-US" dirty="0"/>
          </a:p>
        </p:txBody>
      </p:sp>
      <p:sp>
        <p:nvSpPr>
          <p:cNvPr id="3" name="Content Placeholder 2"/>
          <p:cNvSpPr>
            <a:spLocks noGrp="1"/>
          </p:cNvSpPr>
          <p:nvPr>
            <p:ph sz="half" idx="1"/>
          </p:nvPr>
        </p:nvSpPr>
        <p:spPr>
          <a:xfrm>
            <a:off x="134815" y="394529"/>
            <a:ext cx="7499040" cy="6343895"/>
          </a:xfrm>
        </p:spPr>
        <p:txBody>
          <a:bodyPr>
            <a:noAutofit/>
          </a:bodyPr>
          <a:lstStyle/>
          <a:p>
            <a:pPr marL="0" indent="0">
              <a:buNone/>
            </a:pPr>
            <a:r>
              <a:rPr lang="en-US" sz="2000" b="1" dirty="0"/>
              <a:t>Multidimensional Array </a:t>
            </a:r>
            <a:r>
              <a:rPr lang="en-US" sz="2000" dirty="0"/>
              <a:t>: </a:t>
            </a:r>
            <a:r>
              <a:rPr lang="en-US" sz="2000" dirty="0" smtClean="0"/>
              <a:t>Data </a:t>
            </a:r>
            <a:r>
              <a:rPr lang="en-US" sz="2000" dirty="0"/>
              <a:t>is stored in row and column based index</a:t>
            </a:r>
          </a:p>
          <a:p>
            <a:pPr marL="0" indent="0">
              <a:buNone/>
            </a:pPr>
            <a:r>
              <a:rPr lang="en-US" sz="1800" b="1" dirty="0"/>
              <a:t>Declaring Array </a:t>
            </a:r>
            <a:r>
              <a:rPr lang="en-US" sz="1800" b="1" dirty="0" smtClean="0"/>
              <a:t>Variables</a:t>
            </a:r>
            <a:endParaRPr lang="en-US" sz="1800" dirty="0" smtClean="0"/>
          </a:p>
          <a:p>
            <a:pPr marL="0" indent="0">
              <a:buNone/>
            </a:pPr>
            <a:r>
              <a:rPr lang="en-US" sz="1800" b="1" dirty="0"/>
              <a:t>S</a:t>
            </a:r>
            <a:r>
              <a:rPr lang="en-US" sz="1800" b="1" dirty="0" smtClean="0"/>
              <a:t>yntax </a:t>
            </a:r>
            <a:r>
              <a:rPr lang="en-US" sz="1800" b="1" dirty="0"/>
              <a:t>for declaring an array variable </a:t>
            </a:r>
            <a:r>
              <a:rPr lang="en-US" sz="1800" b="1" dirty="0" smtClean="0"/>
              <a:t>− </a:t>
            </a:r>
            <a:endParaRPr lang="en-US" sz="1800" b="1" dirty="0"/>
          </a:p>
          <a:p>
            <a:pPr marL="0" indent="0">
              <a:lnSpc>
                <a:spcPct val="100000"/>
              </a:lnSpc>
              <a:spcBef>
                <a:spcPts val="0"/>
              </a:spcBef>
              <a:buNone/>
            </a:pPr>
            <a:r>
              <a:rPr lang="en-US" sz="1800" dirty="0" err="1"/>
              <a:t>dataType</a:t>
            </a:r>
            <a:r>
              <a:rPr lang="en-US" sz="1800" dirty="0"/>
              <a:t>[][] </a:t>
            </a:r>
            <a:r>
              <a:rPr lang="en-US" sz="1800" dirty="0" err="1"/>
              <a:t>arrayRefVar</a:t>
            </a:r>
            <a:r>
              <a:rPr lang="en-US" sz="1800" dirty="0"/>
              <a:t>; (or)  </a:t>
            </a:r>
          </a:p>
          <a:p>
            <a:pPr marL="0" indent="0">
              <a:lnSpc>
                <a:spcPct val="100000"/>
              </a:lnSpc>
              <a:spcBef>
                <a:spcPts val="0"/>
              </a:spcBef>
              <a:buNone/>
            </a:pPr>
            <a:r>
              <a:rPr lang="en-US" sz="1800" dirty="0" err="1"/>
              <a:t>dataType</a:t>
            </a:r>
            <a:r>
              <a:rPr lang="en-US" sz="1800" dirty="0"/>
              <a:t> [][]</a:t>
            </a:r>
            <a:r>
              <a:rPr lang="en-US" sz="1800" dirty="0" err="1"/>
              <a:t>arrayRefVar</a:t>
            </a:r>
            <a:r>
              <a:rPr lang="en-US" sz="1800" dirty="0"/>
              <a:t>; (or)  </a:t>
            </a:r>
          </a:p>
          <a:p>
            <a:pPr marL="0" indent="0">
              <a:lnSpc>
                <a:spcPct val="100000"/>
              </a:lnSpc>
              <a:spcBef>
                <a:spcPts val="0"/>
              </a:spcBef>
              <a:buNone/>
            </a:pPr>
            <a:r>
              <a:rPr lang="en-US" sz="1800" dirty="0" err="1"/>
              <a:t>dataType</a:t>
            </a:r>
            <a:r>
              <a:rPr lang="en-US" sz="1800" dirty="0"/>
              <a:t> </a:t>
            </a:r>
            <a:r>
              <a:rPr lang="en-US" sz="1800" dirty="0" err="1"/>
              <a:t>arrayRefVar</a:t>
            </a:r>
            <a:r>
              <a:rPr lang="en-US" sz="1800" dirty="0"/>
              <a:t>[][]; (or)  </a:t>
            </a:r>
          </a:p>
          <a:p>
            <a:pPr marL="0" indent="0">
              <a:lnSpc>
                <a:spcPct val="100000"/>
              </a:lnSpc>
              <a:spcBef>
                <a:spcPts val="0"/>
              </a:spcBef>
              <a:buNone/>
            </a:pPr>
            <a:r>
              <a:rPr lang="en-US" sz="1800" dirty="0" err="1"/>
              <a:t>dataType</a:t>
            </a:r>
            <a:r>
              <a:rPr lang="en-US" sz="1800" dirty="0"/>
              <a:t> []</a:t>
            </a:r>
            <a:r>
              <a:rPr lang="en-US" sz="1800" dirty="0" err="1"/>
              <a:t>arrayRefVar</a:t>
            </a:r>
            <a:r>
              <a:rPr lang="en-US" sz="1800" dirty="0"/>
              <a:t>[]; </a:t>
            </a:r>
            <a:endParaRPr lang="en-US" sz="1800" dirty="0" smtClean="0"/>
          </a:p>
          <a:p>
            <a:pPr marL="0" indent="0">
              <a:lnSpc>
                <a:spcPct val="100000"/>
              </a:lnSpc>
              <a:spcBef>
                <a:spcPts val="0"/>
              </a:spcBef>
              <a:buNone/>
            </a:pPr>
            <a:r>
              <a:rPr lang="en-US" sz="1800" b="1" dirty="0" smtClean="0"/>
              <a:t>Instantiation </a:t>
            </a:r>
            <a:r>
              <a:rPr lang="en-US" sz="1800" b="1" dirty="0"/>
              <a:t>of an Array in Java</a:t>
            </a:r>
          </a:p>
          <a:p>
            <a:pPr marL="0" indent="0">
              <a:buNone/>
            </a:pPr>
            <a:r>
              <a:rPr lang="en-US" sz="1800" dirty="0" err="1" smtClean="0"/>
              <a:t>arrayRefVar</a:t>
            </a:r>
            <a:r>
              <a:rPr lang="en-US" sz="1800" dirty="0" smtClean="0"/>
              <a:t>=new datatype[size][];  </a:t>
            </a:r>
          </a:p>
          <a:p>
            <a:pPr marL="0" indent="0">
              <a:buNone/>
            </a:pPr>
            <a:r>
              <a:rPr lang="en-US" sz="1800" dirty="0" smtClean="0"/>
              <a:t>Eg.int[][] </a:t>
            </a:r>
            <a:r>
              <a:rPr lang="en-US" sz="1800" dirty="0" err="1" smtClean="0"/>
              <a:t>arr</a:t>
            </a:r>
            <a:r>
              <a:rPr lang="en-US" sz="1800" dirty="0" smtClean="0"/>
              <a:t>=new </a:t>
            </a:r>
            <a:r>
              <a:rPr lang="en-US" sz="1800" dirty="0" err="1" smtClean="0"/>
              <a:t>int</a:t>
            </a:r>
            <a:r>
              <a:rPr lang="en-US" sz="1800" dirty="0" smtClean="0"/>
              <a:t>[3][3];</a:t>
            </a:r>
          </a:p>
          <a:p>
            <a:pPr marL="0" indent="0">
              <a:buNone/>
            </a:pPr>
            <a:r>
              <a:rPr lang="en-US" sz="1800" dirty="0" err="1" smtClean="0"/>
              <a:t>Eg</a:t>
            </a:r>
            <a:r>
              <a:rPr lang="en-US" sz="1800" dirty="0" smtClean="0"/>
              <a:t> to Initialize the values</a:t>
            </a:r>
          </a:p>
          <a:p>
            <a:pPr marL="0" indent="0">
              <a:lnSpc>
                <a:spcPct val="100000"/>
              </a:lnSpc>
              <a:spcBef>
                <a:spcPts val="0"/>
              </a:spcBef>
              <a:buNone/>
            </a:pPr>
            <a:r>
              <a:rPr lang="sv-SE" sz="1800" dirty="0" smtClean="0"/>
              <a:t>arr[0</a:t>
            </a:r>
            <a:r>
              <a:rPr lang="sv-SE" sz="1800" dirty="0"/>
              <a:t>][0]=1;  </a:t>
            </a:r>
          </a:p>
          <a:p>
            <a:pPr marL="0" indent="0">
              <a:lnSpc>
                <a:spcPct val="100000"/>
              </a:lnSpc>
              <a:spcBef>
                <a:spcPts val="0"/>
              </a:spcBef>
              <a:buNone/>
            </a:pPr>
            <a:r>
              <a:rPr lang="sv-SE" sz="1800" dirty="0"/>
              <a:t>arr[0][1]=2;  </a:t>
            </a:r>
          </a:p>
          <a:p>
            <a:pPr marL="0" indent="0">
              <a:lnSpc>
                <a:spcPct val="100000"/>
              </a:lnSpc>
              <a:spcBef>
                <a:spcPts val="0"/>
              </a:spcBef>
              <a:buNone/>
            </a:pPr>
            <a:r>
              <a:rPr lang="sv-SE" sz="1800" dirty="0"/>
              <a:t>arr[0][2]=3;  </a:t>
            </a:r>
          </a:p>
          <a:p>
            <a:pPr marL="0" indent="0">
              <a:lnSpc>
                <a:spcPct val="100000"/>
              </a:lnSpc>
              <a:spcBef>
                <a:spcPts val="0"/>
              </a:spcBef>
              <a:buNone/>
            </a:pPr>
            <a:r>
              <a:rPr lang="sv-SE" sz="1800" dirty="0"/>
              <a:t>arr[1][0]=4;  </a:t>
            </a:r>
          </a:p>
          <a:p>
            <a:pPr marL="0" indent="0">
              <a:lnSpc>
                <a:spcPct val="100000"/>
              </a:lnSpc>
              <a:spcBef>
                <a:spcPts val="0"/>
              </a:spcBef>
              <a:buNone/>
            </a:pPr>
            <a:r>
              <a:rPr lang="sv-SE" sz="1800" dirty="0"/>
              <a:t>arr[1][1]=5;  </a:t>
            </a:r>
          </a:p>
          <a:p>
            <a:pPr marL="0" indent="0">
              <a:lnSpc>
                <a:spcPct val="100000"/>
              </a:lnSpc>
              <a:spcBef>
                <a:spcPts val="0"/>
              </a:spcBef>
              <a:buNone/>
            </a:pPr>
            <a:r>
              <a:rPr lang="sv-SE" sz="1800" dirty="0"/>
              <a:t>arr[1][2]=6;  </a:t>
            </a:r>
          </a:p>
          <a:p>
            <a:pPr marL="0" indent="0">
              <a:lnSpc>
                <a:spcPct val="100000"/>
              </a:lnSpc>
              <a:spcBef>
                <a:spcPts val="0"/>
              </a:spcBef>
              <a:buNone/>
            </a:pPr>
            <a:r>
              <a:rPr lang="sv-SE" sz="1800" dirty="0"/>
              <a:t>arr[2][0]=7;  </a:t>
            </a:r>
          </a:p>
          <a:p>
            <a:pPr marL="0" indent="0">
              <a:lnSpc>
                <a:spcPct val="100000"/>
              </a:lnSpc>
              <a:spcBef>
                <a:spcPts val="0"/>
              </a:spcBef>
              <a:buNone/>
            </a:pPr>
            <a:r>
              <a:rPr lang="sv-SE" sz="1800" dirty="0"/>
              <a:t>arr[2][1]=8;  </a:t>
            </a:r>
          </a:p>
          <a:p>
            <a:pPr marL="0" indent="0">
              <a:lnSpc>
                <a:spcPct val="100000"/>
              </a:lnSpc>
              <a:spcBef>
                <a:spcPts val="0"/>
              </a:spcBef>
              <a:buNone/>
            </a:pPr>
            <a:r>
              <a:rPr lang="sv-SE" sz="1800" dirty="0"/>
              <a:t>arr[2][2]=9; </a:t>
            </a:r>
            <a:endParaRPr lang="en-IN" sz="1800" dirty="0"/>
          </a:p>
        </p:txBody>
      </p:sp>
      <p:sp>
        <p:nvSpPr>
          <p:cNvPr id="4" name="TextBox 3"/>
          <p:cNvSpPr txBox="1"/>
          <p:nvPr/>
        </p:nvSpPr>
        <p:spPr>
          <a:xfrm>
            <a:off x="7633855" y="815329"/>
            <a:ext cx="3588327" cy="3416320"/>
          </a:xfrm>
          <a:prstGeom prst="rect">
            <a:avLst/>
          </a:prstGeom>
          <a:noFill/>
        </p:spPr>
        <p:txBody>
          <a:bodyPr wrap="square" rtlCol="0">
            <a:spAutoFit/>
          </a:bodyPr>
          <a:lstStyle/>
          <a:p>
            <a:r>
              <a:rPr lang="en-IN" dirty="0"/>
              <a:t>public class Testarray3{  </a:t>
            </a:r>
          </a:p>
          <a:p>
            <a:r>
              <a:rPr lang="en-IN" dirty="0"/>
              <a:t>public static void main(String </a:t>
            </a:r>
            <a:r>
              <a:rPr lang="en-IN" dirty="0" err="1"/>
              <a:t>args</a:t>
            </a:r>
            <a:r>
              <a:rPr lang="en-IN" dirty="0"/>
              <a:t>[]){  </a:t>
            </a:r>
          </a:p>
          <a:p>
            <a:r>
              <a:rPr lang="en-IN" dirty="0"/>
              <a:t>//declaring and initializing 2D array  </a:t>
            </a:r>
          </a:p>
          <a:p>
            <a:r>
              <a:rPr lang="en-IN" dirty="0" err="1"/>
              <a:t>int</a:t>
            </a:r>
            <a:r>
              <a:rPr lang="en-IN" dirty="0"/>
              <a:t> </a:t>
            </a:r>
            <a:r>
              <a:rPr lang="en-IN" dirty="0" err="1"/>
              <a:t>arr</a:t>
            </a:r>
            <a:r>
              <a:rPr lang="en-IN" dirty="0"/>
              <a:t>[][]={{1,2,3},{2,4,5},{4,4,5}};  </a:t>
            </a:r>
          </a:p>
          <a:p>
            <a:r>
              <a:rPr lang="en-IN" dirty="0"/>
              <a:t>//printing 2D array  </a:t>
            </a:r>
          </a:p>
          <a:p>
            <a:r>
              <a:rPr lang="en-IN" dirty="0"/>
              <a:t>for(</a:t>
            </a:r>
            <a:r>
              <a:rPr lang="en-IN" dirty="0" err="1"/>
              <a:t>int</a:t>
            </a:r>
            <a:r>
              <a:rPr lang="en-IN" dirty="0"/>
              <a:t> </a:t>
            </a:r>
            <a:r>
              <a:rPr lang="en-IN" dirty="0" err="1"/>
              <a:t>i</a:t>
            </a:r>
            <a:r>
              <a:rPr lang="en-IN" dirty="0"/>
              <a:t>=0;i&lt;3;i++){  </a:t>
            </a:r>
          </a:p>
          <a:p>
            <a:r>
              <a:rPr lang="en-IN" dirty="0"/>
              <a:t> for(</a:t>
            </a:r>
            <a:r>
              <a:rPr lang="en-IN" dirty="0" err="1"/>
              <a:t>int</a:t>
            </a:r>
            <a:r>
              <a:rPr lang="en-IN" dirty="0"/>
              <a:t> j=0;j&lt;3;j++){  </a:t>
            </a:r>
          </a:p>
          <a:p>
            <a:r>
              <a:rPr lang="en-IN" dirty="0"/>
              <a:t>   </a:t>
            </a:r>
            <a:r>
              <a:rPr lang="en-IN" dirty="0" err="1"/>
              <a:t>System.out.print</a:t>
            </a:r>
            <a:r>
              <a:rPr lang="en-IN" dirty="0"/>
              <a:t>(</a:t>
            </a:r>
            <a:r>
              <a:rPr lang="en-IN" dirty="0" err="1"/>
              <a:t>arr</a:t>
            </a:r>
            <a:r>
              <a:rPr lang="en-IN" dirty="0"/>
              <a:t>[</a:t>
            </a:r>
            <a:r>
              <a:rPr lang="en-IN" dirty="0" err="1"/>
              <a:t>i</a:t>
            </a:r>
            <a:r>
              <a:rPr lang="en-IN" dirty="0"/>
              <a:t>][j]+" ");  </a:t>
            </a:r>
          </a:p>
          <a:p>
            <a:r>
              <a:rPr lang="en-IN" dirty="0"/>
              <a:t> }  </a:t>
            </a:r>
          </a:p>
          <a:p>
            <a:r>
              <a:rPr lang="en-IN" dirty="0"/>
              <a:t> </a:t>
            </a:r>
            <a:r>
              <a:rPr lang="en-IN" dirty="0" err="1"/>
              <a:t>System.out.println</a:t>
            </a:r>
            <a:r>
              <a:rPr lang="en-IN" dirty="0"/>
              <a:t>();  </a:t>
            </a:r>
          </a:p>
          <a:p>
            <a:r>
              <a:rPr lang="en-IN" dirty="0"/>
              <a:t>}  </a:t>
            </a:r>
          </a:p>
          <a:p>
            <a:r>
              <a:rPr lang="en-IN" dirty="0"/>
              <a:t>}} </a:t>
            </a:r>
          </a:p>
        </p:txBody>
      </p:sp>
      <p:pic>
        <p:nvPicPr>
          <p:cNvPr id="5" name="Picture 4"/>
          <p:cNvPicPr>
            <a:picLocks noChangeAspect="1"/>
          </p:cNvPicPr>
          <p:nvPr/>
        </p:nvPicPr>
        <p:blipFill>
          <a:blip r:embed="rId2"/>
          <a:stretch>
            <a:fillRect/>
          </a:stretch>
        </p:blipFill>
        <p:spPr>
          <a:xfrm>
            <a:off x="7633855" y="4752974"/>
            <a:ext cx="3133725" cy="866775"/>
          </a:xfrm>
          <a:prstGeom prst="rect">
            <a:avLst/>
          </a:prstGeom>
        </p:spPr>
      </p:pic>
    </p:spTree>
    <p:extLst>
      <p:ext uri="{BB962C8B-B14F-4D97-AF65-F5344CB8AC3E}">
        <p14:creationId xmlns:p14="http://schemas.microsoft.com/office/powerpoint/2010/main" val="105651248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Java-Arrays</a:t>
            </a:r>
            <a:endParaRPr lang="en-US" dirty="0"/>
          </a:p>
        </p:txBody>
      </p:sp>
      <p:sp>
        <p:nvSpPr>
          <p:cNvPr id="3" name="Content Placeholder 2"/>
          <p:cNvSpPr>
            <a:spLocks noGrp="1"/>
          </p:cNvSpPr>
          <p:nvPr>
            <p:ph sz="half" idx="1"/>
          </p:nvPr>
        </p:nvSpPr>
        <p:spPr>
          <a:xfrm>
            <a:off x="134815" y="394529"/>
            <a:ext cx="7443622" cy="6343895"/>
          </a:xfrm>
        </p:spPr>
        <p:txBody>
          <a:bodyPr>
            <a:noAutofit/>
          </a:bodyPr>
          <a:lstStyle/>
          <a:p>
            <a:pPr marL="0" indent="0">
              <a:buNone/>
            </a:pPr>
            <a:r>
              <a:rPr lang="en-US" sz="2000" b="1" dirty="0"/>
              <a:t>Jagged Array in Java</a:t>
            </a:r>
          </a:p>
          <a:p>
            <a:pPr marL="0" indent="0">
              <a:buNone/>
            </a:pPr>
            <a:r>
              <a:rPr lang="en-US" sz="2000" dirty="0"/>
              <a:t>J</a:t>
            </a:r>
            <a:r>
              <a:rPr lang="en-US" sz="2000" dirty="0" smtClean="0"/>
              <a:t>agged array: It </a:t>
            </a:r>
            <a:r>
              <a:rPr lang="en-US" sz="2000" dirty="0"/>
              <a:t>is an </a:t>
            </a:r>
            <a:r>
              <a:rPr lang="en-US" sz="2000" dirty="0" smtClean="0"/>
              <a:t>array </a:t>
            </a:r>
            <a:r>
              <a:rPr lang="en-US" sz="2000" dirty="0"/>
              <a:t>of arrays with different number of columns</a:t>
            </a:r>
            <a:r>
              <a:rPr lang="en-US" sz="2000" dirty="0" smtClean="0"/>
              <a:t>.</a:t>
            </a:r>
          </a:p>
          <a:p>
            <a:pPr marL="0" indent="0">
              <a:lnSpc>
                <a:spcPct val="100000"/>
              </a:lnSpc>
              <a:spcBef>
                <a:spcPts val="0"/>
              </a:spcBef>
              <a:buNone/>
            </a:pPr>
            <a:r>
              <a:rPr lang="en-IN" sz="1800" dirty="0"/>
              <a:t>public class </a:t>
            </a:r>
            <a:r>
              <a:rPr lang="en-IN" sz="1800" dirty="0" err="1"/>
              <a:t>TestJaggedArray</a:t>
            </a:r>
            <a:r>
              <a:rPr lang="en-IN" sz="1800" dirty="0"/>
              <a:t>{  </a:t>
            </a:r>
          </a:p>
          <a:p>
            <a:pPr marL="0" indent="0">
              <a:lnSpc>
                <a:spcPct val="100000"/>
              </a:lnSpc>
              <a:spcBef>
                <a:spcPts val="0"/>
              </a:spcBef>
              <a:buNone/>
            </a:pPr>
            <a:r>
              <a:rPr lang="en-IN" sz="1800" dirty="0"/>
              <a:t>    public static void main(String[] </a:t>
            </a:r>
            <a:r>
              <a:rPr lang="en-IN" sz="1800" dirty="0" err="1"/>
              <a:t>args</a:t>
            </a:r>
            <a:r>
              <a:rPr lang="en-IN" sz="1800" dirty="0"/>
              <a:t>){  </a:t>
            </a:r>
          </a:p>
          <a:p>
            <a:pPr marL="0" indent="0">
              <a:lnSpc>
                <a:spcPct val="100000"/>
              </a:lnSpc>
              <a:spcBef>
                <a:spcPts val="0"/>
              </a:spcBef>
              <a:buNone/>
            </a:pPr>
            <a:r>
              <a:rPr lang="en-IN" sz="1800" dirty="0"/>
              <a:t>        //declaring a 2D array with odd columns  </a:t>
            </a:r>
          </a:p>
          <a:p>
            <a:pPr marL="0" indent="0">
              <a:lnSpc>
                <a:spcPct val="100000"/>
              </a:lnSpc>
              <a:spcBef>
                <a:spcPts val="0"/>
              </a:spcBef>
              <a:buNone/>
            </a:pPr>
            <a:r>
              <a:rPr lang="en-IN" sz="1800" dirty="0"/>
              <a:t>        </a:t>
            </a:r>
            <a:r>
              <a:rPr lang="en-IN" sz="1800" dirty="0" err="1"/>
              <a:t>int</a:t>
            </a:r>
            <a:r>
              <a:rPr lang="en-IN" sz="1800" dirty="0"/>
              <a:t> </a:t>
            </a:r>
            <a:r>
              <a:rPr lang="en-IN" sz="1800" dirty="0" err="1"/>
              <a:t>arr</a:t>
            </a:r>
            <a:r>
              <a:rPr lang="en-IN" sz="1800" dirty="0"/>
              <a:t>[][] = new </a:t>
            </a:r>
            <a:r>
              <a:rPr lang="en-IN" sz="1800" dirty="0" err="1"/>
              <a:t>int</a:t>
            </a:r>
            <a:r>
              <a:rPr lang="en-IN" sz="1800" dirty="0"/>
              <a:t>[3][];  </a:t>
            </a:r>
          </a:p>
          <a:p>
            <a:pPr marL="0" indent="0">
              <a:lnSpc>
                <a:spcPct val="100000"/>
              </a:lnSpc>
              <a:spcBef>
                <a:spcPts val="0"/>
              </a:spcBef>
              <a:buNone/>
            </a:pPr>
            <a:r>
              <a:rPr lang="en-IN" sz="1800" dirty="0"/>
              <a:t>        </a:t>
            </a:r>
            <a:r>
              <a:rPr lang="en-IN" sz="1800" dirty="0" err="1"/>
              <a:t>arr</a:t>
            </a:r>
            <a:r>
              <a:rPr lang="en-IN" sz="1800" dirty="0"/>
              <a:t>[0] = new </a:t>
            </a:r>
            <a:r>
              <a:rPr lang="en-IN" sz="1800" dirty="0" err="1"/>
              <a:t>int</a:t>
            </a:r>
            <a:r>
              <a:rPr lang="en-IN" sz="1800" dirty="0"/>
              <a:t>[3];  </a:t>
            </a:r>
          </a:p>
          <a:p>
            <a:pPr marL="0" indent="0">
              <a:lnSpc>
                <a:spcPct val="100000"/>
              </a:lnSpc>
              <a:spcBef>
                <a:spcPts val="0"/>
              </a:spcBef>
              <a:buNone/>
            </a:pPr>
            <a:r>
              <a:rPr lang="en-IN" sz="1800" dirty="0"/>
              <a:t>        </a:t>
            </a:r>
            <a:r>
              <a:rPr lang="en-IN" sz="1800" dirty="0" err="1"/>
              <a:t>arr</a:t>
            </a:r>
            <a:r>
              <a:rPr lang="en-IN" sz="1800" dirty="0"/>
              <a:t>[1] = new </a:t>
            </a:r>
            <a:r>
              <a:rPr lang="en-IN" sz="1800" dirty="0" err="1"/>
              <a:t>int</a:t>
            </a:r>
            <a:r>
              <a:rPr lang="en-IN" sz="1800" dirty="0"/>
              <a:t>[5];  </a:t>
            </a:r>
          </a:p>
          <a:p>
            <a:pPr marL="0" indent="0">
              <a:lnSpc>
                <a:spcPct val="100000"/>
              </a:lnSpc>
              <a:spcBef>
                <a:spcPts val="0"/>
              </a:spcBef>
              <a:buNone/>
            </a:pPr>
            <a:r>
              <a:rPr lang="en-IN" sz="1800" dirty="0"/>
              <a:t>        </a:t>
            </a:r>
            <a:r>
              <a:rPr lang="en-IN" sz="1800" dirty="0" err="1"/>
              <a:t>arr</a:t>
            </a:r>
            <a:r>
              <a:rPr lang="en-IN" sz="1800" dirty="0"/>
              <a:t>[2] = new </a:t>
            </a:r>
            <a:r>
              <a:rPr lang="en-IN" sz="1800" dirty="0" err="1"/>
              <a:t>int</a:t>
            </a:r>
            <a:r>
              <a:rPr lang="en-IN" sz="1800" dirty="0"/>
              <a:t>[2];  </a:t>
            </a:r>
          </a:p>
          <a:p>
            <a:pPr marL="0" indent="0">
              <a:lnSpc>
                <a:spcPct val="100000"/>
              </a:lnSpc>
              <a:spcBef>
                <a:spcPts val="0"/>
              </a:spcBef>
              <a:buNone/>
            </a:pPr>
            <a:r>
              <a:rPr lang="en-IN" sz="1800" dirty="0"/>
              <a:t>        //initializing a jagged array  </a:t>
            </a:r>
          </a:p>
          <a:p>
            <a:pPr marL="0" indent="0">
              <a:lnSpc>
                <a:spcPct val="100000"/>
              </a:lnSpc>
              <a:spcBef>
                <a:spcPts val="0"/>
              </a:spcBef>
              <a:buNone/>
            </a:pPr>
            <a:r>
              <a:rPr lang="en-IN" sz="1800" dirty="0"/>
              <a:t>        </a:t>
            </a:r>
            <a:r>
              <a:rPr lang="en-IN" sz="1800" dirty="0" err="1"/>
              <a:t>int</a:t>
            </a:r>
            <a:r>
              <a:rPr lang="en-IN" sz="1800" dirty="0"/>
              <a:t> count = 0;  </a:t>
            </a:r>
          </a:p>
          <a:p>
            <a:pPr marL="0" indent="0">
              <a:lnSpc>
                <a:spcPct val="100000"/>
              </a:lnSpc>
              <a:spcBef>
                <a:spcPts val="0"/>
              </a:spcBef>
              <a:buNone/>
            </a:pPr>
            <a:r>
              <a:rPr lang="en-IN" sz="1800" dirty="0"/>
              <a:t>        for (</a:t>
            </a:r>
            <a:r>
              <a:rPr lang="en-IN" sz="1800" dirty="0" err="1"/>
              <a:t>int</a:t>
            </a:r>
            <a:r>
              <a:rPr lang="en-IN" sz="1800" dirty="0"/>
              <a:t> </a:t>
            </a:r>
            <a:r>
              <a:rPr lang="en-IN" sz="1800" dirty="0" err="1"/>
              <a:t>i</a:t>
            </a:r>
            <a:r>
              <a:rPr lang="en-IN" sz="1800" dirty="0"/>
              <a:t>=0; </a:t>
            </a:r>
            <a:r>
              <a:rPr lang="en-IN" sz="1800" dirty="0" err="1"/>
              <a:t>i</a:t>
            </a:r>
            <a:r>
              <a:rPr lang="en-IN" sz="1800" dirty="0"/>
              <a:t>&lt;</a:t>
            </a:r>
            <a:r>
              <a:rPr lang="en-IN" sz="1800" dirty="0" err="1"/>
              <a:t>arr.length</a:t>
            </a:r>
            <a:r>
              <a:rPr lang="en-IN" sz="1800" dirty="0"/>
              <a:t>; </a:t>
            </a:r>
            <a:r>
              <a:rPr lang="en-IN" sz="1800" dirty="0" err="1"/>
              <a:t>i</a:t>
            </a:r>
            <a:r>
              <a:rPr lang="en-IN" sz="1800" dirty="0"/>
              <a:t>++)  </a:t>
            </a:r>
          </a:p>
          <a:p>
            <a:pPr marL="0" indent="0">
              <a:lnSpc>
                <a:spcPct val="100000"/>
              </a:lnSpc>
              <a:spcBef>
                <a:spcPts val="0"/>
              </a:spcBef>
              <a:buNone/>
            </a:pPr>
            <a:r>
              <a:rPr lang="en-IN" sz="1800" dirty="0"/>
              <a:t>            for(</a:t>
            </a:r>
            <a:r>
              <a:rPr lang="en-IN" sz="1800" dirty="0" err="1"/>
              <a:t>int</a:t>
            </a:r>
            <a:r>
              <a:rPr lang="en-IN" sz="1800" dirty="0"/>
              <a:t> j=0; j&lt;</a:t>
            </a:r>
            <a:r>
              <a:rPr lang="en-IN" sz="1800" dirty="0" err="1"/>
              <a:t>arr</a:t>
            </a:r>
            <a:r>
              <a:rPr lang="en-IN" sz="1800" dirty="0"/>
              <a:t>[</a:t>
            </a:r>
            <a:r>
              <a:rPr lang="en-IN" sz="1800" dirty="0" err="1"/>
              <a:t>i</a:t>
            </a:r>
            <a:r>
              <a:rPr lang="en-IN" sz="1800" dirty="0"/>
              <a:t>].length; </a:t>
            </a:r>
            <a:r>
              <a:rPr lang="en-IN" sz="1800" dirty="0" err="1"/>
              <a:t>j++</a:t>
            </a:r>
            <a:r>
              <a:rPr lang="en-IN" sz="1800" dirty="0"/>
              <a:t>)  </a:t>
            </a:r>
          </a:p>
          <a:p>
            <a:pPr marL="0" indent="0">
              <a:lnSpc>
                <a:spcPct val="100000"/>
              </a:lnSpc>
              <a:spcBef>
                <a:spcPts val="0"/>
              </a:spcBef>
              <a:buNone/>
            </a:pPr>
            <a:r>
              <a:rPr lang="en-IN" sz="1800" dirty="0"/>
              <a:t>                </a:t>
            </a:r>
            <a:r>
              <a:rPr lang="en-IN" sz="1800" dirty="0" err="1"/>
              <a:t>arr</a:t>
            </a:r>
            <a:r>
              <a:rPr lang="en-IN" sz="1800" dirty="0"/>
              <a:t>[</a:t>
            </a:r>
            <a:r>
              <a:rPr lang="en-IN" sz="1800" dirty="0" err="1"/>
              <a:t>i</a:t>
            </a:r>
            <a:r>
              <a:rPr lang="en-IN" sz="1800" dirty="0"/>
              <a:t>][j] = count++;  </a:t>
            </a:r>
          </a:p>
          <a:p>
            <a:pPr marL="0" indent="0">
              <a:lnSpc>
                <a:spcPct val="100000"/>
              </a:lnSpc>
              <a:spcBef>
                <a:spcPts val="0"/>
              </a:spcBef>
              <a:buNone/>
            </a:pPr>
            <a:r>
              <a:rPr lang="en-IN" sz="1800" dirty="0"/>
              <a:t>   </a:t>
            </a:r>
          </a:p>
          <a:p>
            <a:pPr marL="0" indent="0">
              <a:lnSpc>
                <a:spcPct val="100000"/>
              </a:lnSpc>
              <a:spcBef>
                <a:spcPts val="0"/>
              </a:spcBef>
              <a:buNone/>
            </a:pPr>
            <a:r>
              <a:rPr lang="en-IN" sz="1800" dirty="0"/>
              <a:t>        //printing the data of a jagged array   </a:t>
            </a:r>
          </a:p>
          <a:p>
            <a:pPr marL="0" indent="0">
              <a:lnSpc>
                <a:spcPct val="100000"/>
              </a:lnSpc>
              <a:spcBef>
                <a:spcPts val="0"/>
              </a:spcBef>
              <a:buNone/>
            </a:pPr>
            <a:r>
              <a:rPr lang="en-IN" sz="1800" dirty="0"/>
              <a:t>        for (</a:t>
            </a:r>
            <a:r>
              <a:rPr lang="en-IN" sz="1800" dirty="0" err="1"/>
              <a:t>int</a:t>
            </a:r>
            <a:r>
              <a:rPr lang="en-IN" sz="1800" dirty="0"/>
              <a:t> </a:t>
            </a:r>
            <a:r>
              <a:rPr lang="en-IN" sz="1800" dirty="0" err="1"/>
              <a:t>i</a:t>
            </a:r>
            <a:r>
              <a:rPr lang="en-IN" sz="1800" dirty="0"/>
              <a:t>=0; </a:t>
            </a:r>
            <a:r>
              <a:rPr lang="en-IN" sz="1800" dirty="0" err="1"/>
              <a:t>i</a:t>
            </a:r>
            <a:r>
              <a:rPr lang="en-IN" sz="1800" dirty="0"/>
              <a:t>&lt;</a:t>
            </a:r>
            <a:r>
              <a:rPr lang="en-IN" sz="1800" dirty="0" err="1"/>
              <a:t>arr.length</a:t>
            </a:r>
            <a:r>
              <a:rPr lang="en-IN" sz="1800" dirty="0"/>
              <a:t>; </a:t>
            </a:r>
            <a:r>
              <a:rPr lang="en-IN" sz="1800" dirty="0" err="1"/>
              <a:t>i</a:t>
            </a:r>
            <a:r>
              <a:rPr lang="en-IN" sz="1800" dirty="0"/>
              <a:t>++){  </a:t>
            </a:r>
          </a:p>
          <a:p>
            <a:pPr marL="0" indent="0">
              <a:lnSpc>
                <a:spcPct val="100000"/>
              </a:lnSpc>
              <a:spcBef>
                <a:spcPts val="0"/>
              </a:spcBef>
              <a:buNone/>
            </a:pPr>
            <a:r>
              <a:rPr lang="en-IN" sz="1800" dirty="0"/>
              <a:t>            for (</a:t>
            </a:r>
            <a:r>
              <a:rPr lang="en-IN" sz="1800" dirty="0" err="1"/>
              <a:t>int</a:t>
            </a:r>
            <a:r>
              <a:rPr lang="en-IN" sz="1800" dirty="0"/>
              <a:t> j=0; j&lt;</a:t>
            </a:r>
            <a:r>
              <a:rPr lang="en-IN" sz="1800" dirty="0" err="1"/>
              <a:t>arr</a:t>
            </a:r>
            <a:r>
              <a:rPr lang="en-IN" sz="1800" dirty="0"/>
              <a:t>[</a:t>
            </a:r>
            <a:r>
              <a:rPr lang="en-IN" sz="1800" dirty="0" err="1"/>
              <a:t>i</a:t>
            </a:r>
            <a:r>
              <a:rPr lang="en-IN" sz="1800" dirty="0"/>
              <a:t>].length; </a:t>
            </a:r>
            <a:r>
              <a:rPr lang="en-IN" sz="1800" dirty="0" err="1"/>
              <a:t>j++</a:t>
            </a:r>
            <a:r>
              <a:rPr lang="en-IN" sz="1800" dirty="0"/>
              <a:t>){  </a:t>
            </a:r>
          </a:p>
          <a:p>
            <a:pPr marL="0" indent="0">
              <a:lnSpc>
                <a:spcPct val="100000"/>
              </a:lnSpc>
              <a:spcBef>
                <a:spcPts val="0"/>
              </a:spcBef>
              <a:buNone/>
            </a:pPr>
            <a:r>
              <a:rPr lang="en-IN" sz="1800" dirty="0"/>
              <a:t>                </a:t>
            </a:r>
            <a:r>
              <a:rPr lang="en-IN" sz="1800" dirty="0" err="1"/>
              <a:t>System.out.print</a:t>
            </a:r>
            <a:r>
              <a:rPr lang="en-IN" sz="1800" dirty="0"/>
              <a:t>(</a:t>
            </a:r>
            <a:r>
              <a:rPr lang="en-IN" sz="1800" dirty="0" err="1"/>
              <a:t>arr</a:t>
            </a:r>
            <a:r>
              <a:rPr lang="en-IN" sz="1800" dirty="0"/>
              <a:t>[</a:t>
            </a:r>
            <a:r>
              <a:rPr lang="en-IN" sz="1800" dirty="0" err="1"/>
              <a:t>i</a:t>
            </a:r>
            <a:r>
              <a:rPr lang="en-IN" sz="1800" dirty="0"/>
              <a:t>][j]+" ");  </a:t>
            </a:r>
          </a:p>
          <a:p>
            <a:pPr marL="0" indent="0">
              <a:lnSpc>
                <a:spcPct val="100000"/>
              </a:lnSpc>
              <a:spcBef>
                <a:spcPts val="0"/>
              </a:spcBef>
              <a:buNone/>
            </a:pPr>
            <a:r>
              <a:rPr lang="en-IN" sz="1800" dirty="0"/>
              <a:t>            }  </a:t>
            </a:r>
          </a:p>
          <a:p>
            <a:pPr marL="0" indent="0">
              <a:lnSpc>
                <a:spcPct val="100000"/>
              </a:lnSpc>
              <a:spcBef>
                <a:spcPts val="0"/>
              </a:spcBef>
              <a:buNone/>
            </a:pPr>
            <a:r>
              <a:rPr lang="en-IN" sz="1800" dirty="0"/>
              <a:t>            </a:t>
            </a:r>
            <a:r>
              <a:rPr lang="en-IN" sz="1800" dirty="0" err="1"/>
              <a:t>System.out.println</a:t>
            </a:r>
            <a:r>
              <a:rPr lang="en-IN" sz="1800" dirty="0"/>
              <a:t>();//new line  </a:t>
            </a:r>
          </a:p>
          <a:p>
            <a:pPr marL="0" indent="0">
              <a:lnSpc>
                <a:spcPct val="100000"/>
              </a:lnSpc>
              <a:spcBef>
                <a:spcPts val="0"/>
              </a:spcBef>
              <a:buNone/>
            </a:pPr>
            <a:r>
              <a:rPr lang="en-IN" sz="1800" dirty="0"/>
              <a:t>        }  </a:t>
            </a:r>
            <a:r>
              <a:rPr lang="en-IN" sz="1800" dirty="0" smtClean="0"/>
              <a:t>} }</a:t>
            </a:r>
            <a:endParaRPr lang="en-IN" sz="1800" dirty="0"/>
          </a:p>
          <a:p>
            <a:pPr marL="0" indent="0">
              <a:lnSpc>
                <a:spcPct val="100000"/>
              </a:lnSpc>
              <a:spcBef>
                <a:spcPts val="0"/>
              </a:spcBef>
              <a:buNone/>
            </a:pPr>
            <a:r>
              <a:rPr lang="en-IN" sz="1800" dirty="0"/>
              <a:t>    </a:t>
            </a:r>
          </a:p>
        </p:txBody>
      </p:sp>
      <p:sp>
        <p:nvSpPr>
          <p:cNvPr id="5" name="TextBox 4"/>
          <p:cNvSpPr txBox="1"/>
          <p:nvPr/>
        </p:nvSpPr>
        <p:spPr>
          <a:xfrm>
            <a:off x="7578438" y="197265"/>
            <a:ext cx="4613563" cy="6186309"/>
          </a:xfrm>
          <a:prstGeom prst="rect">
            <a:avLst/>
          </a:prstGeom>
          <a:noFill/>
        </p:spPr>
        <p:txBody>
          <a:bodyPr wrap="square" rtlCol="0">
            <a:spAutoFit/>
          </a:bodyPr>
          <a:lstStyle/>
          <a:p>
            <a:r>
              <a:rPr lang="en-IN" dirty="0"/>
              <a:t>Copying a Java </a:t>
            </a:r>
            <a:r>
              <a:rPr lang="en-IN" dirty="0" err="1" smtClean="0"/>
              <a:t>Array:copy</a:t>
            </a:r>
            <a:r>
              <a:rPr lang="en-IN" dirty="0" smtClean="0"/>
              <a:t> </a:t>
            </a:r>
            <a:r>
              <a:rPr lang="en-IN" dirty="0"/>
              <a:t>an array to another by the </a:t>
            </a:r>
            <a:r>
              <a:rPr lang="en-IN" dirty="0" err="1"/>
              <a:t>arraycopy</a:t>
            </a:r>
            <a:r>
              <a:rPr lang="en-IN" dirty="0"/>
              <a:t>() method of System class.</a:t>
            </a:r>
          </a:p>
          <a:p>
            <a:r>
              <a:rPr lang="en-IN" b="1" dirty="0" smtClean="0"/>
              <a:t>Syntax </a:t>
            </a:r>
            <a:r>
              <a:rPr lang="en-IN" b="1" dirty="0"/>
              <a:t>of </a:t>
            </a:r>
            <a:r>
              <a:rPr lang="en-IN" b="1" dirty="0" err="1"/>
              <a:t>arraycopy</a:t>
            </a:r>
            <a:r>
              <a:rPr lang="en-IN" b="1" dirty="0"/>
              <a:t> method</a:t>
            </a:r>
          </a:p>
          <a:p>
            <a:r>
              <a:rPr lang="en-IN" dirty="0" smtClean="0"/>
              <a:t>public </a:t>
            </a:r>
            <a:r>
              <a:rPr lang="en-IN" dirty="0"/>
              <a:t>static void </a:t>
            </a:r>
            <a:r>
              <a:rPr lang="en-IN" dirty="0" err="1"/>
              <a:t>arraycopy</a:t>
            </a:r>
            <a:r>
              <a:rPr lang="en-IN" dirty="0"/>
              <a:t>( </a:t>
            </a:r>
            <a:r>
              <a:rPr lang="en-IN" dirty="0" smtClean="0"/>
              <a:t>Object </a:t>
            </a:r>
            <a:r>
              <a:rPr lang="en-IN" dirty="0" err="1"/>
              <a:t>src</a:t>
            </a:r>
            <a:r>
              <a:rPr lang="en-IN" dirty="0"/>
              <a:t>, </a:t>
            </a:r>
            <a:r>
              <a:rPr lang="en-IN" dirty="0" err="1"/>
              <a:t>int</a:t>
            </a:r>
            <a:r>
              <a:rPr lang="en-IN" dirty="0"/>
              <a:t> </a:t>
            </a:r>
            <a:r>
              <a:rPr lang="en-IN" dirty="0" err="1"/>
              <a:t>srcPos,Object</a:t>
            </a:r>
            <a:r>
              <a:rPr lang="en-IN" dirty="0"/>
              <a:t> </a:t>
            </a:r>
            <a:r>
              <a:rPr lang="en-IN" dirty="0" err="1"/>
              <a:t>dest</a:t>
            </a:r>
            <a:r>
              <a:rPr lang="en-IN" dirty="0"/>
              <a:t>, </a:t>
            </a:r>
            <a:r>
              <a:rPr lang="en-IN" dirty="0" err="1"/>
              <a:t>int</a:t>
            </a:r>
            <a:r>
              <a:rPr lang="en-IN" dirty="0"/>
              <a:t> </a:t>
            </a:r>
            <a:r>
              <a:rPr lang="en-IN" dirty="0" err="1"/>
              <a:t>destPos</a:t>
            </a:r>
            <a:r>
              <a:rPr lang="en-IN" dirty="0"/>
              <a:t>, </a:t>
            </a:r>
            <a:r>
              <a:rPr lang="en-IN" dirty="0" err="1"/>
              <a:t>int</a:t>
            </a:r>
            <a:r>
              <a:rPr lang="en-IN" dirty="0"/>
              <a:t> </a:t>
            </a:r>
            <a:r>
              <a:rPr lang="en-IN" dirty="0" smtClean="0"/>
              <a:t>length) </a:t>
            </a:r>
          </a:p>
          <a:p>
            <a:endParaRPr lang="en-US" dirty="0" smtClean="0"/>
          </a:p>
          <a:p>
            <a:r>
              <a:rPr lang="en-IN" dirty="0"/>
              <a:t>public class </a:t>
            </a:r>
            <a:r>
              <a:rPr lang="en-IN" dirty="0" err="1"/>
              <a:t>TestArrayCopyDemo</a:t>
            </a:r>
            <a:r>
              <a:rPr lang="en-IN" dirty="0"/>
              <a:t> {  </a:t>
            </a:r>
          </a:p>
          <a:p>
            <a:r>
              <a:rPr lang="en-IN" dirty="0"/>
              <a:t>    public static void main(String[] </a:t>
            </a:r>
            <a:r>
              <a:rPr lang="en-IN" dirty="0" err="1"/>
              <a:t>args</a:t>
            </a:r>
            <a:r>
              <a:rPr lang="en-IN" dirty="0"/>
              <a:t>) {  </a:t>
            </a:r>
          </a:p>
          <a:p>
            <a:r>
              <a:rPr lang="en-IN" dirty="0"/>
              <a:t>        //declaring a source array  </a:t>
            </a:r>
          </a:p>
          <a:p>
            <a:r>
              <a:rPr lang="en-IN" dirty="0"/>
              <a:t>        char[] </a:t>
            </a:r>
            <a:r>
              <a:rPr lang="en-IN" dirty="0" err="1"/>
              <a:t>copyFrom</a:t>
            </a:r>
            <a:r>
              <a:rPr lang="en-IN" dirty="0"/>
              <a:t> = { 'h', '</a:t>
            </a:r>
            <a:r>
              <a:rPr lang="en-IN" dirty="0" err="1"/>
              <a:t>i</a:t>
            </a:r>
            <a:r>
              <a:rPr lang="en-IN" dirty="0"/>
              <a:t>', '</a:t>
            </a:r>
            <a:r>
              <a:rPr lang="en-IN" dirty="0" err="1"/>
              <a:t>i</a:t>
            </a:r>
            <a:r>
              <a:rPr lang="en-IN" dirty="0"/>
              <a:t>', 't', 'd', 'e', 'p',  </a:t>
            </a:r>
          </a:p>
          <a:p>
            <a:r>
              <a:rPr lang="en-IN" dirty="0"/>
              <a:t>                't', '.', 'a', 't', 'e', 'd' };  </a:t>
            </a:r>
          </a:p>
          <a:p>
            <a:r>
              <a:rPr lang="en-IN" dirty="0"/>
              <a:t>        //declaring a destination array  </a:t>
            </a:r>
          </a:p>
          <a:p>
            <a:r>
              <a:rPr lang="en-IN" dirty="0"/>
              <a:t>        char[] </a:t>
            </a:r>
            <a:r>
              <a:rPr lang="en-IN" dirty="0" err="1"/>
              <a:t>copyTo</a:t>
            </a:r>
            <a:r>
              <a:rPr lang="en-IN" dirty="0"/>
              <a:t> = new char[7];  </a:t>
            </a:r>
          </a:p>
          <a:p>
            <a:r>
              <a:rPr lang="en-IN" dirty="0"/>
              <a:t>        //copying array using </a:t>
            </a:r>
            <a:r>
              <a:rPr lang="en-IN" dirty="0" err="1"/>
              <a:t>System.arraycopy</a:t>
            </a:r>
            <a:r>
              <a:rPr lang="en-IN" dirty="0"/>
              <a:t>() method  </a:t>
            </a:r>
          </a:p>
          <a:p>
            <a:r>
              <a:rPr lang="en-IN" dirty="0"/>
              <a:t>        </a:t>
            </a:r>
            <a:r>
              <a:rPr lang="en-IN" dirty="0" err="1"/>
              <a:t>System.arraycopy</a:t>
            </a:r>
            <a:r>
              <a:rPr lang="en-IN" dirty="0"/>
              <a:t>(</a:t>
            </a:r>
            <a:r>
              <a:rPr lang="en-IN" dirty="0" err="1"/>
              <a:t>copyFrom</a:t>
            </a:r>
            <a:r>
              <a:rPr lang="en-IN" dirty="0"/>
              <a:t>, 2, </a:t>
            </a:r>
            <a:r>
              <a:rPr lang="en-IN" dirty="0" err="1"/>
              <a:t>copyTo</a:t>
            </a:r>
            <a:r>
              <a:rPr lang="en-IN" dirty="0"/>
              <a:t>, 0, 7);  </a:t>
            </a:r>
          </a:p>
          <a:p>
            <a:r>
              <a:rPr lang="en-IN" dirty="0"/>
              <a:t>        //printing the destination array  </a:t>
            </a:r>
          </a:p>
          <a:p>
            <a:r>
              <a:rPr lang="en-IN" dirty="0"/>
              <a:t>        </a:t>
            </a:r>
            <a:r>
              <a:rPr lang="en-IN" dirty="0" err="1"/>
              <a:t>System.out.println</a:t>
            </a:r>
            <a:r>
              <a:rPr lang="en-IN" dirty="0"/>
              <a:t>(</a:t>
            </a:r>
            <a:r>
              <a:rPr lang="en-IN" dirty="0" err="1"/>
              <a:t>String.valueOf</a:t>
            </a:r>
            <a:r>
              <a:rPr lang="en-IN" dirty="0"/>
              <a:t>(</a:t>
            </a:r>
            <a:r>
              <a:rPr lang="en-IN" dirty="0" err="1"/>
              <a:t>copyTo</a:t>
            </a:r>
            <a:r>
              <a:rPr lang="en-IN" dirty="0"/>
              <a:t>));  </a:t>
            </a:r>
          </a:p>
          <a:p>
            <a:r>
              <a:rPr lang="en-IN" dirty="0"/>
              <a:t>    }  </a:t>
            </a:r>
          </a:p>
          <a:p>
            <a:r>
              <a:rPr lang="en-IN" dirty="0"/>
              <a:t>} </a:t>
            </a:r>
          </a:p>
        </p:txBody>
      </p:sp>
      <p:pic>
        <p:nvPicPr>
          <p:cNvPr id="4" name="Picture 3"/>
          <p:cNvPicPr>
            <a:picLocks noChangeAspect="1"/>
          </p:cNvPicPr>
          <p:nvPr/>
        </p:nvPicPr>
        <p:blipFill>
          <a:blip r:embed="rId2"/>
          <a:stretch>
            <a:fillRect/>
          </a:stretch>
        </p:blipFill>
        <p:spPr>
          <a:xfrm>
            <a:off x="4043363" y="4992288"/>
            <a:ext cx="3248025" cy="1391286"/>
          </a:xfrm>
          <a:prstGeom prst="rect">
            <a:avLst/>
          </a:prstGeom>
        </p:spPr>
      </p:pic>
      <p:pic>
        <p:nvPicPr>
          <p:cNvPr id="6" name="Picture 5"/>
          <p:cNvPicPr>
            <a:picLocks noChangeAspect="1"/>
          </p:cNvPicPr>
          <p:nvPr/>
        </p:nvPicPr>
        <p:blipFill>
          <a:blip r:embed="rId3"/>
          <a:stretch>
            <a:fillRect/>
          </a:stretch>
        </p:blipFill>
        <p:spPr>
          <a:xfrm>
            <a:off x="8582025" y="5973999"/>
            <a:ext cx="3457575" cy="764425"/>
          </a:xfrm>
          <a:prstGeom prst="rect">
            <a:avLst/>
          </a:prstGeom>
        </p:spPr>
      </p:pic>
    </p:spTree>
    <p:extLst>
      <p:ext uri="{BB962C8B-B14F-4D97-AF65-F5344CB8AC3E}">
        <p14:creationId xmlns:p14="http://schemas.microsoft.com/office/powerpoint/2010/main" val="335700869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Java-Arrays</a:t>
            </a:r>
            <a:endParaRPr lang="en-US" dirty="0"/>
          </a:p>
        </p:txBody>
      </p:sp>
      <p:sp>
        <p:nvSpPr>
          <p:cNvPr id="3" name="Content Placeholder 2"/>
          <p:cNvSpPr>
            <a:spLocks noGrp="1"/>
          </p:cNvSpPr>
          <p:nvPr>
            <p:ph sz="half" idx="1"/>
          </p:nvPr>
        </p:nvSpPr>
        <p:spPr>
          <a:xfrm>
            <a:off x="134814" y="394529"/>
            <a:ext cx="11544568" cy="6343895"/>
          </a:xfrm>
        </p:spPr>
        <p:txBody>
          <a:bodyPr>
            <a:noAutofit/>
          </a:bodyPr>
          <a:lstStyle/>
          <a:p>
            <a:pPr marL="0" indent="0">
              <a:buNone/>
            </a:pPr>
            <a:r>
              <a:rPr lang="en-US" sz="2000" b="1" dirty="0"/>
              <a:t>Arrays Class</a:t>
            </a:r>
          </a:p>
          <a:p>
            <a:pPr marL="0" indent="0">
              <a:buNone/>
            </a:pPr>
            <a:r>
              <a:rPr lang="en-US" sz="2000" dirty="0"/>
              <a:t>The </a:t>
            </a:r>
            <a:r>
              <a:rPr lang="en-US" sz="2000" b="1" i="1" dirty="0" err="1"/>
              <a:t>java.util.Arrays</a:t>
            </a:r>
            <a:r>
              <a:rPr lang="en-US" sz="2000" dirty="0"/>
              <a:t> class contains various static methods for sorting and searching arrays, comparing arrays, and filling array elements.</a:t>
            </a:r>
            <a:r>
              <a:rPr lang="en-IN" sz="1800" dirty="0" smtClean="0"/>
              <a:t>    </a:t>
            </a:r>
          </a:p>
          <a:p>
            <a:pPr marL="0" indent="0">
              <a:buNone/>
            </a:pPr>
            <a:r>
              <a:rPr lang="en-US" sz="1800" b="1" dirty="0"/>
              <a:t>public static </a:t>
            </a:r>
            <a:r>
              <a:rPr lang="en-US" sz="1800" b="1" dirty="0" err="1"/>
              <a:t>int</a:t>
            </a:r>
            <a:r>
              <a:rPr lang="en-US" sz="1800" b="1" dirty="0"/>
              <a:t> </a:t>
            </a:r>
            <a:r>
              <a:rPr lang="en-US" sz="1800" b="1" dirty="0" err="1"/>
              <a:t>binarySearch</a:t>
            </a:r>
            <a:r>
              <a:rPr lang="en-US" sz="1800" b="1" dirty="0"/>
              <a:t>(Object[] a, Object key</a:t>
            </a:r>
            <a:r>
              <a:rPr lang="en-US" sz="1800" b="1" dirty="0" smtClean="0"/>
              <a:t>)</a:t>
            </a:r>
          </a:p>
          <a:p>
            <a:pPr marL="0" indent="0">
              <a:buNone/>
            </a:pPr>
            <a:r>
              <a:rPr lang="en-US" sz="1800" dirty="0"/>
              <a:t>The array must be sorted prior to making this call. This returns index of the search key, if it is contained in the list; otherwise, it returns ( – (insertion point + 1)).</a:t>
            </a:r>
          </a:p>
          <a:p>
            <a:pPr marL="0" indent="0">
              <a:buNone/>
            </a:pPr>
            <a:r>
              <a:rPr lang="en-US" sz="1800" b="1" dirty="0"/>
              <a:t>public static </a:t>
            </a:r>
            <a:r>
              <a:rPr lang="en-US" sz="1800" b="1" dirty="0" err="1"/>
              <a:t>boolean</a:t>
            </a:r>
            <a:r>
              <a:rPr lang="en-US" sz="1800" b="1" dirty="0"/>
              <a:t> equals(long[] a, long[] a2</a:t>
            </a:r>
            <a:r>
              <a:rPr lang="en-US" sz="1800" b="1" dirty="0" smtClean="0"/>
              <a:t>)</a:t>
            </a:r>
          </a:p>
          <a:p>
            <a:pPr marL="0" indent="0">
              <a:buNone/>
            </a:pPr>
            <a:r>
              <a:rPr lang="en-US" sz="1800" dirty="0"/>
              <a:t>Returns true if the two specified arrays of longs are equal to one another. Two arrays are considered equal if both arrays contain the same number of </a:t>
            </a:r>
            <a:r>
              <a:rPr lang="en-US" sz="1800" dirty="0" smtClean="0"/>
              <a:t>elements.</a:t>
            </a:r>
          </a:p>
          <a:p>
            <a:pPr marL="0" indent="0">
              <a:buNone/>
            </a:pPr>
            <a:r>
              <a:rPr lang="en-US" sz="1800" b="1" dirty="0"/>
              <a:t>public static void fill(</a:t>
            </a:r>
            <a:r>
              <a:rPr lang="en-US" sz="1800" b="1" dirty="0" err="1"/>
              <a:t>int</a:t>
            </a:r>
            <a:r>
              <a:rPr lang="en-US" sz="1800" b="1" dirty="0"/>
              <a:t>[] a, </a:t>
            </a:r>
            <a:r>
              <a:rPr lang="en-US" sz="1800" b="1" dirty="0" err="1"/>
              <a:t>int</a:t>
            </a:r>
            <a:r>
              <a:rPr lang="en-US" sz="1800" b="1" dirty="0"/>
              <a:t> </a:t>
            </a:r>
            <a:r>
              <a:rPr lang="en-US" sz="1800" b="1" dirty="0" err="1"/>
              <a:t>val</a:t>
            </a:r>
            <a:r>
              <a:rPr lang="en-US" sz="1800" b="1" dirty="0"/>
              <a:t>)</a:t>
            </a:r>
          </a:p>
          <a:p>
            <a:pPr marL="0" indent="0">
              <a:buNone/>
            </a:pPr>
            <a:r>
              <a:rPr lang="en-US" sz="1800" dirty="0" smtClean="0"/>
              <a:t>Assigns </a:t>
            </a:r>
            <a:r>
              <a:rPr lang="en-US" sz="1800" dirty="0"/>
              <a:t>the specified </a:t>
            </a:r>
            <a:r>
              <a:rPr lang="en-US" sz="1800" dirty="0" err="1"/>
              <a:t>int</a:t>
            </a:r>
            <a:r>
              <a:rPr lang="en-US" sz="1800" dirty="0"/>
              <a:t> value to each element of the specified array of </a:t>
            </a:r>
            <a:r>
              <a:rPr lang="en-US" sz="1800" dirty="0" smtClean="0"/>
              <a:t>int.</a:t>
            </a:r>
          </a:p>
          <a:p>
            <a:pPr marL="0" indent="0">
              <a:buNone/>
            </a:pPr>
            <a:r>
              <a:rPr lang="en-US" sz="1800" b="1" dirty="0"/>
              <a:t>public static void sort(Object[] a)</a:t>
            </a:r>
          </a:p>
          <a:p>
            <a:pPr marL="0" indent="0">
              <a:buNone/>
            </a:pPr>
            <a:r>
              <a:rPr lang="en-US" sz="1800" dirty="0" smtClean="0"/>
              <a:t>Sorts </a:t>
            </a:r>
            <a:r>
              <a:rPr lang="en-US" sz="1800" dirty="0"/>
              <a:t>the specified array of objects into an ascending order, according to the natural ordering of its elements.</a:t>
            </a:r>
            <a:endParaRPr lang="en-IN" sz="1800" dirty="0"/>
          </a:p>
        </p:txBody>
      </p:sp>
    </p:spTree>
    <p:extLst>
      <p:ext uri="{BB962C8B-B14F-4D97-AF65-F5344CB8AC3E}">
        <p14:creationId xmlns:p14="http://schemas.microsoft.com/office/powerpoint/2010/main" val="398627217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Java-Methods</a:t>
            </a:r>
            <a:endParaRPr lang="en-US" dirty="0"/>
          </a:p>
        </p:txBody>
      </p:sp>
      <p:sp>
        <p:nvSpPr>
          <p:cNvPr id="3" name="Content Placeholder 2"/>
          <p:cNvSpPr>
            <a:spLocks noGrp="1"/>
          </p:cNvSpPr>
          <p:nvPr>
            <p:ph sz="half" idx="1"/>
          </p:nvPr>
        </p:nvSpPr>
        <p:spPr>
          <a:xfrm>
            <a:off x="134814" y="394529"/>
            <a:ext cx="11544568" cy="6343895"/>
          </a:xfrm>
        </p:spPr>
        <p:txBody>
          <a:bodyPr>
            <a:noAutofit/>
          </a:bodyPr>
          <a:lstStyle/>
          <a:p>
            <a:pPr>
              <a:spcBef>
                <a:spcPts val="0"/>
              </a:spcBef>
            </a:pPr>
            <a:r>
              <a:rPr lang="en-US" sz="2000" dirty="0"/>
              <a:t>A method is a block of code or collection of statements or a set of code grouped together to perform a certain task or operation</a:t>
            </a:r>
            <a:r>
              <a:rPr lang="en-US" sz="2000" dirty="0" smtClean="0"/>
              <a:t>.</a:t>
            </a:r>
          </a:p>
          <a:p>
            <a:pPr>
              <a:spcBef>
                <a:spcPts val="0"/>
              </a:spcBef>
            </a:pPr>
            <a:r>
              <a:rPr lang="en-US" sz="2000" dirty="0" smtClean="0"/>
              <a:t>It </a:t>
            </a:r>
            <a:r>
              <a:rPr lang="en-US" sz="2000" dirty="0"/>
              <a:t>provides the reusability of code</a:t>
            </a:r>
            <a:r>
              <a:rPr lang="en-US" sz="2000" dirty="0" smtClean="0"/>
              <a:t>.</a:t>
            </a:r>
          </a:p>
          <a:p>
            <a:pPr>
              <a:spcBef>
                <a:spcPts val="0"/>
              </a:spcBef>
            </a:pPr>
            <a:r>
              <a:rPr lang="en-US" sz="2000" dirty="0" smtClean="0"/>
              <a:t>It is also </a:t>
            </a:r>
            <a:r>
              <a:rPr lang="en-US" sz="2000" dirty="0"/>
              <a:t>provides the easy modification and readability of code, just by adding or removing a chunk of code.</a:t>
            </a:r>
          </a:p>
          <a:p>
            <a:pPr>
              <a:spcBef>
                <a:spcPts val="0"/>
              </a:spcBef>
            </a:pPr>
            <a:r>
              <a:rPr lang="en-US" sz="1800" dirty="0"/>
              <a:t>main() is the starting point for JVM to start execution of a Java program. Without the main() method, JVM will not execute the </a:t>
            </a:r>
            <a:r>
              <a:rPr lang="en-US" sz="1800" dirty="0" smtClean="0"/>
              <a:t>program.</a:t>
            </a:r>
          </a:p>
          <a:p>
            <a:pPr marL="0" indent="0">
              <a:buNone/>
            </a:pPr>
            <a:r>
              <a:rPr lang="en-US" sz="1800" b="1" dirty="0"/>
              <a:t>Method Declaration</a:t>
            </a:r>
          </a:p>
          <a:p>
            <a:pPr marL="0" indent="0">
              <a:buNone/>
            </a:pPr>
            <a:r>
              <a:rPr lang="en-US" sz="1800" dirty="0"/>
              <a:t>The method declaration provides information about method attributes, such as visibility, return-type, name, and arguments. </a:t>
            </a:r>
            <a:endParaRPr lang="en-US" sz="1800" dirty="0" smtClean="0"/>
          </a:p>
          <a:p>
            <a:pPr marL="0" indent="0">
              <a:buNone/>
            </a:pPr>
            <a:r>
              <a:rPr lang="en-US" sz="1800" b="1" dirty="0" smtClean="0"/>
              <a:t>Syntax </a:t>
            </a:r>
          </a:p>
          <a:p>
            <a:pPr marL="0" indent="0">
              <a:spcBef>
                <a:spcPts val="0"/>
              </a:spcBef>
              <a:buNone/>
            </a:pPr>
            <a:r>
              <a:rPr lang="en-US" sz="1800" dirty="0" err="1" smtClean="0"/>
              <a:t>Access_specifier</a:t>
            </a:r>
            <a:r>
              <a:rPr lang="en-US" sz="1800" dirty="0" smtClean="0"/>
              <a:t> </a:t>
            </a:r>
            <a:r>
              <a:rPr lang="en-US" sz="1800" dirty="0" err="1" smtClean="0"/>
              <a:t>returntype</a:t>
            </a:r>
            <a:r>
              <a:rPr lang="en-US" sz="1800" dirty="0" smtClean="0"/>
              <a:t> </a:t>
            </a:r>
            <a:r>
              <a:rPr lang="en-US" sz="1800" dirty="0" err="1" smtClean="0"/>
              <a:t>methodname</a:t>
            </a:r>
            <a:r>
              <a:rPr lang="en-US" sz="1800" dirty="0" smtClean="0"/>
              <a:t> (parameter list)</a:t>
            </a:r>
          </a:p>
          <a:p>
            <a:pPr marL="0" indent="0">
              <a:spcBef>
                <a:spcPts val="0"/>
              </a:spcBef>
              <a:buNone/>
            </a:pPr>
            <a:r>
              <a:rPr lang="en-US" sz="1800" dirty="0" smtClean="0"/>
              <a:t>{</a:t>
            </a:r>
          </a:p>
          <a:p>
            <a:pPr marL="0" indent="0">
              <a:spcBef>
                <a:spcPts val="0"/>
              </a:spcBef>
              <a:buNone/>
            </a:pPr>
            <a:r>
              <a:rPr lang="en-US" sz="1800" dirty="0" smtClean="0"/>
              <a:t>//method body;</a:t>
            </a:r>
          </a:p>
          <a:p>
            <a:pPr marL="0" indent="0">
              <a:spcBef>
                <a:spcPts val="0"/>
              </a:spcBef>
              <a:buNone/>
            </a:pPr>
            <a:r>
              <a:rPr lang="en-US" sz="1800" dirty="0" smtClean="0"/>
              <a:t>}</a:t>
            </a:r>
          </a:p>
          <a:p>
            <a:pPr marL="0" indent="0">
              <a:buNone/>
            </a:pPr>
            <a:r>
              <a:rPr lang="en-US" sz="1800" b="1" dirty="0" err="1" smtClean="0"/>
              <a:t>Methodname</a:t>
            </a:r>
            <a:r>
              <a:rPr lang="en-US" sz="1800" b="1" dirty="0" smtClean="0"/>
              <a:t>(parameter list)</a:t>
            </a:r>
            <a:r>
              <a:rPr lang="en-US" sz="1800" b="1" dirty="0" smtClean="0">
                <a:sym typeface="Wingdings" panose="05000000000000000000" pitchFamily="2" charset="2"/>
              </a:rPr>
              <a:t> method signature</a:t>
            </a:r>
          </a:p>
          <a:p>
            <a:pPr marL="0" indent="0">
              <a:buNone/>
            </a:pPr>
            <a:r>
              <a:rPr lang="en-US" sz="1800" dirty="0" err="1" smtClean="0">
                <a:sym typeface="Wingdings" panose="05000000000000000000" pitchFamily="2" charset="2"/>
              </a:rPr>
              <a:t>Access_specifier</a:t>
            </a:r>
            <a:r>
              <a:rPr lang="en-US" sz="1800" dirty="0" smtClean="0">
                <a:sym typeface="Wingdings" panose="05000000000000000000" pitchFamily="2" charset="2"/>
              </a:rPr>
              <a:t>: public, private, protected, Default </a:t>
            </a:r>
          </a:p>
          <a:p>
            <a:pPr marL="0" indent="0">
              <a:buNone/>
            </a:pPr>
            <a:r>
              <a:rPr lang="en-US" sz="1800" dirty="0" err="1" smtClean="0">
                <a:sym typeface="Wingdings" panose="05000000000000000000" pitchFamily="2" charset="2"/>
              </a:rPr>
              <a:t>Return_type</a:t>
            </a:r>
            <a:r>
              <a:rPr lang="en-US" sz="1800" dirty="0" smtClean="0">
                <a:sym typeface="Wingdings" panose="05000000000000000000" pitchFamily="2" charset="2"/>
              </a:rPr>
              <a:t>: data type that the method returns. </a:t>
            </a:r>
          </a:p>
          <a:p>
            <a:pPr marL="0" indent="0">
              <a:buNone/>
            </a:pPr>
            <a:r>
              <a:rPr lang="en-US" sz="1800" dirty="0" err="1" smtClean="0">
                <a:sym typeface="Wingdings" panose="05000000000000000000" pitchFamily="2" charset="2"/>
              </a:rPr>
              <a:t>Method_name</a:t>
            </a:r>
            <a:r>
              <a:rPr lang="en-US" sz="1800" dirty="0" smtClean="0">
                <a:sym typeface="Wingdings" panose="05000000000000000000" pitchFamily="2" charset="2"/>
              </a:rPr>
              <a:t>: unique name based on the functionality, </a:t>
            </a:r>
          </a:p>
          <a:p>
            <a:pPr marL="0" indent="0">
              <a:buNone/>
            </a:pPr>
            <a:r>
              <a:rPr lang="en-US" sz="1800" dirty="0" smtClean="0">
                <a:sym typeface="Wingdings" panose="05000000000000000000" pitchFamily="2" charset="2"/>
              </a:rPr>
              <a:t>parameter list: parameters separated by comma in ().It includes datatype and variable name</a:t>
            </a:r>
          </a:p>
          <a:p>
            <a:pPr marL="0" indent="0">
              <a:buNone/>
            </a:pPr>
            <a:r>
              <a:rPr lang="en-US" sz="1800" dirty="0" smtClean="0">
                <a:sym typeface="Wingdings" panose="05000000000000000000" pitchFamily="2" charset="2"/>
              </a:rPr>
              <a:t>Method body: Enclosed within { }. It includes actions to be performed.</a:t>
            </a:r>
            <a:endParaRPr lang="en-US" sz="1800" dirty="0">
              <a:sym typeface="Wingdings" panose="05000000000000000000" pitchFamily="2" charset="2"/>
            </a:endParaRPr>
          </a:p>
        </p:txBody>
      </p:sp>
      <p:sp>
        <p:nvSpPr>
          <p:cNvPr id="5" name="TextBox 4"/>
          <p:cNvSpPr txBox="1"/>
          <p:nvPr/>
        </p:nvSpPr>
        <p:spPr>
          <a:xfrm>
            <a:off x="6962775" y="3014663"/>
            <a:ext cx="5229225" cy="2585323"/>
          </a:xfrm>
          <a:prstGeom prst="rect">
            <a:avLst/>
          </a:prstGeom>
          <a:noFill/>
        </p:spPr>
        <p:txBody>
          <a:bodyPr wrap="square" rtlCol="0">
            <a:spAutoFit/>
          </a:bodyPr>
          <a:lstStyle/>
          <a:p>
            <a:r>
              <a:rPr lang="en-IN" b="1" dirty="0" smtClean="0"/>
              <a:t>Types of Method:</a:t>
            </a:r>
          </a:p>
          <a:p>
            <a:r>
              <a:rPr lang="en-IN" b="1" dirty="0" smtClean="0"/>
              <a:t>Predefined method</a:t>
            </a:r>
            <a:r>
              <a:rPr lang="en-IN" dirty="0" smtClean="0"/>
              <a:t>-Defined in Java Class libraries</a:t>
            </a:r>
          </a:p>
          <a:p>
            <a:r>
              <a:rPr lang="en-IN" dirty="0"/>
              <a:t>	</a:t>
            </a:r>
            <a:r>
              <a:rPr lang="en-IN" dirty="0" smtClean="0"/>
              <a:t>Standard library method or built-in method. </a:t>
            </a:r>
            <a:r>
              <a:rPr lang="en-IN" dirty="0" err="1" smtClean="0"/>
              <a:t>Eg</a:t>
            </a:r>
            <a:r>
              <a:rPr lang="en-IN" dirty="0" smtClean="0"/>
              <a:t>. </a:t>
            </a:r>
            <a:r>
              <a:rPr lang="en-IN" dirty="0" err="1"/>
              <a:t>s</a:t>
            </a:r>
            <a:r>
              <a:rPr lang="en-IN" dirty="0" err="1" smtClean="0"/>
              <a:t>qrt</a:t>
            </a:r>
            <a:r>
              <a:rPr lang="en-IN" dirty="0" smtClean="0"/>
              <a:t>(), print()</a:t>
            </a:r>
          </a:p>
          <a:p>
            <a:r>
              <a:rPr lang="en-IN" b="1" dirty="0" smtClean="0"/>
              <a:t>User-defined method</a:t>
            </a:r>
          </a:p>
          <a:p>
            <a:r>
              <a:rPr lang="en-IN" dirty="0"/>
              <a:t>	</a:t>
            </a:r>
            <a:r>
              <a:rPr lang="en-IN" dirty="0" smtClean="0"/>
              <a:t>Instance method</a:t>
            </a:r>
          </a:p>
          <a:p>
            <a:r>
              <a:rPr lang="en-IN" dirty="0"/>
              <a:t>	</a:t>
            </a:r>
            <a:r>
              <a:rPr lang="en-IN" dirty="0" smtClean="0"/>
              <a:t>Static method</a:t>
            </a:r>
          </a:p>
          <a:p>
            <a:r>
              <a:rPr lang="en-IN" dirty="0"/>
              <a:t>	</a:t>
            </a:r>
            <a:r>
              <a:rPr lang="en-IN" dirty="0" smtClean="0"/>
              <a:t>Abstract method</a:t>
            </a:r>
          </a:p>
          <a:p>
            <a:r>
              <a:rPr lang="en-IN" dirty="0"/>
              <a:t>	</a:t>
            </a:r>
            <a:r>
              <a:rPr lang="en-IN" dirty="0" smtClean="0"/>
              <a:t>Factory method</a:t>
            </a:r>
            <a:endParaRPr lang="en-IN" dirty="0"/>
          </a:p>
        </p:txBody>
      </p:sp>
    </p:spTree>
    <p:extLst>
      <p:ext uri="{BB962C8B-B14F-4D97-AF65-F5344CB8AC3E}">
        <p14:creationId xmlns:p14="http://schemas.microsoft.com/office/powerpoint/2010/main" val="11414869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Java-Methods</a:t>
            </a:r>
            <a:endParaRPr lang="en-US" dirty="0"/>
          </a:p>
        </p:txBody>
      </p:sp>
      <p:sp>
        <p:nvSpPr>
          <p:cNvPr id="3" name="Content Placeholder 2"/>
          <p:cNvSpPr>
            <a:spLocks noGrp="1"/>
          </p:cNvSpPr>
          <p:nvPr>
            <p:ph sz="half" idx="1"/>
          </p:nvPr>
        </p:nvSpPr>
        <p:spPr>
          <a:xfrm>
            <a:off x="134814" y="394529"/>
            <a:ext cx="11544568" cy="6343895"/>
          </a:xfrm>
        </p:spPr>
        <p:txBody>
          <a:bodyPr>
            <a:noAutofit/>
          </a:bodyPr>
          <a:lstStyle/>
          <a:p>
            <a:pPr>
              <a:spcBef>
                <a:spcPts val="0"/>
              </a:spcBef>
            </a:pPr>
            <a:r>
              <a:rPr lang="en-US" sz="2000" dirty="0"/>
              <a:t>A method is a block of code or collection of statements or a set of code grouped together to perform a certain task or operation</a:t>
            </a:r>
            <a:r>
              <a:rPr lang="en-US" sz="2000" dirty="0" smtClean="0"/>
              <a:t>.</a:t>
            </a:r>
          </a:p>
          <a:p>
            <a:pPr>
              <a:spcBef>
                <a:spcPts val="0"/>
              </a:spcBef>
            </a:pPr>
            <a:r>
              <a:rPr lang="en-US" sz="2000" dirty="0" smtClean="0"/>
              <a:t>It </a:t>
            </a:r>
            <a:r>
              <a:rPr lang="en-US" sz="2000" dirty="0"/>
              <a:t>provides the reusability of code</a:t>
            </a:r>
            <a:r>
              <a:rPr lang="en-US" sz="2000" dirty="0" smtClean="0"/>
              <a:t>.</a:t>
            </a:r>
          </a:p>
          <a:p>
            <a:pPr>
              <a:spcBef>
                <a:spcPts val="0"/>
              </a:spcBef>
            </a:pPr>
            <a:r>
              <a:rPr lang="en-US" sz="2000" dirty="0" smtClean="0"/>
              <a:t>It is also </a:t>
            </a:r>
            <a:r>
              <a:rPr lang="en-US" sz="2000" dirty="0"/>
              <a:t>provides the easy modification and readability of code, just by adding or removing a chunk of code.</a:t>
            </a:r>
          </a:p>
          <a:p>
            <a:pPr>
              <a:spcBef>
                <a:spcPts val="0"/>
              </a:spcBef>
            </a:pPr>
            <a:r>
              <a:rPr lang="en-US" sz="1800" dirty="0"/>
              <a:t>main() is the starting point for JVM to start execution of a Java program. Without the main() method, JVM will not execute the </a:t>
            </a:r>
            <a:r>
              <a:rPr lang="en-US" sz="1800" dirty="0" smtClean="0"/>
              <a:t>program.</a:t>
            </a:r>
          </a:p>
          <a:p>
            <a:pPr marL="0" indent="0">
              <a:spcBef>
                <a:spcPts val="0"/>
              </a:spcBef>
              <a:buNone/>
            </a:pPr>
            <a:r>
              <a:rPr lang="en-US" sz="1800" b="1" dirty="0" smtClean="0"/>
              <a:t>Private</a:t>
            </a:r>
          </a:p>
          <a:p>
            <a:pPr marL="0" indent="0">
              <a:spcBef>
                <a:spcPts val="0"/>
              </a:spcBef>
              <a:buNone/>
            </a:pPr>
            <a:r>
              <a:rPr lang="en-US" sz="1800" dirty="0" smtClean="0"/>
              <a:t>Least </a:t>
            </a:r>
            <a:r>
              <a:rPr lang="en-US" sz="1800" dirty="0"/>
              <a:t>accessible</a:t>
            </a:r>
            <a:r>
              <a:rPr lang="en-US" sz="1800" dirty="0" smtClean="0"/>
              <a:t>.</a:t>
            </a:r>
          </a:p>
          <a:p>
            <a:pPr marL="0" indent="0">
              <a:spcBef>
                <a:spcPts val="0"/>
              </a:spcBef>
              <a:buNone/>
            </a:pPr>
            <a:r>
              <a:rPr lang="en-US" sz="1800" dirty="0" smtClean="0"/>
              <a:t>Members </a:t>
            </a:r>
            <a:r>
              <a:rPr lang="en-US" sz="1800" dirty="0"/>
              <a:t>(variables, methods) are accessible only within the same class</a:t>
            </a:r>
            <a:r>
              <a:rPr lang="en-US" sz="1800" dirty="0" smtClean="0"/>
              <a:t>.</a:t>
            </a:r>
          </a:p>
          <a:p>
            <a:pPr marL="0" indent="0">
              <a:spcBef>
                <a:spcPts val="0"/>
              </a:spcBef>
              <a:buNone/>
            </a:pPr>
            <a:r>
              <a:rPr lang="en-US" sz="1800" dirty="0" smtClean="0"/>
              <a:t>Not </a:t>
            </a:r>
            <a:r>
              <a:rPr lang="en-US" sz="1800" dirty="0"/>
              <a:t>accessible from outside the class or even in subclasses</a:t>
            </a:r>
            <a:r>
              <a:rPr lang="en-US" sz="1800" dirty="0" smtClean="0"/>
              <a:t>.</a:t>
            </a:r>
          </a:p>
          <a:p>
            <a:pPr marL="0" indent="0">
              <a:spcBef>
                <a:spcPts val="0"/>
              </a:spcBef>
              <a:buNone/>
            </a:pPr>
            <a:r>
              <a:rPr lang="en-US" sz="1800" b="1" dirty="0" smtClean="0"/>
              <a:t>Public</a:t>
            </a:r>
          </a:p>
          <a:p>
            <a:pPr marL="0" indent="0">
              <a:spcBef>
                <a:spcPts val="0"/>
              </a:spcBef>
              <a:buNone/>
            </a:pPr>
            <a:r>
              <a:rPr lang="en-US" sz="1800" dirty="0" smtClean="0"/>
              <a:t>Most </a:t>
            </a:r>
            <a:r>
              <a:rPr lang="en-US" sz="1800" dirty="0"/>
              <a:t>accessible</a:t>
            </a:r>
            <a:r>
              <a:rPr lang="en-US" sz="1800" dirty="0" smtClean="0"/>
              <a:t>.</a:t>
            </a:r>
          </a:p>
          <a:p>
            <a:pPr marL="0" indent="0">
              <a:spcBef>
                <a:spcPts val="0"/>
              </a:spcBef>
              <a:buNone/>
            </a:pPr>
            <a:r>
              <a:rPr lang="en-US" sz="1800" dirty="0" smtClean="0"/>
              <a:t>Members </a:t>
            </a:r>
            <a:r>
              <a:rPr lang="en-US" sz="1800" dirty="0"/>
              <a:t>are accessible from </a:t>
            </a:r>
            <a:r>
              <a:rPr lang="en-US" sz="1800" dirty="0" smtClean="0"/>
              <a:t>anywhere</a:t>
            </a:r>
          </a:p>
          <a:p>
            <a:pPr>
              <a:spcBef>
                <a:spcPts val="0"/>
              </a:spcBef>
            </a:pPr>
            <a:r>
              <a:rPr lang="en-US" sz="1800" dirty="0" smtClean="0"/>
              <a:t>Same class</a:t>
            </a:r>
          </a:p>
          <a:p>
            <a:pPr>
              <a:spcBef>
                <a:spcPts val="0"/>
              </a:spcBef>
            </a:pPr>
            <a:r>
              <a:rPr lang="en-US" sz="1800" dirty="0" smtClean="0"/>
              <a:t>Other classes</a:t>
            </a:r>
          </a:p>
          <a:p>
            <a:pPr>
              <a:spcBef>
                <a:spcPts val="0"/>
              </a:spcBef>
            </a:pPr>
            <a:r>
              <a:rPr lang="en-US" sz="1800" dirty="0" smtClean="0"/>
              <a:t>Subclasses</a:t>
            </a:r>
          </a:p>
          <a:p>
            <a:pPr>
              <a:spcBef>
                <a:spcPts val="0"/>
              </a:spcBef>
            </a:pPr>
            <a:r>
              <a:rPr lang="en-US" sz="1800" dirty="0" smtClean="0"/>
              <a:t>Different packages</a:t>
            </a:r>
          </a:p>
          <a:p>
            <a:pPr marL="0" indent="0">
              <a:spcBef>
                <a:spcPts val="0"/>
              </a:spcBef>
              <a:buNone/>
            </a:pPr>
            <a:r>
              <a:rPr lang="en-US" sz="1800" b="1" dirty="0" smtClean="0"/>
              <a:t>Protected</a:t>
            </a:r>
          </a:p>
          <a:p>
            <a:pPr marL="0" indent="0">
              <a:spcBef>
                <a:spcPts val="0"/>
              </a:spcBef>
              <a:buNone/>
            </a:pPr>
            <a:r>
              <a:rPr lang="en-US" sz="1800" dirty="0" smtClean="0"/>
              <a:t>Accessible </a:t>
            </a:r>
            <a:r>
              <a:rPr lang="en-US" sz="1800" dirty="0"/>
              <a:t>within the same package, and also in subclasses </a:t>
            </a:r>
            <a:endParaRPr lang="en-US" sz="1800" dirty="0" smtClean="0"/>
          </a:p>
          <a:p>
            <a:pPr marL="0" indent="0">
              <a:spcBef>
                <a:spcPts val="0"/>
              </a:spcBef>
              <a:buNone/>
            </a:pPr>
            <a:r>
              <a:rPr lang="en-US" sz="1800" dirty="0" smtClean="0"/>
              <a:t>(</a:t>
            </a:r>
            <a:r>
              <a:rPr lang="en-US" sz="1800" dirty="0"/>
              <a:t>even if in different packages</a:t>
            </a:r>
            <a:r>
              <a:rPr lang="en-US" sz="1800" dirty="0" smtClean="0"/>
              <a:t>).</a:t>
            </a:r>
          </a:p>
          <a:p>
            <a:pPr marL="0" indent="0">
              <a:spcBef>
                <a:spcPts val="0"/>
              </a:spcBef>
              <a:buNone/>
            </a:pPr>
            <a:r>
              <a:rPr lang="en-US" sz="1800" dirty="0" smtClean="0"/>
              <a:t>Commonly </a:t>
            </a:r>
            <a:r>
              <a:rPr lang="en-US" sz="1800" dirty="0"/>
              <a:t>used for </a:t>
            </a:r>
            <a:r>
              <a:rPr lang="en-US" sz="1800" dirty="0" smtClean="0"/>
              <a:t>inheritance.</a:t>
            </a:r>
          </a:p>
          <a:p>
            <a:pPr>
              <a:spcBef>
                <a:spcPts val="0"/>
              </a:spcBef>
            </a:pPr>
            <a:r>
              <a:rPr lang="en-US" sz="1800" dirty="0"/>
              <a:t>Use private for fields to encapsulate data</a:t>
            </a:r>
            <a:r>
              <a:rPr lang="en-US" sz="1800" dirty="0" smtClean="0"/>
              <a:t>.</a:t>
            </a:r>
          </a:p>
          <a:p>
            <a:pPr>
              <a:spcBef>
                <a:spcPts val="0"/>
              </a:spcBef>
            </a:pPr>
            <a:r>
              <a:rPr lang="en-US" sz="1800" dirty="0" smtClean="0"/>
              <a:t>Use </a:t>
            </a:r>
            <a:r>
              <a:rPr lang="en-US" sz="1800" dirty="0"/>
              <a:t>public for methods that form the public API</a:t>
            </a:r>
            <a:r>
              <a:rPr lang="en-US" sz="1800" dirty="0" smtClean="0"/>
              <a:t>.</a:t>
            </a:r>
          </a:p>
          <a:p>
            <a:pPr>
              <a:spcBef>
                <a:spcPts val="0"/>
              </a:spcBef>
            </a:pPr>
            <a:r>
              <a:rPr lang="en-US" sz="1800" dirty="0" smtClean="0"/>
              <a:t>Use </a:t>
            </a:r>
            <a:r>
              <a:rPr lang="en-US" sz="1800" dirty="0"/>
              <a:t>protected when designing inheritance hierarchies.</a:t>
            </a:r>
            <a:endParaRPr lang="en-US" sz="1800" dirty="0" smtClean="0"/>
          </a:p>
        </p:txBody>
      </p:sp>
      <p:graphicFrame>
        <p:nvGraphicFramePr>
          <p:cNvPr id="4" name="Table 3"/>
          <p:cNvGraphicFramePr>
            <a:graphicFrameLocks noGrp="1"/>
          </p:cNvGraphicFramePr>
          <p:nvPr>
            <p:extLst>
              <p:ext uri="{D42A27DB-BD31-4B8C-83A1-F6EECF244321}">
                <p14:modId xmlns:p14="http://schemas.microsoft.com/office/powerpoint/2010/main" val="3793623999"/>
              </p:ext>
            </p:extLst>
          </p:nvPr>
        </p:nvGraphicFramePr>
        <p:xfrm>
          <a:off x="6649158" y="2870713"/>
          <a:ext cx="5452530" cy="2651760"/>
        </p:xfrm>
        <a:graphic>
          <a:graphicData uri="http://schemas.openxmlformats.org/drawingml/2006/table">
            <a:tbl>
              <a:tblPr/>
              <a:tblGrid>
                <a:gridCol w="1090506">
                  <a:extLst>
                    <a:ext uri="{9D8B030D-6E8A-4147-A177-3AD203B41FA5}">
                      <a16:colId xmlns:a16="http://schemas.microsoft.com/office/drawing/2014/main" val="4214830150"/>
                    </a:ext>
                  </a:extLst>
                </a:gridCol>
                <a:gridCol w="1090506">
                  <a:extLst>
                    <a:ext uri="{9D8B030D-6E8A-4147-A177-3AD203B41FA5}">
                      <a16:colId xmlns:a16="http://schemas.microsoft.com/office/drawing/2014/main" val="1564346031"/>
                    </a:ext>
                  </a:extLst>
                </a:gridCol>
                <a:gridCol w="1090506">
                  <a:extLst>
                    <a:ext uri="{9D8B030D-6E8A-4147-A177-3AD203B41FA5}">
                      <a16:colId xmlns:a16="http://schemas.microsoft.com/office/drawing/2014/main" val="1692347610"/>
                    </a:ext>
                  </a:extLst>
                </a:gridCol>
                <a:gridCol w="1090506">
                  <a:extLst>
                    <a:ext uri="{9D8B030D-6E8A-4147-A177-3AD203B41FA5}">
                      <a16:colId xmlns:a16="http://schemas.microsoft.com/office/drawing/2014/main" val="2031060742"/>
                    </a:ext>
                  </a:extLst>
                </a:gridCol>
                <a:gridCol w="1090506">
                  <a:extLst>
                    <a:ext uri="{9D8B030D-6E8A-4147-A177-3AD203B41FA5}">
                      <a16:colId xmlns:a16="http://schemas.microsoft.com/office/drawing/2014/main" val="1501514002"/>
                    </a:ext>
                  </a:extLst>
                </a:gridCol>
              </a:tblGrid>
              <a:tr h="0">
                <a:tc>
                  <a:txBody>
                    <a:bodyPr/>
                    <a:lstStyle/>
                    <a:p>
                      <a:r>
                        <a:rPr lang="en-IN"/>
                        <a:t>Modifier</a:t>
                      </a:r>
                    </a:p>
                  </a:txBody>
                  <a:tcPr anchor="ctr">
                    <a:lnL>
                      <a:noFill/>
                    </a:lnL>
                    <a:lnR>
                      <a:noFill/>
                    </a:lnR>
                    <a:lnT>
                      <a:noFill/>
                    </a:lnT>
                    <a:lnB>
                      <a:noFill/>
                    </a:lnB>
                  </a:tcPr>
                </a:tc>
                <a:tc>
                  <a:txBody>
                    <a:bodyPr/>
                    <a:lstStyle/>
                    <a:p>
                      <a:r>
                        <a:rPr lang="en-IN"/>
                        <a:t>Same Class</a:t>
                      </a:r>
                    </a:p>
                  </a:txBody>
                  <a:tcPr anchor="ctr">
                    <a:lnL>
                      <a:noFill/>
                    </a:lnL>
                    <a:lnR>
                      <a:noFill/>
                    </a:lnR>
                    <a:lnT>
                      <a:noFill/>
                    </a:lnT>
                    <a:lnB>
                      <a:noFill/>
                    </a:lnB>
                  </a:tcPr>
                </a:tc>
                <a:tc>
                  <a:txBody>
                    <a:bodyPr/>
                    <a:lstStyle/>
                    <a:p>
                      <a:r>
                        <a:rPr lang="en-IN"/>
                        <a:t>Same Package</a:t>
                      </a:r>
                    </a:p>
                  </a:txBody>
                  <a:tcPr anchor="ctr">
                    <a:lnL>
                      <a:noFill/>
                    </a:lnL>
                    <a:lnR>
                      <a:noFill/>
                    </a:lnR>
                    <a:lnT>
                      <a:noFill/>
                    </a:lnT>
                    <a:lnB>
                      <a:noFill/>
                    </a:lnB>
                  </a:tcPr>
                </a:tc>
                <a:tc>
                  <a:txBody>
                    <a:bodyPr/>
                    <a:lstStyle/>
                    <a:p>
                      <a:r>
                        <a:rPr lang="en-IN"/>
                        <a:t>Subclass (different package)</a:t>
                      </a:r>
                    </a:p>
                  </a:txBody>
                  <a:tcPr anchor="ctr">
                    <a:lnL>
                      <a:noFill/>
                    </a:lnL>
                    <a:lnR>
                      <a:noFill/>
                    </a:lnR>
                    <a:lnT>
                      <a:noFill/>
                    </a:lnT>
                    <a:lnB>
                      <a:noFill/>
                    </a:lnB>
                  </a:tcPr>
                </a:tc>
                <a:tc>
                  <a:txBody>
                    <a:bodyPr/>
                    <a:lstStyle/>
                    <a:p>
                      <a:r>
                        <a:rPr lang="en-IN"/>
                        <a:t>Other Classes</a:t>
                      </a:r>
                    </a:p>
                  </a:txBody>
                  <a:tcPr anchor="ctr">
                    <a:lnL>
                      <a:noFill/>
                    </a:lnL>
                    <a:lnR>
                      <a:noFill/>
                    </a:lnR>
                    <a:lnT>
                      <a:noFill/>
                    </a:lnT>
                    <a:lnB>
                      <a:noFill/>
                    </a:lnB>
                  </a:tcPr>
                </a:tc>
                <a:extLst>
                  <a:ext uri="{0D108BD9-81ED-4DB2-BD59-A6C34878D82A}">
                    <a16:rowId xmlns:a16="http://schemas.microsoft.com/office/drawing/2014/main" val="2503217171"/>
                  </a:ext>
                </a:extLst>
              </a:tr>
              <a:tr h="0">
                <a:tc>
                  <a:txBody>
                    <a:bodyPr/>
                    <a:lstStyle/>
                    <a:p>
                      <a:r>
                        <a:rPr lang="en-IN"/>
                        <a:t>private</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extLst>
                  <a:ext uri="{0D108BD9-81ED-4DB2-BD59-A6C34878D82A}">
                    <a16:rowId xmlns:a16="http://schemas.microsoft.com/office/drawing/2014/main" val="4206578443"/>
                  </a:ext>
                </a:extLst>
              </a:tr>
              <a:tr h="0">
                <a:tc>
                  <a:txBody>
                    <a:bodyPr/>
                    <a:lstStyle/>
                    <a:p>
                      <a:r>
                        <a:rPr lang="en-IN" i="1"/>
                        <a:t>(default)</a:t>
                      </a:r>
                      <a:endParaRPr lang="en-IN"/>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extLst>
                  <a:ext uri="{0D108BD9-81ED-4DB2-BD59-A6C34878D82A}">
                    <a16:rowId xmlns:a16="http://schemas.microsoft.com/office/drawing/2014/main" val="1175815245"/>
                  </a:ext>
                </a:extLst>
              </a:tr>
              <a:tr h="0">
                <a:tc>
                  <a:txBody>
                    <a:bodyPr/>
                    <a:lstStyle/>
                    <a:p>
                      <a:r>
                        <a:rPr lang="en-IN"/>
                        <a:t>protected</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extLst>
                  <a:ext uri="{0D108BD9-81ED-4DB2-BD59-A6C34878D82A}">
                    <a16:rowId xmlns:a16="http://schemas.microsoft.com/office/drawing/2014/main" val="696738875"/>
                  </a:ext>
                </a:extLst>
              </a:tr>
              <a:tr h="0">
                <a:tc>
                  <a:txBody>
                    <a:bodyPr/>
                    <a:lstStyle/>
                    <a:p>
                      <a:r>
                        <a:rPr lang="en-IN"/>
                        <a:t>public</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dirty="0"/>
                        <a:t>✅</a:t>
                      </a:r>
                    </a:p>
                  </a:txBody>
                  <a:tcPr anchor="ctr">
                    <a:lnL>
                      <a:noFill/>
                    </a:lnL>
                    <a:lnR>
                      <a:noFill/>
                    </a:lnR>
                    <a:lnT>
                      <a:noFill/>
                    </a:lnT>
                    <a:lnB>
                      <a:noFill/>
                    </a:lnB>
                  </a:tcPr>
                </a:tc>
                <a:extLst>
                  <a:ext uri="{0D108BD9-81ED-4DB2-BD59-A6C34878D82A}">
                    <a16:rowId xmlns:a16="http://schemas.microsoft.com/office/drawing/2014/main" val="4029113702"/>
                  </a:ext>
                </a:extLst>
              </a:tr>
            </a:tbl>
          </a:graphicData>
        </a:graphic>
      </p:graphicFrame>
    </p:spTree>
    <p:extLst>
      <p:ext uri="{BB962C8B-B14F-4D97-AF65-F5344CB8AC3E}">
        <p14:creationId xmlns:p14="http://schemas.microsoft.com/office/powerpoint/2010/main" val="75476684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Java-Constructors</a:t>
            </a:r>
            <a:endParaRPr lang="en-US" dirty="0"/>
          </a:p>
        </p:txBody>
      </p:sp>
      <p:sp>
        <p:nvSpPr>
          <p:cNvPr id="3" name="Content Placeholder 2"/>
          <p:cNvSpPr>
            <a:spLocks noGrp="1"/>
          </p:cNvSpPr>
          <p:nvPr>
            <p:ph sz="half" idx="1"/>
          </p:nvPr>
        </p:nvSpPr>
        <p:spPr>
          <a:xfrm>
            <a:off x="134814" y="394529"/>
            <a:ext cx="11544568" cy="6343895"/>
          </a:xfrm>
        </p:spPr>
        <p:txBody>
          <a:bodyPr>
            <a:noAutofit/>
          </a:bodyPr>
          <a:lstStyle/>
          <a:p>
            <a:pPr>
              <a:spcBef>
                <a:spcPts val="0"/>
              </a:spcBef>
            </a:pPr>
            <a:r>
              <a:rPr lang="en-US" sz="1800" dirty="0" smtClean="0">
                <a:sym typeface="Wingdings" panose="05000000000000000000" pitchFamily="2" charset="2"/>
              </a:rPr>
              <a:t>Named as constructor because it constructs the values @ time of object creation</a:t>
            </a:r>
          </a:p>
          <a:p>
            <a:pPr>
              <a:spcBef>
                <a:spcPts val="0"/>
              </a:spcBef>
            </a:pPr>
            <a:r>
              <a:rPr lang="en-IN" sz="1800" dirty="0"/>
              <a:t>It is not necessary to write a constructor for a </a:t>
            </a:r>
            <a:r>
              <a:rPr lang="en-IN" sz="1800" dirty="0" smtClean="0"/>
              <a:t>class</a:t>
            </a:r>
            <a:r>
              <a:rPr lang="en-IN" sz="1800" dirty="0"/>
              <a:t>,</a:t>
            </a:r>
            <a:r>
              <a:rPr lang="en-IN" sz="1800" dirty="0" smtClean="0"/>
              <a:t> </a:t>
            </a:r>
            <a:r>
              <a:rPr lang="en-IN" sz="1800" dirty="0"/>
              <a:t>because java compiler creates a default constructor if your class doesn't have any</a:t>
            </a:r>
            <a:r>
              <a:rPr lang="en-IN" sz="1800" dirty="0" smtClean="0"/>
              <a:t>.</a:t>
            </a:r>
          </a:p>
          <a:p>
            <a:pPr>
              <a:spcBef>
                <a:spcPts val="0"/>
              </a:spcBef>
            </a:pPr>
            <a:r>
              <a:rPr lang="en-IN" sz="1800" dirty="0" smtClean="0"/>
              <a:t>It has a </a:t>
            </a:r>
            <a:r>
              <a:rPr lang="en-IN" sz="1800" dirty="0"/>
              <a:t>block of codes similar to the method. It is called when an instance of the class is created</a:t>
            </a:r>
            <a:r>
              <a:rPr lang="en-IN" sz="1800" dirty="0" smtClean="0"/>
              <a:t>.</a:t>
            </a:r>
          </a:p>
          <a:p>
            <a:pPr>
              <a:spcBef>
                <a:spcPts val="0"/>
              </a:spcBef>
            </a:pPr>
            <a:r>
              <a:rPr lang="en-IN" sz="1800" dirty="0" smtClean="0"/>
              <a:t>When constructor is called, </a:t>
            </a:r>
            <a:r>
              <a:rPr lang="en-IN" sz="1800" dirty="0"/>
              <a:t>memory for the object is </a:t>
            </a:r>
            <a:r>
              <a:rPr lang="en-IN" sz="1800" dirty="0" smtClean="0"/>
              <a:t>allocated.</a:t>
            </a:r>
          </a:p>
          <a:p>
            <a:pPr>
              <a:spcBef>
                <a:spcPts val="0"/>
              </a:spcBef>
            </a:pPr>
            <a:r>
              <a:rPr lang="en-IN" sz="1800" dirty="0"/>
              <a:t>It is a special type of method which is used to initialize the object</a:t>
            </a:r>
            <a:r>
              <a:rPr lang="en-IN" sz="1800" dirty="0" smtClean="0"/>
              <a:t>.</a:t>
            </a:r>
          </a:p>
          <a:p>
            <a:pPr>
              <a:spcBef>
                <a:spcPts val="0"/>
              </a:spcBef>
            </a:pPr>
            <a:r>
              <a:rPr lang="en-IN" sz="1800" dirty="0"/>
              <a:t>Every time an object is created using the new() keyword, at least one constructor is called</a:t>
            </a:r>
            <a:r>
              <a:rPr lang="en-IN" sz="1800" dirty="0" smtClean="0"/>
              <a:t>.</a:t>
            </a:r>
          </a:p>
          <a:p>
            <a:pPr>
              <a:spcBef>
                <a:spcPts val="0"/>
              </a:spcBef>
            </a:pPr>
            <a:r>
              <a:rPr lang="en-IN" sz="1800" dirty="0"/>
              <a:t>if there is no constructor available in the </a:t>
            </a:r>
            <a:r>
              <a:rPr lang="en-IN" sz="1800" dirty="0" smtClean="0"/>
              <a:t>class., Java </a:t>
            </a:r>
            <a:r>
              <a:rPr lang="en-IN" sz="1800" dirty="0"/>
              <a:t>compiler provides a default constructor by default</a:t>
            </a:r>
            <a:r>
              <a:rPr lang="en-IN" sz="1800" dirty="0" smtClean="0"/>
              <a:t>.</a:t>
            </a:r>
          </a:p>
          <a:p>
            <a:pPr>
              <a:spcBef>
                <a:spcPts val="0"/>
              </a:spcBef>
            </a:pPr>
            <a:r>
              <a:rPr lang="en-IN" sz="1800" dirty="0" smtClean="0"/>
              <a:t>Implicit return type of a class constructor is the class type itself.</a:t>
            </a:r>
          </a:p>
          <a:p>
            <a:pPr marL="0" indent="0">
              <a:spcBef>
                <a:spcPts val="0"/>
              </a:spcBef>
              <a:buNone/>
            </a:pPr>
            <a:r>
              <a:rPr lang="en-IN" sz="1800" b="1" dirty="0"/>
              <a:t>Rules for creating Java constructor</a:t>
            </a:r>
          </a:p>
          <a:p>
            <a:pPr marL="0" indent="0">
              <a:spcBef>
                <a:spcPts val="0"/>
              </a:spcBef>
              <a:buNone/>
            </a:pPr>
            <a:endParaRPr lang="en-IN" sz="1800" dirty="0"/>
          </a:p>
          <a:p>
            <a:pPr lvl="1">
              <a:spcBef>
                <a:spcPts val="0"/>
              </a:spcBef>
            </a:pPr>
            <a:r>
              <a:rPr lang="en-IN" sz="1800" dirty="0"/>
              <a:t>Constructor name must be the same as its class name</a:t>
            </a:r>
          </a:p>
          <a:p>
            <a:pPr lvl="1">
              <a:spcBef>
                <a:spcPts val="0"/>
              </a:spcBef>
            </a:pPr>
            <a:r>
              <a:rPr lang="en-IN" sz="1800" dirty="0" smtClean="0"/>
              <a:t>no </a:t>
            </a:r>
            <a:r>
              <a:rPr lang="en-IN" sz="1800" dirty="0"/>
              <a:t>explicit return type</a:t>
            </a:r>
          </a:p>
          <a:p>
            <a:pPr lvl="1">
              <a:spcBef>
                <a:spcPts val="0"/>
              </a:spcBef>
            </a:pPr>
            <a:r>
              <a:rPr lang="en-IN" sz="1800" dirty="0" smtClean="0"/>
              <a:t>constructor </a:t>
            </a:r>
            <a:r>
              <a:rPr lang="en-IN" sz="1800" dirty="0"/>
              <a:t>cannot be abstract, static, final, and synchronized</a:t>
            </a:r>
            <a:endParaRPr lang="en-IN" sz="1800" dirty="0" smtClean="0"/>
          </a:p>
          <a:p>
            <a:pPr marL="0" indent="0">
              <a:spcBef>
                <a:spcPts val="0"/>
              </a:spcBef>
              <a:buNone/>
            </a:pPr>
            <a:r>
              <a:rPr lang="en-IN" sz="1800" b="1" dirty="0"/>
              <a:t>T</a:t>
            </a:r>
            <a:r>
              <a:rPr lang="en-IN" sz="1800" b="1" dirty="0" smtClean="0"/>
              <a:t>wo </a:t>
            </a:r>
            <a:r>
              <a:rPr lang="en-IN" sz="1800" b="1" dirty="0"/>
              <a:t>types of constructors in Java: no-</a:t>
            </a:r>
            <a:r>
              <a:rPr lang="en-IN" sz="1800" b="1" dirty="0" err="1"/>
              <a:t>arg</a:t>
            </a:r>
            <a:r>
              <a:rPr lang="en-IN" sz="1800" b="1" dirty="0"/>
              <a:t> constructor, and parameterized constructor</a:t>
            </a:r>
            <a:r>
              <a:rPr lang="en-IN" sz="1800" b="1" dirty="0" smtClean="0"/>
              <a:t>.</a:t>
            </a:r>
          </a:p>
          <a:p>
            <a:pPr marL="0" indent="0">
              <a:spcBef>
                <a:spcPts val="0"/>
              </a:spcBef>
              <a:buNone/>
            </a:pPr>
            <a:r>
              <a:rPr lang="en-IN" sz="1800" b="1" dirty="0" smtClean="0"/>
              <a:t>Default Constructor:</a:t>
            </a:r>
          </a:p>
          <a:p>
            <a:pPr marL="0" indent="0">
              <a:spcBef>
                <a:spcPts val="0"/>
              </a:spcBef>
              <a:buNone/>
            </a:pPr>
            <a:r>
              <a:rPr lang="en-IN" sz="1800" dirty="0" smtClean="0"/>
              <a:t>A </a:t>
            </a:r>
            <a:r>
              <a:rPr lang="en-IN" sz="1800" dirty="0"/>
              <a:t>constructor is called "Default Constructor" when it doesn't have any parameter.</a:t>
            </a:r>
          </a:p>
          <a:p>
            <a:pPr marL="0" indent="0">
              <a:spcBef>
                <a:spcPts val="0"/>
              </a:spcBef>
              <a:buNone/>
            </a:pPr>
            <a:endParaRPr lang="en-IN" sz="1800" dirty="0" smtClean="0"/>
          </a:p>
          <a:p>
            <a:pPr marL="0" indent="0">
              <a:spcBef>
                <a:spcPts val="0"/>
              </a:spcBef>
              <a:buNone/>
            </a:pPr>
            <a:r>
              <a:rPr lang="en-IN" sz="1800" b="1" dirty="0" smtClean="0"/>
              <a:t>Syntax </a:t>
            </a:r>
            <a:r>
              <a:rPr lang="en-IN" sz="1800" b="1" dirty="0"/>
              <a:t>of default constructor:</a:t>
            </a:r>
          </a:p>
          <a:p>
            <a:pPr marL="0" indent="0">
              <a:spcBef>
                <a:spcPts val="0"/>
              </a:spcBef>
              <a:buNone/>
            </a:pPr>
            <a:r>
              <a:rPr lang="en-IN" sz="1800" b="1" dirty="0"/>
              <a:t>&lt;</a:t>
            </a:r>
            <a:r>
              <a:rPr lang="en-IN" sz="1800" b="1" dirty="0" err="1"/>
              <a:t>class_name</a:t>
            </a:r>
            <a:r>
              <a:rPr lang="en-IN" sz="1800" b="1" dirty="0"/>
              <a:t>&gt;(){} </a:t>
            </a:r>
            <a:endParaRPr lang="en-IN" sz="1800" b="1" dirty="0" smtClean="0"/>
          </a:p>
          <a:p>
            <a:pPr marL="0" indent="0">
              <a:buNone/>
            </a:pPr>
            <a:r>
              <a:rPr lang="en-IN" sz="1800" dirty="0" smtClean="0"/>
              <a:t>If </a:t>
            </a:r>
            <a:r>
              <a:rPr lang="en-IN" sz="1800" dirty="0"/>
              <a:t>there is no constructor in a class, compiler automatically creates a default constructor.</a:t>
            </a:r>
          </a:p>
          <a:p>
            <a:pPr marL="0" indent="0">
              <a:spcBef>
                <a:spcPts val="0"/>
              </a:spcBef>
              <a:buNone/>
            </a:pPr>
            <a:r>
              <a:rPr lang="en-IN" sz="1800" dirty="0"/>
              <a:t>D</a:t>
            </a:r>
            <a:r>
              <a:rPr lang="en-IN" sz="1800" dirty="0" smtClean="0"/>
              <a:t>efault </a:t>
            </a:r>
            <a:r>
              <a:rPr lang="en-IN" sz="1800" dirty="0"/>
              <a:t>constructor is used to provide the default values to the object like 0, null, etc., </a:t>
            </a:r>
            <a:endParaRPr lang="en-IN" sz="1800" dirty="0" smtClean="0"/>
          </a:p>
          <a:p>
            <a:pPr marL="0" indent="0">
              <a:spcBef>
                <a:spcPts val="0"/>
              </a:spcBef>
              <a:buNone/>
            </a:pPr>
            <a:r>
              <a:rPr lang="en-IN" sz="1800" dirty="0" smtClean="0"/>
              <a:t>depending </a:t>
            </a:r>
            <a:r>
              <a:rPr lang="en-IN" sz="1800" dirty="0"/>
              <a:t>on the type.</a:t>
            </a:r>
            <a:br>
              <a:rPr lang="en-IN" sz="1800" dirty="0"/>
            </a:br>
            <a:endParaRPr lang="en-IN" sz="1800" dirty="0" smtClean="0">
              <a:sym typeface="Wingdings" panose="05000000000000000000" pitchFamily="2" charset="2"/>
            </a:endParaRPr>
          </a:p>
          <a:p>
            <a:pPr marL="0" indent="0">
              <a:spcBef>
                <a:spcPts val="0"/>
              </a:spcBef>
              <a:buNone/>
            </a:pPr>
            <a:endParaRPr lang="en-US" sz="1800" dirty="0">
              <a:sym typeface="Wingdings" panose="05000000000000000000" pitchFamily="2" charset="2"/>
            </a:endParaRPr>
          </a:p>
        </p:txBody>
      </p:sp>
      <p:sp>
        <p:nvSpPr>
          <p:cNvPr id="5" name="TextBox 4"/>
          <p:cNvSpPr txBox="1"/>
          <p:nvPr/>
        </p:nvSpPr>
        <p:spPr>
          <a:xfrm>
            <a:off x="8558213" y="2768106"/>
            <a:ext cx="3743325" cy="3970318"/>
          </a:xfrm>
          <a:prstGeom prst="rect">
            <a:avLst/>
          </a:prstGeom>
          <a:noFill/>
        </p:spPr>
        <p:txBody>
          <a:bodyPr wrap="square" rtlCol="0">
            <a:spAutoFit/>
          </a:bodyPr>
          <a:lstStyle/>
          <a:p>
            <a:r>
              <a:rPr lang="en-IN" dirty="0">
                <a:sym typeface="Wingdings" panose="05000000000000000000" pitchFamily="2" charset="2"/>
              </a:rPr>
              <a:t>public class </a:t>
            </a:r>
            <a:r>
              <a:rPr lang="en-IN" dirty="0" err="1">
                <a:sym typeface="Wingdings" panose="05000000000000000000" pitchFamily="2" charset="2"/>
              </a:rPr>
              <a:t>mit</a:t>
            </a:r>
            <a:r>
              <a:rPr lang="en-IN" dirty="0">
                <a:sym typeface="Wingdings" panose="05000000000000000000" pitchFamily="2" charset="2"/>
              </a:rPr>
              <a:t>{  </a:t>
            </a:r>
          </a:p>
          <a:p>
            <a:r>
              <a:rPr lang="en-IN" dirty="0">
                <a:sym typeface="Wingdings" panose="05000000000000000000" pitchFamily="2" charset="2"/>
              </a:rPr>
              <a:t>//creating a default constructor  </a:t>
            </a:r>
          </a:p>
          <a:p>
            <a:r>
              <a:rPr lang="en-IN" dirty="0" err="1">
                <a:sym typeface="Wingdings" panose="05000000000000000000" pitchFamily="2" charset="2"/>
              </a:rPr>
              <a:t>mit</a:t>
            </a:r>
            <a:r>
              <a:rPr lang="en-IN" dirty="0">
                <a:sym typeface="Wingdings" panose="05000000000000000000" pitchFamily="2" charset="2"/>
              </a:rPr>
              <a:t>()</a:t>
            </a:r>
          </a:p>
          <a:p>
            <a:r>
              <a:rPr lang="en-IN" dirty="0">
                <a:sym typeface="Wingdings" panose="05000000000000000000" pitchFamily="2" charset="2"/>
              </a:rPr>
              <a:t>    </a:t>
            </a:r>
            <a:r>
              <a:rPr lang="en-IN" dirty="0" smtClean="0">
                <a:sym typeface="Wingdings" panose="05000000000000000000" pitchFamily="2" charset="2"/>
              </a:rPr>
              <a:t>{</a:t>
            </a:r>
          </a:p>
          <a:p>
            <a:r>
              <a:rPr lang="en-IN" dirty="0" err="1" smtClean="0">
                <a:sym typeface="Wingdings" panose="05000000000000000000" pitchFamily="2" charset="2"/>
              </a:rPr>
              <a:t>System.out.println</a:t>
            </a:r>
            <a:r>
              <a:rPr lang="en-IN" dirty="0">
                <a:sym typeface="Wingdings" panose="05000000000000000000" pitchFamily="2" charset="2"/>
              </a:rPr>
              <a:t>("MIT is created");</a:t>
            </a:r>
          </a:p>
          <a:p>
            <a:r>
              <a:rPr lang="en-IN" dirty="0">
                <a:sym typeface="Wingdings" panose="05000000000000000000" pitchFamily="2" charset="2"/>
              </a:rPr>
              <a:t>    }  </a:t>
            </a:r>
          </a:p>
          <a:p>
            <a:r>
              <a:rPr lang="en-IN" dirty="0">
                <a:sym typeface="Wingdings" panose="05000000000000000000" pitchFamily="2" charset="2"/>
              </a:rPr>
              <a:t>//main method  </a:t>
            </a:r>
          </a:p>
          <a:p>
            <a:r>
              <a:rPr lang="en-IN" dirty="0">
                <a:sym typeface="Wingdings" panose="05000000000000000000" pitchFamily="2" charset="2"/>
              </a:rPr>
              <a:t>public static void main(String </a:t>
            </a:r>
            <a:r>
              <a:rPr lang="en-IN" dirty="0" err="1">
                <a:sym typeface="Wingdings" panose="05000000000000000000" pitchFamily="2" charset="2"/>
              </a:rPr>
              <a:t>args</a:t>
            </a:r>
            <a:r>
              <a:rPr lang="en-IN" dirty="0" smtClean="0">
                <a:sym typeface="Wingdings" panose="05000000000000000000" pitchFamily="2" charset="2"/>
              </a:rPr>
              <a:t>[])</a:t>
            </a:r>
          </a:p>
          <a:p>
            <a:r>
              <a:rPr lang="en-IN" dirty="0" smtClean="0">
                <a:sym typeface="Wingdings" panose="05000000000000000000" pitchFamily="2" charset="2"/>
              </a:rPr>
              <a:t>{  </a:t>
            </a:r>
            <a:endParaRPr lang="en-IN" dirty="0">
              <a:sym typeface="Wingdings" panose="05000000000000000000" pitchFamily="2" charset="2"/>
            </a:endParaRPr>
          </a:p>
          <a:p>
            <a:r>
              <a:rPr lang="en-IN" dirty="0">
                <a:sym typeface="Wingdings" panose="05000000000000000000" pitchFamily="2" charset="2"/>
              </a:rPr>
              <a:t>//calling a default constructor  </a:t>
            </a:r>
          </a:p>
          <a:p>
            <a:r>
              <a:rPr lang="en-IN" dirty="0" err="1">
                <a:sym typeface="Wingdings" panose="05000000000000000000" pitchFamily="2" charset="2"/>
              </a:rPr>
              <a:t>mit</a:t>
            </a:r>
            <a:r>
              <a:rPr lang="en-IN" dirty="0">
                <a:sym typeface="Wingdings" panose="05000000000000000000" pitchFamily="2" charset="2"/>
              </a:rPr>
              <a:t> b=new </a:t>
            </a:r>
            <a:r>
              <a:rPr lang="en-IN" dirty="0" err="1">
                <a:sym typeface="Wingdings" panose="05000000000000000000" pitchFamily="2" charset="2"/>
              </a:rPr>
              <a:t>mit</a:t>
            </a:r>
            <a:r>
              <a:rPr lang="en-IN" dirty="0">
                <a:sym typeface="Wingdings" panose="05000000000000000000" pitchFamily="2" charset="2"/>
              </a:rPr>
              <a:t>();  </a:t>
            </a:r>
          </a:p>
          <a:p>
            <a:r>
              <a:rPr lang="en-IN" dirty="0">
                <a:sym typeface="Wingdings" panose="05000000000000000000" pitchFamily="2" charset="2"/>
              </a:rPr>
              <a:t>}  </a:t>
            </a:r>
          </a:p>
          <a:p>
            <a:r>
              <a:rPr lang="en-IN" dirty="0">
                <a:sym typeface="Wingdings" panose="05000000000000000000" pitchFamily="2" charset="2"/>
              </a:rPr>
              <a:t>} </a:t>
            </a:r>
          </a:p>
          <a:p>
            <a:endParaRPr lang="en-IN" dirty="0"/>
          </a:p>
        </p:txBody>
      </p:sp>
    </p:spTree>
    <p:extLst>
      <p:ext uri="{BB962C8B-B14F-4D97-AF65-F5344CB8AC3E}">
        <p14:creationId xmlns:p14="http://schemas.microsoft.com/office/powerpoint/2010/main" val="380331665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Java-Constructors</a:t>
            </a:r>
            <a:endParaRPr lang="en-US" dirty="0"/>
          </a:p>
        </p:txBody>
      </p:sp>
      <p:sp>
        <p:nvSpPr>
          <p:cNvPr id="3" name="Content Placeholder 2"/>
          <p:cNvSpPr>
            <a:spLocks noGrp="1"/>
          </p:cNvSpPr>
          <p:nvPr>
            <p:ph sz="half" idx="1"/>
          </p:nvPr>
        </p:nvSpPr>
        <p:spPr>
          <a:xfrm>
            <a:off x="134814" y="394529"/>
            <a:ext cx="11544568" cy="6343895"/>
          </a:xfrm>
        </p:spPr>
        <p:txBody>
          <a:bodyPr>
            <a:noAutofit/>
          </a:bodyPr>
          <a:lstStyle/>
          <a:p>
            <a:pPr marL="0" indent="0">
              <a:buNone/>
            </a:pPr>
            <a:r>
              <a:rPr lang="en-IN" sz="1800" dirty="0"/>
              <a:t>Parameterized Constructor</a:t>
            </a:r>
          </a:p>
          <a:p>
            <a:r>
              <a:rPr lang="en-IN" sz="1800" dirty="0"/>
              <a:t>A constructor which has a specific number of parameters is called a parameterized constructor</a:t>
            </a:r>
            <a:r>
              <a:rPr lang="en-IN" sz="1800" dirty="0" smtClean="0"/>
              <a:t>.</a:t>
            </a:r>
          </a:p>
          <a:p>
            <a:r>
              <a:rPr lang="en-IN" sz="1800" dirty="0" smtClean="0"/>
              <a:t>Usage: </a:t>
            </a:r>
            <a:r>
              <a:rPr lang="en-IN" sz="1800" dirty="0"/>
              <a:t>T</a:t>
            </a:r>
            <a:r>
              <a:rPr lang="en-IN" sz="1800" dirty="0" smtClean="0"/>
              <a:t>o </a:t>
            </a:r>
            <a:r>
              <a:rPr lang="en-IN" sz="1800" dirty="0"/>
              <a:t>provide </a:t>
            </a:r>
            <a:r>
              <a:rPr lang="en-IN" sz="1800" dirty="0" smtClean="0"/>
              <a:t>different/Same </a:t>
            </a:r>
            <a:r>
              <a:rPr lang="en-IN" sz="1800" dirty="0"/>
              <a:t>values to distinct objects</a:t>
            </a:r>
            <a:r>
              <a:rPr lang="en-IN" sz="1800" dirty="0" smtClean="0"/>
              <a:t>.</a:t>
            </a:r>
          </a:p>
          <a:p>
            <a:pPr marL="0" indent="0">
              <a:spcBef>
                <a:spcPts val="0"/>
              </a:spcBef>
              <a:buNone/>
            </a:pPr>
            <a:r>
              <a:rPr lang="en-IN" sz="1800" dirty="0"/>
              <a:t>public class Student{  </a:t>
            </a:r>
          </a:p>
          <a:p>
            <a:pPr marL="0" indent="0">
              <a:spcBef>
                <a:spcPts val="0"/>
              </a:spcBef>
              <a:buNone/>
            </a:pPr>
            <a:r>
              <a:rPr lang="en-IN" sz="1800" dirty="0"/>
              <a:t>    </a:t>
            </a:r>
            <a:r>
              <a:rPr lang="en-IN" sz="1800" dirty="0" err="1"/>
              <a:t>int</a:t>
            </a:r>
            <a:r>
              <a:rPr lang="en-IN" sz="1800" dirty="0"/>
              <a:t> id;  </a:t>
            </a:r>
          </a:p>
          <a:p>
            <a:pPr marL="0" indent="0">
              <a:spcBef>
                <a:spcPts val="0"/>
              </a:spcBef>
              <a:buNone/>
            </a:pPr>
            <a:r>
              <a:rPr lang="en-IN" sz="1800" dirty="0"/>
              <a:t>    String name;  </a:t>
            </a:r>
          </a:p>
          <a:p>
            <a:pPr marL="0" indent="0">
              <a:spcBef>
                <a:spcPts val="0"/>
              </a:spcBef>
              <a:buNone/>
            </a:pPr>
            <a:r>
              <a:rPr lang="en-IN" sz="1800" dirty="0"/>
              <a:t>    //creating a parameterized constructor  </a:t>
            </a:r>
          </a:p>
          <a:p>
            <a:pPr marL="0" indent="0">
              <a:spcBef>
                <a:spcPts val="0"/>
              </a:spcBef>
              <a:buNone/>
            </a:pPr>
            <a:r>
              <a:rPr lang="en-IN" sz="1800" dirty="0"/>
              <a:t>    Student(</a:t>
            </a:r>
            <a:r>
              <a:rPr lang="en-IN" sz="1800" dirty="0" err="1"/>
              <a:t>int</a:t>
            </a:r>
            <a:r>
              <a:rPr lang="en-IN" sz="1800" dirty="0"/>
              <a:t> </a:t>
            </a:r>
            <a:r>
              <a:rPr lang="en-IN" sz="1800" dirty="0" err="1"/>
              <a:t>i,String</a:t>
            </a:r>
            <a:r>
              <a:rPr lang="en-IN" sz="1800" dirty="0"/>
              <a:t> n){  </a:t>
            </a:r>
          </a:p>
          <a:p>
            <a:pPr marL="0" indent="0">
              <a:spcBef>
                <a:spcPts val="0"/>
              </a:spcBef>
              <a:buNone/>
            </a:pPr>
            <a:r>
              <a:rPr lang="en-IN" sz="1800" dirty="0"/>
              <a:t>    id = </a:t>
            </a:r>
            <a:r>
              <a:rPr lang="en-IN" sz="1800" dirty="0" err="1"/>
              <a:t>i</a:t>
            </a:r>
            <a:r>
              <a:rPr lang="en-IN" sz="1800" dirty="0"/>
              <a:t>;  </a:t>
            </a:r>
          </a:p>
          <a:p>
            <a:pPr marL="0" indent="0">
              <a:spcBef>
                <a:spcPts val="0"/>
              </a:spcBef>
              <a:buNone/>
            </a:pPr>
            <a:r>
              <a:rPr lang="en-IN" sz="1800" dirty="0"/>
              <a:t>    name = n;  </a:t>
            </a:r>
          </a:p>
          <a:p>
            <a:pPr marL="0" indent="0">
              <a:spcBef>
                <a:spcPts val="0"/>
              </a:spcBef>
              <a:buNone/>
            </a:pPr>
            <a:r>
              <a:rPr lang="en-IN" sz="1800" dirty="0"/>
              <a:t>    }  </a:t>
            </a:r>
          </a:p>
          <a:p>
            <a:pPr marL="0" indent="0">
              <a:spcBef>
                <a:spcPts val="0"/>
              </a:spcBef>
              <a:buNone/>
            </a:pPr>
            <a:r>
              <a:rPr lang="en-IN" sz="1800" dirty="0"/>
              <a:t>    //method to display the values  </a:t>
            </a:r>
          </a:p>
          <a:p>
            <a:pPr marL="0" indent="0">
              <a:spcBef>
                <a:spcPts val="0"/>
              </a:spcBef>
              <a:buNone/>
            </a:pPr>
            <a:r>
              <a:rPr lang="en-IN" sz="1800" dirty="0"/>
              <a:t>    void display(){</a:t>
            </a:r>
            <a:r>
              <a:rPr lang="en-IN" sz="1800" dirty="0" err="1"/>
              <a:t>System.out.println</a:t>
            </a:r>
            <a:r>
              <a:rPr lang="en-IN" sz="1800" dirty="0"/>
              <a:t>(id+" "+name);}  </a:t>
            </a:r>
          </a:p>
          <a:p>
            <a:pPr marL="0" indent="0">
              <a:spcBef>
                <a:spcPts val="0"/>
              </a:spcBef>
              <a:buNone/>
            </a:pPr>
            <a:r>
              <a:rPr lang="en-IN" sz="1800" dirty="0"/>
              <a:t>   </a:t>
            </a:r>
          </a:p>
          <a:p>
            <a:pPr marL="0" indent="0">
              <a:spcBef>
                <a:spcPts val="0"/>
              </a:spcBef>
              <a:buNone/>
            </a:pPr>
            <a:r>
              <a:rPr lang="en-IN" sz="1800" dirty="0"/>
              <a:t>    public static void main(String </a:t>
            </a:r>
            <a:r>
              <a:rPr lang="en-IN" sz="1800" dirty="0" err="1"/>
              <a:t>args</a:t>
            </a:r>
            <a:r>
              <a:rPr lang="en-IN" sz="1800" dirty="0"/>
              <a:t>[]){  </a:t>
            </a:r>
          </a:p>
          <a:p>
            <a:pPr marL="0" indent="0">
              <a:spcBef>
                <a:spcPts val="0"/>
              </a:spcBef>
              <a:buNone/>
            </a:pPr>
            <a:r>
              <a:rPr lang="en-IN" sz="1800" dirty="0"/>
              <a:t>    //creating objects and passing values  </a:t>
            </a:r>
          </a:p>
          <a:p>
            <a:pPr marL="0" indent="0">
              <a:spcBef>
                <a:spcPts val="0"/>
              </a:spcBef>
              <a:buNone/>
            </a:pPr>
            <a:r>
              <a:rPr lang="en-IN" sz="1800" dirty="0"/>
              <a:t>    Student s1 = new Student(111,"abc");  </a:t>
            </a:r>
          </a:p>
          <a:p>
            <a:pPr marL="0" indent="0">
              <a:spcBef>
                <a:spcPts val="0"/>
              </a:spcBef>
              <a:buNone/>
            </a:pPr>
            <a:r>
              <a:rPr lang="en-IN" sz="1800" dirty="0"/>
              <a:t>    Student s2 = new Student(222,"pqr");  </a:t>
            </a:r>
          </a:p>
          <a:p>
            <a:pPr marL="0" indent="0">
              <a:spcBef>
                <a:spcPts val="0"/>
              </a:spcBef>
              <a:buNone/>
            </a:pPr>
            <a:r>
              <a:rPr lang="en-IN" sz="1800" dirty="0"/>
              <a:t>    //calling method to display the values of object  </a:t>
            </a:r>
          </a:p>
          <a:p>
            <a:pPr marL="0" indent="0">
              <a:spcBef>
                <a:spcPts val="0"/>
              </a:spcBef>
              <a:buNone/>
            </a:pPr>
            <a:r>
              <a:rPr lang="en-IN" sz="1800" dirty="0"/>
              <a:t>    s1.display();  </a:t>
            </a:r>
          </a:p>
          <a:p>
            <a:pPr marL="0" indent="0">
              <a:spcBef>
                <a:spcPts val="0"/>
              </a:spcBef>
              <a:buNone/>
            </a:pPr>
            <a:r>
              <a:rPr lang="en-IN" sz="1800" dirty="0"/>
              <a:t>    s2.display();  </a:t>
            </a:r>
          </a:p>
          <a:p>
            <a:pPr marL="0" indent="0">
              <a:spcBef>
                <a:spcPts val="0"/>
              </a:spcBef>
              <a:buNone/>
            </a:pPr>
            <a:r>
              <a:rPr lang="en-IN" sz="1800" dirty="0"/>
              <a:t>   }  </a:t>
            </a:r>
          </a:p>
          <a:p>
            <a:pPr marL="0" indent="0">
              <a:spcBef>
                <a:spcPts val="0"/>
              </a:spcBef>
              <a:buNone/>
            </a:pPr>
            <a:r>
              <a:rPr lang="en-IN" sz="1800" dirty="0"/>
              <a:t>} </a:t>
            </a:r>
          </a:p>
          <a:p>
            <a:pPr marL="0" indent="0">
              <a:spcBef>
                <a:spcPts val="0"/>
              </a:spcBef>
              <a:buNone/>
            </a:pPr>
            <a:endParaRPr lang="en-US" sz="1800" dirty="0">
              <a:sym typeface="Wingdings" panose="05000000000000000000" pitchFamily="2" charset="2"/>
            </a:endParaRPr>
          </a:p>
        </p:txBody>
      </p:sp>
    </p:spTree>
    <p:extLst>
      <p:ext uri="{BB962C8B-B14F-4D97-AF65-F5344CB8AC3E}">
        <p14:creationId xmlns:p14="http://schemas.microsoft.com/office/powerpoint/2010/main" val="299906949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Java-Constructors</a:t>
            </a:r>
            <a:endParaRPr lang="en-US" dirty="0"/>
          </a:p>
        </p:txBody>
      </p:sp>
      <p:sp>
        <p:nvSpPr>
          <p:cNvPr id="3" name="Content Placeholder 2"/>
          <p:cNvSpPr>
            <a:spLocks noGrp="1"/>
          </p:cNvSpPr>
          <p:nvPr>
            <p:ph sz="half" idx="1"/>
          </p:nvPr>
        </p:nvSpPr>
        <p:spPr>
          <a:xfrm>
            <a:off x="134814" y="394529"/>
            <a:ext cx="5908799" cy="6343895"/>
          </a:xfrm>
        </p:spPr>
        <p:txBody>
          <a:bodyPr>
            <a:noAutofit/>
          </a:bodyPr>
          <a:lstStyle/>
          <a:p>
            <a:pPr marL="0" indent="0">
              <a:buNone/>
            </a:pPr>
            <a:r>
              <a:rPr lang="en-IN" sz="1800" b="1" dirty="0"/>
              <a:t>Copy </a:t>
            </a:r>
            <a:r>
              <a:rPr lang="en-IN" sz="1800" b="1" dirty="0" smtClean="0"/>
              <a:t>Constructor</a:t>
            </a:r>
          </a:p>
          <a:p>
            <a:pPr marL="0" indent="0">
              <a:buNone/>
            </a:pPr>
            <a:r>
              <a:rPr lang="en-US" sz="1800" dirty="0"/>
              <a:t>Java does not have a built-in copy constructor like C++ does, but the concept of copying an object can still be implemented manually</a:t>
            </a:r>
            <a:endParaRPr lang="en-IN" sz="1800" dirty="0"/>
          </a:p>
          <a:p>
            <a:pPr marL="0" indent="0">
              <a:spcBef>
                <a:spcPts val="0"/>
              </a:spcBef>
              <a:buNone/>
            </a:pPr>
            <a:endParaRPr lang="en-IN" sz="1800" dirty="0" smtClean="0"/>
          </a:p>
          <a:p>
            <a:pPr marL="0" indent="0">
              <a:spcBef>
                <a:spcPts val="0"/>
              </a:spcBef>
              <a:buNone/>
            </a:pPr>
            <a:r>
              <a:rPr lang="en-IN" sz="1800" b="1" dirty="0" smtClean="0"/>
              <a:t>There </a:t>
            </a:r>
            <a:r>
              <a:rPr lang="en-IN" sz="1800" b="1" dirty="0"/>
              <a:t>is no copy constructor in </a:t>
            </a:r>
            <a:r>
              <a:rPr lang="en-IN" sz="1800" b="1" dirty="0" smtClean="0"/>
              <a:t>Java.</a:t>
            </a:r>
          </a:p>
          <a:p>
            <a:pPr marL="0" indent="0">
              <a:spcBef>
                <a:spcPts val="0"/>
              </a:spcBef>
              <a:buNone/>
            </a:pPr>
            <a:r>
              <a:rPr lang="en-IN" sz="1800" dirty="0" smtClean="0"/>
              <a:t>we </a:t>
            </a:r>
            <a:r>
              <a:rPr lang="en-IN" sz="1800" dirty="0"/>
              <a:t>can copy the values from one object to another like copy constructor in C++.</a:t>
            </a:r>
          </a:p>
          <a:p>
            <a:pPr marL="0" indent="0">
              <a:spcBef>
                <a:spcPts val="0"/>
              </a:spcBef>
              <a:buNone/>
            </a:pPr>
            <a:r>
              <a:rPr lang="en-IN" sz="1800" dirty="0" smtClean="0"/>
              <a:t> copy </a:t>
            </a:r>
            <a:r>
              <a:rPr lang="en-IN" sz="1800" dirty="0"/>
              <a:t>the values of one object into another </a:t>
            </a:r>
            <a:r>
              <a:rPr lang="en-IN" sz="1800" dirty="0" smtClean="0"/>
              <a:t>following ways are used:</a:t>
            </a:r>
            <a:endParaRPr lang="en-IN" sz="1800" dirty="0"/>
          </a:p>
          <a:p>
            <a:pPr marL="0" indent="0">
              <a:spcBef>
                <a:spcPts val="0"/>
              </a:spcBef>
              <a:buNone/>
            </a:pPr>
            <a:endParaRPr lang="en-IN" sz="1800" dirty="0"/>
          </a:p>
          <a:p>
            <a:pPr lvl="1">
              <a:spcBef>
                <a:spcPts val="0"/>
              </a:spcBef>
            </a:pPr>
            <a:r>
              <a:rPr lang="en-IN" sz="1800" dirty="0"/>
              <a:t>By constructor</a:t>
            </a:r>
          </a:p>
          <a:p>
            <a:pPr lvl="1">
              <a:spcBef>
                <a:spcPts val="0"/>
              </a:spcBef>
            </a:pPr>
            <a:r>
              <a:rPr lang="en-IN" sz="1800" dirty="0"/>
              <a:t>By assigning the values of one object into another</a:t>
            </a:r>
          </a:p>
          <a:p>
            <a:pPr lvl="1">
              <a:spcBef>
                <a:spcPts val="0"/>
              </a:spcBef>
            </a:pPr>
            <a:r>
              <a:rPr lang="en-IN" sz="1800" dirty="0"/>
              <a:t>By clone() method of Object </a:t>
            </a:r>
            <a:r>
              <a:rPr lang="en-IN" sz="1800" dirty="0" smtClean="0"/>
              <a:t>class</a:t>
            </a:r>
          </a:p>
        </p:txBody>
      </p:sp>
      <p:sp>
        <p:nvSpPr>
          <p:cNvPr id="4" name="TextBox 3"/>
          <p:cNvSpPr txBox="1"/>
          <p:nvPr/>
        </p:nvSpPr>
        <p:spPr>
          <a:xfrm>
            <a:off x="6143626" y="117693"/>
            <a:ext cx="5543550" cy="6740307"/>
          </a:xfrm>
          <a:prstGeom prst="rect">
            <a:avLst/>
          </a:prstGeom>
          <a:noFill/>
        </p:spPr>
        <p:txBody>
          <a:bodyPr wrap="square" rtlCol="0">
            <a:spAutoFit/>
          </a:bodyPr>
          <a:lstStyle/>
          <a:p>
            <a:r>
              <a:rPr lang="en-IN" b="1" dirty="0" smtClean="0"/>
              <a:t>By Constructor:</a:t>
            </a:r>
          </a:p>
          <a:p>
            <a:endParaRPr lang="en-IN" dirty="0"/>
          </a:p>
          <a:p>
            <a:r>
              <a:rPr lang="en-IN" dirty="0"/>
              <a:t>public class Student{  </a:t>
            </a:r>
          </a:p>
          <a:p>
            <a:r>
              <a:rPr lang="en-IN" dirty="0"/>
              <a:t>    </a:t>
            </a:r>
            <a:r>
              <a:rPr lang="en-IN" dirty="0" err="1"/>
              <a:t>int</a:t>
            </a:r>
            <a:r>
              <a:rPr lang="en-IN" dirty="0"/>
              <a:t> id;  </a:t>
            </a:r>
          </a:p>
          <a:p>
            <a:r>
              <a:rPr lang="en-IN" dirty="0"/>
              <a:t>    String name;  </a:t>
            </a:r>
          </a:p>
          <a:p>
            <a:r>
              <a:rPr lang="en-IN" dirty="0"/>
              <a:t>    //constructor to initialize integer and string  </a:t>
            </a:r>
          </a:p>
          <a:p>
            <a:r>
              <a:rPr lang="en-IN" dirty="0"/>
              <a:t>    Student(</a:t>
            </a:r>
            <a:r>
              <a:rPr lang="en-IN" dirty="0" err="1"/>
              <a:t>int</a:t>
            </a:r>
            <a:r>
              <a:rPr lang="en-IN" dirty="0"/>
              <a:t> </a:t>
            </a:r>
            <a:r>
              <a:rPr lang="en-IN" dirty="0" err="1"/>
              <a:t>i,String</a:t>
            </a:r>
            <a:r>
              <a:rPr lang="en-IN" dirty="0"/>
              <a:t> n){  </a:t>
            </a:r>
          </a:p>
          <a:p>
            <a:r>
              <a:rPr lang="en-IN" dirty="0"/>
              <a:t>    id = </a:t>
            </a:r>
            <a:r>
              <a:rPr lang="en-IN" dirty="0" err="1"/>
              <a:t>i</a:t>
            </a:r>
            <a:r>
              <a:rPr lang="en-IN" dirty="0"/>
              <a:t>;  </a:t>
            </a:r>
          </a:p>
          <a:p>
            <a:r>
              <a:rPr lang="en-IN" dirty="0"/>
              <a:t>    name = n;  </a:t>
            </a:r>
          </a:p>
          <a:p>
            <a:r>
              <a:rPr lang="en-IN" dirty="0"/>
              <a:t>    }  </a:t>
            </a:r>
          </a:p>
          <a:p>
            <a:r>
              <a:rPr lang="en-IN" dirty="0"/>
              <a:t>    //constructor to initialize another object  </a:t>
            </a:r>
          </a:p>
          <a:p>
            <a:r>
              <a:rPr lang="en-IN" dirty="0"/>
              <a:t>    Student(Student s){  </a:t>
            </a:r>
          </a:p>
          <a:p>
            <a:r>
              <a:rPr lang="en-IN" dirty="0"/>
              <a:t>    id = s.id;  </a:t>
            </a:r>
          </a:p>
          <a:p>
            <a:r>
              <a:rPr lang="en-IN" dirty="0"/>
              <a:t>    name =s.name;  </a:t>
            </a:r>
          </a:p>
          <a:p>
            <a:r>
              <a:rPr lang="en-IN" dirty="0"/>
              <a:t>    }  </a:t>
            </a:r>
          </a:p>
          <a:p>
            <a:r>
              <a:rPr lang="en-IN" dirty="0"/>
              <a:t>    void display(){</a:t>
            </a:r>
            <a:r>
              <a:rPr lang="en-IN" dirty="0" err="1"/>
              <a:t>System.out.println</a:t>
            </a:r>
            <a:r>
              <a:rPr lang="en-IN" dirty="0"/>
              <a:t>(id+" "+name);}  </a:t>
            </a:r>
          </a:p>
          <a:p>
            <a:r>
              <a:rPr lang="en-IN" dirty="0"/>
              <a:t>   </a:t>
            </a:r>
          </a:p>
          <a:p>
            <a:r>
              <a:rPr lang="en-IN" dirty="0"/>
              <a:t>    public static void main(String </a:t>
            </a:r>
            <a:r>
              <a:rPr lang="en-IN" dirty="0" err="1"/>
              <a:t>args</a:t>
            </a:r>
            <a:r>
              <a:rPr lang="en-IN" dirty="0"/>
              <a:t>[]){  </a:t>
            </a:r>
          </a:p>
          <a:p>
            <a:r>
              <a:rPr lang="en-IN" dirty="0"/>
              <a:t>    Student s1 = new Student(111,"ABC");  </a:t>
            </a:r>
          </a:p>
          <a:p>
            <a:r>
              <a:rPr lang="en-IN" dirty="0"/>
              <a:t>    Student s2 = new Student(s1);  </a:t>
            </a:r>
          </a:p>
          <a:p>
            <a:r>
              <a:rPr lang="en-IN" dirty="0"/>
              <a:t>    s1.display();  </a:t>
            </a:r>
          </a:p>
          <a:p>
            <a:r>
              <a:rPr lang="en-IN" dirty="0"/>
              <a:t>    s2.display();  </a:t>
            </a:r>
          </a:p>
          <a:p>
            <a:r>
              <a:rPr lang="en-IN" dirty="0"/>
              <a:t>   }  </a:t>
            </a:r>
          </a:p>
          <a:p>
            <a:r>
              <a:rPr lang="en-IN" dirty="0"/>
              <a:t>} </a:t>
            </a:r>
          </a:p>
        </p:txBody>
      </p:sp>
      <p:pic>
        <p:nvPicPr>
          <p:cNvPr id="5" name="Picture 4"/>
          <p:cNvPicPr>
            <a:picLocks noChangeAspect="1"/>
          </p:cNvPicPr>
          <p:nvPr/>
        </p:nvPicPr>
        <p:blipFill>
          <a:blip r:embed="rId2"/>
          <a:stretch>
            <a:fillRect/>
          </a:stretch>
        </p:blipFill>
        <p:spPr>
          <a:xfrm>
            <a:off x="9307391" y="5672139"/>
            <a:ext cx="2686050" cy="1066286"/>
          </a:xfrm>
          <a:prstGeom prst="rect">
            <a:avLst/>
          </a:prstGeom>
        </p:spPr>
      </p:pic>
    </p:spTree>
    <p:extLst>
      <p:ext uri="{BB962C8B-B14F-4D97-AF65-F5344CB8AC3E}">
        <p14:creationId xmlns:p14="http://schemas.microsoft.com/office/powerpoint/2010/main" val="351689550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Java-Constructors</a:t>
            </a:r>
            <a:endParaRPr lang="en-US" dirty="0"/>
          </a:p>
        </p:txBody>
      </p:sp>
      <p:sp>
        <p:nvSpPr>
          <p:cNvPr id="3" name="Content Placeholder 2"/>
          <p:cNvSpPr>
            <a:spLocks noGrp="1"/>
          </p:cNvSpPr>
          <p:nvPr>
            <p:ph sz="half" idx="1"/>
          </p:nvPr>
        </p:nvSpPr>
        <p:spPr>
          <a:xfrm>
            <a:off x="134814" y="394529"/>
            <a:ext cx="5908799" cy="6343895"/>
          </a:xfrm>
        </p:spPr>
        <p:txBody>
          <a:bodyPr>
            <a:noAutofit/>
          </a:bodyPr>
          <a:lstStyle/>
          <a:p>
            <a:pPr marL="0" indent="0">
              <a:buNone/>
            </a:pPr>
            <a:r>
              <a:rPr lang="en-IN" sz="1800" dirty="0"/>
              <a:t>Copy Constructor</a:t>
            </a:r>
          </a:p>
          <a:p>
            <a:pPr marL="0" indent="0">
              <a:buNone/>
            </a:pPr>
            <a:r>
              <a:rPr lang="en-IN" sz="1800" b="1" dirty="0"/>
              <a:t>By assigning the values of one object into another:</a:t>
            </a:r>
          </a:p>
          <a:p>
            <a:pPr marL="0" indent="0">
              <a:buNone/>
            </a:pPr>
            <a:r>
              <a:rPr lang="en-IN" sz="1800" dirty="0" smtClean="0"/>
              <a:t>	copy </a:t>
            </a:r>
            <a:r>
              <a:rPr lang="en-IN" sz="1800" dirty="0"/>
              <a:t>the values of one object into another by assigning the objects values to another object.</a:t>
            </a:r>
          </a:p>
          <a:p>
            <a:endParaRPr lang="en-IN" sz="1800" dirty="0"/>
          </a:p>
          <a:p>
            <a:pPr marL="0" indent="0">
              <a:spcBef>
                <a:spcPts val="0"/>
              </a:spcBef>
              <a:buNone/>
            </a:pPr>
            <a:r>
              <a:rPr lang="en-IN" sz="1800" dirty="0"/>
              <a:t>public class Student{  </a:t>
            </a:r>
          </a:p>
          <a:p>
            <a:pPr marL="0" indent="0">
              <a:spcBef>
                <a:spcPts val="0"/>
              </a:spcBef>
              <a:buNone/>
            </a:pPr>
            <a:r>
              <a:rPr lang="en-IN" sz="1800" dirty="0"/>
              <a:t>    </a:t>
            </a:r>
            <a:r>
              <a:rPr lang="en-IN" sz="1800" dirty="0" err="1"/>
              <a:t>int</a:t>
            </a:r>
            <a:r>
              <a:rPr lang="en-IN" sz="1800" dirty="0"/>
              <a:t> id;  </a:t>
            </a:r>
          </a:p>
          <a:p>
            <a:pPr marL="0" indent="0">
              <a:spcBef>
                <a:spcPts val="0"/>
              </a:spcBef>
              <a:buNone/>
            </a:pPr>
            <a:r>
              <a:rPr lang="en-IN" sz="1800" dirty="0"/>
              <a:t>    String name;  </a:t>
            </a:r>
          </a:p>
          <a:p>
            <a:pPr marL="0" indent="0">
              <a:spcBef>
                <a:spcPts val="0"/>
              </a:spcBef>
              <a:buNone/>
            </a:pPr>
            <a:r>
              <a:rPr lang="en-IN" sz="1800" dirty="0"/>
              <a:t>    Student(</a:t>
            </a:r>
            <a:r>
              <a:rPr lang="en-IN" sz="1800" dirty="0" err="1"/>
              <a:t>int</a:t>
            </a:r>
            <a:r>
              <a:rPr lang="en-IN" sz="1800" dirty="0"/>
              <a:t> </a:t>
            </a:r>
            <a:r>
              <a:rPr lang="en-IN" sz="1800" dirty="0" err="1"/>
              <a:t>i,String</a:t>
            </a:r>
            <a:r>
              <a:rPr lang="en-IN" sz="1800" dirty="0"/>
              <a:t> n){  </a:t>
            </a:r>
          </a:p>
          <a:p>
            <a:pPr marL="0" indent="0">
              <a:spcBef>
                <a:spcPts val="0"/>
              </a:spcBef>
              <a:buNone/>
            </a:pPr>
            <a:r>
              <a:rPr lang="en-IN" sz="1800" dirty="0"/>
              <a:t>    id = </a:t>
            </a:r>
            <a:r>
              <a:rPr lang="en-IN" sz="1800" dirty="0" err="1"/>
              <a:t>i</a:t>
            </a:r>
            <a:r>
              <a:rPr lang="en-IN" sz="1800" dirty="0"/>
              <a:t>;  </a:t>
            </a:r>
          </a:p>
          <a:p>
            <a:pPr marL="0" indent="0">
              <a:spcBef>
                <a:spcPts val="0"/>
              </a:spcBef>
              <a:buNone/>
            </a:pPr>
            <a:r>
              <a:rPr lang="en-IN" sz="1800" dirty="0"/>
              <a:t>    name = n;  </a:t>
            </a:r>
          </a:p>
          <a:p>
            <a:pPr marL="0" indent="0">
              <a:spcBef>
                <a:spcPts val="0"/>
              </a:spcBef>
              <a:buNone/>
            </a:pPr>
            <a:r>
              <a:rPr lang="en-IN" sz="1800" dirty="0"/>
              <a:t>    }  </a:t>
            </a:r>
          </a:p>
          <a:p>
            <a:pPr marL="0" indent="0">
              <a:spcBef>
                <a:spcPts val="0"/>
              </a:spcBef>
              <a:buNone/>
            </a:pPr>
            <a:r>
              <a:rPr lang="en-IN" sz="1800" dirty="0"/>
              <a:t>    Student(){}  </a:t>
            </a:r>
          </a:p>
          <a:p>
            <a:pPr marL="0" indent="0">
              <a:spcBef>
                <a:spcPts val="0"/>
              </a:spcBef>
              <a:buNone/>
            </a:pPr>
            <a:r>
              <a:rPr lang="en-IN" sz="1800" dirty="0"/>
              <a:t>    void display(){</a:t>
            </a:r>
            <a:r>
              <a:rPr lang="en-IN" sz="1800" dirty="0" err="1"/>
              <a:t>System.out.println</a:t>
            </a:r>
            <a:r>
              <a:rPr lang="en-IN" sz="1800" dirty="0"/>
              <a:t>(id+" "+name);}  </a:t>
            </a:r>
          </a:p>
          <a:p>
            <a:pPr marL="0" indent="0">
              <a:spcBef>
                <a:spcPts val="0"/>
              </a:spcBef>
              <a:buNone/>
            </a:pPr>
            <a:r>
              <a:rPr lang="en-IN" sz="1800" dirty="0"/>
              <a:t>   </a:t>
            </a:r>
          </a:p>
          <a:p>
            <a:pPr marL="0" indent="0">
              <a:spcBef>
                <a:spcPts val="0"/>
              </a:spcBef>
              <a:buNone/>
            </a:pPr>
            <a:r>
              <a:rPr lang="en-IN" sz="1800" dirty="0"/>
              <a:t>    public static void main(String </a:t>
            </a:r>
            <a:r>
              <a:rPr lang="en-IN" sz="1800" dirty="0" err="1"/>
              <a:t>args</a:t>
            </a:r>
            <a:r>
              <a:rPr lang="en-IN" sz="1800" dirty="0"/>
              <a:t>[]){  </a:t>
            </a:r>
          </a:p>
          <a:p>
            <a:pPr marL="0" indent="0">
              <a:spcBef>
                <a:spcPts val="0"/>
              </a:spcBef>
              <a:buNone/>
            </a:pPr>
            <a:r>
              <a:rPr lang="en-IN" sz="1800" dirty="0"/>
              <a:t>    Student s1 = new Student(111,"ABC");  </a:t>
            </a:r>
          </a:p>
          <a:p>
            <a:pPr marL="0" indent="0">
              <a:spcBef>
                <a:spcPts val="0"/>
              </a:spcBef>
              <a:buNone/>
            </a:pPr>
            <a:r>
              <a:rPr lang="en-IN" sz="1800" dirty="0"/>
              <a:t>    Student s2 = new Student();  </a:t>
            </a:r>
          </a:p>
          <a:p>
            <a:pPr marL="0" indent="0">
              <a:spcBef>
                <a:spcPts val="0"/>
              </a:spcBef>
              <a:buNone/>
            </a:pPr>
            <a:r>
              <a:rPr lang="en-IN" sz="1800" dirty="0"/>
              <a:t>    s2.id=s1.id;  </a:t>
            </a:r>
          </a:p>
          <a:p>
            <a:pPr marL="0" indent="0">
              <a:spcBef>
                <a:spcPts val="0"/>
              </a:spcBef>
              <a:buNone/>
            </a:pPr>
            <a:r>
              <a:rPr lang="en-IN" sz="1800" dirty="0"/>
              <a:t>    s2.name=s1.name;  </a:t>
            </a:r>
          </a:p>
          <a:p>
            <a:pPr marL="0" indent="0">
              <a:spcBef>
                <a:spcPts val="0"/>
              </a:spcBef>
              <a:buNone/>
            </a:pPr>
            <a:r>
              <a:rPr lang="en-IN" sz="1800" dirty="0"/>
              <a:t>    s1.display();  </a:t>
            </a:r>
          </a:p>
          <a:p>
            <a:pPr marL="0" indent="0">
              <a:spcBef>
                <a:spcPts val="0"/>
              </a:spcBef>
              <a:buNone/>
            </a:pPr>
            <a:r>
              <a:rPr lang="en-IN" sz="1800" dirty="0"/>
              <a:t>    s2.display();  </a:t>
            </a:r>
          </a:p>
          <a:p>
            <a:pPr marL="0" indent="0">
              <a:spcBef>
                <a:spcPts val="0"/>
              </a:spcBef>
              <a:buNone/>
            </a:pPr>
            <a:r>
              <a:rPr lang="en-IN" sz="1800" dirty="0"/>
              <a:t>   }  </a:t>
            </a:r>
          </a:p>
          <a:p>
            <a:pPr marL="0" indent="0">
              <a:spcBef>
                <a:spcPts val="0"/>
              </a:spcBef>
              <a:buNone/>
            </a:pPr>
            <a:r>
              <a:rPr lang="en-IN" sz="1800" dirty="0"/>
              <a:t>}  </a:t>
            </a:r>
          </a:p>
          <a:p>
            <a:pPr marL="0" indent="0">
              <a:spcBef>
                <a:spcPts val="0"/>
              </a:spcBef>
              <a:buNone/>
            </a:pPr>
            <a:endParaRPr lang="en-IN" sz="1800" dirty="0" smtClean="0"/>
          </a:p>
        </p:txBody>
      </p:sp>
      <p:sp>
        <p:nvSpPr>
          <p:cNvPr id="4" name="TextBox 3"/>
          <p:cNvSpPr txBox="1"/>
          <p:nvPr/>
        </p:nvSpPr>
        <p:spPr>
          <a:xfrm>
            <a:off x="6143626" y="117693"/>
            <a:ext cx="5543550" cy="2031325"/>
          </a:xfrm>
          <a:prstGeom prst="rect">
            <a:avLst/>
          </a:prstGeom>
          <a:noFill/>
        </p:spPr>
        <p:txBody>
          <a:bodyPr wrap="square" rtlCol="0">
            <a:spAutoFit/>
          </a:bodyPr>
          <a:lstStyle/>
          <a:p>
            <a:r>
              <a:rPr lang="en-IN" dirty="0" smtClean="0"/>
              <a:t>Task of Constructor:</a:t>
            </a:r>
          </a:p>
          <a:p>
            <a:pPr marL="285750" indent="-285750">
              <a:buFont typeface="Arial" panose="020B0604020202020204" pitchFamily="34" charset="0"/>
              <a:buChar char="•"/>
            </a:pPr>
            <a:r>
              <a:rPr lang="en-IN" dirty="0" smtClean="0"/>
              <a:t>Initialization</a:t>
            </a:r>
            <a:endParaRPr lang="en-IN" dirty="0"/>
          </a:p>
          <a:p>
            <a:pPr marL="285750" indent="-285750">
              <a:buFont typeface="Arial" panose="020B0604020202020204" pitchFamily="34" charset="0"/>
              <a:buChar char="•"/>
            </a:pPr>
            <a:r>
              <a:rPr lang="en-IN" dirty="0" smtClean="0"/>
              <a:t>object </a:t>
            </a:r>
            <a:r>
              <a:rPr lang="en-IN" dirty="0"/>
              <a:t>creation, starting a thread, calling a method, etc. </a:t>
            </a:r>
            <a:r>
              <a:rPr lang="en-IN" dirty="0" smtClean="0"/>
              <a:t>can </a:t>
            </a:r>
            <a:r>
              <a:rPr lang="en-IN" dirty="0"/>
              <a:t>perform any operation in the constructor as </a:t>
            </a:r>
            <a:r>
              <a:rPr lang="en-IN" dirty="0" smtClean="0"/>
              <a:t>performed </a:t>
            </a:r>
            <a:r>
              <a:rPr lang="en-IN" dirty="0"/>
              <a:t>in the method</a:t>
            </a:r>
            <a:r>
              <a:rPr lang="en-IN" dirty="0" smtClean="0"/>
              <a:t>.</a:t>
            </a:r>
          </a:p>
          <a:p>
            <a:endParaRPr lang="en-IN" dirty="0"/>
          </a:p>
          <a:p>
            <a:endParaRPr lang="en-IN" dirty="0"/>
          </a:p>
        </p:txBody>
      </p:sp>
    </p:spTree>
    <p:extLst>
      <p:ext uri="{BB962C8B-B14F-4D97-AF65-F5344CB8AC3E}">
        <p14:creationId xmlns:p14="http://schemas.microsoft.com/office/powerpoint/2010/main" val="206056111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Java-Constructors</a:t>
            </a:r>
            <a:endParaRPr lang="en-US" dirty="0"/>
          </a:p>
        </p:txBody>
      </p:sp>
      <p:sp>
        <p:nvSpPr>
          <p:cNvPr id="3" name="Content Placeholder 2"/>
          <p:cNvSpPr>
            <a:spLocks noGrp="1"/>
          </p:cNvSpPr>
          <p:nvPr>
            <p:ph sz="half" idx="1"/>
          </p:nvPr>
        </p:nvSpPr>
        <p:spPr>
          <a:xfrm>
            <a:off x="134814" y="394529"/>
            <a:ext cx="6437436" cy="6343895"/>
          </a:xfrm>
        </p:spPr>
        <p:txBody>
          <a:bodyPr>
            <a:noAutofit/>
          </a:bodyPr>
          <a:lstStyle/>
          <a:p>
            <a:pPr marL="0" indent="0">
              <a:buNone/>
            </a:pPr>
            <a:r>
              <a:rPr lang="en-IN" sz="1800" b="1" dirty="0"/>
              <a:t>constructor overloading </a:t>
            </a:r>
            <a:r>
              <a:rPr lang="en-IN" sz="1800" dirty="0"/>
              <a:t>can be defined as the concept of having more than one constructor with different parameters so that every constructor can perform a different task</a:t>
            </a:r>
            <a:r>
              <a:rPr lang="en-IN" sz="1800" dirty="0" smtClean="0"/>
              <a:t>.</a:t>
            </a:r>
          </a:p>
          <a:p>
            <a:pPr marL="0" indent="0">
              <a:spcBef>
                <a:spcPts val="0"/>
              </a:spcBef>
              <a:buNone/>
            </a:pPr>
            <a:r>
              <a:rPr lang="en-IN" sz="1800" dirty="0"/>
              <a:t>public class Student {  </a:t>
            </a:r>
          </a:p>
          <a:p>
            <a:pPr marL="0" indent="0">
              <a:spcBef>
                <a:spcPts val="0"/>
              </a:spcBef>
              <a:buNone/>
            </a:pPr>
            <a:r>
              <a:rPr lang="en-IN" sz="1800" dirty="0"/>
              <a:t>//instance variables of the class  </a:t>
            </a:r>
          </a:p>
          <a:p>
            <a:pPr marL="0" indent="0">
              <a:spcBef>
                <a:spcPts val="0"/>
              </a:spcBef>
              <a:buNone/>
            </a:pPr>
            <a:r>
              <a:rPr lang="en-IN" sz="1800" dirty="0" err="1"/>
              <a:t>int</a:t>
            </a:r>
            <a:r>
              <a:rPr lang="en-IN" sz="1800" dirty="0"/>
              <a:t> id;  </a:t>
            </a:r>
          </a:p>
          <a:p>
            <a:pPr marL="0" indent="0">
              <a:spcBef>
                <a:spcPts val="0"/>
              </a:spcBef>
              <a:buNone/>
            </a:pPr>
            <a:r>
              <a:rPr lang="en-IN" sz="1800" dirty="0"/>
              <a:t>String name;  </a:t>
            </a:r>
          </a:p>
          <a:p>
            <a:pPr marL="0" indent="0">
              <a:spcBef>
                <a:spcPts val="0"/>
              </a:spcBef>
              <a:buNone/>
            </a:pPr>
            <a:r>
              <a:rPr lang="en-IN" sz="1800" dirty="0"/>
              <a:t>  </a:t>
            </a:r>
            <a:r>
              <a:rPr lang="en-IN" sz="1800" dirty="0" smtClean="0"/>
              <a:t>Student</a:t>
            </a:r>
            <a:r>
              <a:rPr lang="en-IN" sz="1800" dirty="0"/>
              <a:t>(){  </a:t>
            </a:r>
          </a:p>
          <a:p>
            <a:pPr marL="0" indent="0">
              <a:spcBef>
                <a:spcPts val="0"/>
              </a:spcBef>
              <a:buNone/>
            </a:pPr>
            <a:r>
              <a:rPr lang="en-IN" sz="1800" dirty="0" err="1"/>
              <a:t>System.out.println</a:t>
            </a:r>
            <a:r>
              <a:rPr lang="en-IN" sz="1800" dirty="0"/>
              <a:t>("this a default constructor");  </a:t>
            </a:r>
          </a:p>
          <a:p>
            <a:pPr marL="0" indent="0">
              <a:spcBef>
                <a:spcPts val="0"/>
              </a:spcBef>
              <a:buNone/>
            </a:pPr>
            <a:r>
              <a:rPr lang="en-IN" sz="1800" dirty="0"/>
              <a:t>}  </a:t>
            </a:r>
          </a:p>
          <a:p>
            <a:pPr marL="0" indent="0">
              <a:spcBef>
                <a:spcPts val="0"/>
              </a:spcBef>
              <a:buNone/>
            </a:pPr>
            <a:r>
              <a:rPr lang="en-IN" sz="1800" dirty="0"/>
              <a:t>  </a:t>
            </a:r>
            <a:r>
              <a:rPr lang="en-IN" sz="1800" dirty="0" smtClean="0"/>
              <a:t>Student(</a:t>
            </a:r>
            <a:r>
              <a:rPr lang="en-IN" sz="1800" dirty="0" err="1" smtClean="0"/>
              <a:t>int</a:t>
            </a:r>
            <a:r>
              <a:rPr lang="en-IN" sz="1800" dirty="0" smtClean="0"/>
              <a:t> </a:t>
            </a:r>
            <a:r>
              <a:rPr lang="en-IN" sz="1800" dirty="0" err="1"/>
              <a:t>i</a:t>
            </a:r>
            <a:r>
              <a:rPr lang="en-IN" sz="1800" dirty="0"/>
              <a:t>, String n){  </a:t>
            </a:r>
          </a:p>
          <a:p>
            <a:pPr marL="0" indent="0">
              <a:spcBef>
                <a:spcPts val="0"/>
              </a:spcBef>
              <a:buNone/>
            </a:pPr>
            <a:r>
              <a:rPr lang="en-IN" sz="1800" dirty="0"/>
              <a:t>id = </a:t>
            </a:r>
            <a:r>
              <a:rPr lang="en-IN" sz="1800" dirty="0" err="1"/>
              <a:t>i</a:t>
            </a:r>
            <a:r>
              <a:rPr lang="en-IN" sz="1800" dirty="0"/>
              <a:t>;  </a:t>
            </a:r>
          </a:p>
          <a:p>
            <a:pPr marL="0" indent="0">
              <a:spcBef>
                <a:spcPts val="0"/>
              </a:spcBef>
              <a:buNone/>
            </a:pPr>
            <a:r>
              <a:rPr lang="en-IN" sz="1800" dirty="0"/>
              <a:t>name = n;  </a:t>
            </a:r>
          </a:p>
          <a:p>
            <a:pPr marL="0" indent="0">
              <a:spcBef>
                <a:spcPts val="0"/>
              </a:spcBef>
              <a:buNone/>
            </a:pPr>
            <a:r>
              <a:rPr lang="en-IN" sz="1800" dirty="0"/>
              <a:t>}  </a:t>
            </a:r>
          </a:p>
          <a:p>
            <a:pPr marL="0" indent="0">
              <a:spcBef>
                <a:spcPts val="0"/>
              </a:spcBef>
              <a:buNone/>
            </a:pPr>
            <a:r>
              <a:rPr lang="en-IN" sz="1800" dirty="0"/>
              <a:t>  </a:t>
            </a:r>
            <a:r>
              <a:rPr lang="en-IN" sz="1800" dirty="0" smtClean="0"/>
              <a:t>public </a:t>
            </a:r>
            <a:r>
              <a:rPr lang="en-IN" sz="1800" dirty="0"/>
              <a:t>static void main(String[] </a:t>
            </a:r>
            <a:r>
              <a:rPr lang="en-IN" sz="1800" dirty="0" err="1"/>
              <a:t>args</a:t>
            </a:r>
            <a:r>
              <a:rPr lang="en-IN" sz="1800" dirty="0"/>
              <a:t>) {  </a:t>
            </a:r>
          </a:p>
          <a:p>
            <a:pPr marL="0" indent="0">
              <a:spcBef>
                <a:spcPts val="0"/>
              </a:spcBef>
              <a:buNone/>
            </a:pPr>
            <a:r>
              <a:rPr lang="en-IN" sz="1800" dirty="0"/>
              <a:t>//object creation  </a:t>
            </a:r>
          </a:p>
          <a:p>
            <a:pPr marL="0" indent="0">
              <a:spcBef>
                <a:spcPts val="0"/>
              </a:spcBef>
              <a:buNone/>
            </a:pPr>
            <a:r>
              <a:rPr lang="en-IN" sz="1800" dirty="0"/>
              <a:t>Student s = new Student();  </a:t>
            </a:r>
          </a:p>
          <a:p>
            <a:pPr marL="0" indent="0">
              <a:spcBef>
                <a:spcPts val="0"/>
              </a:spcBef>
              <a:buNone/>
            </a:pPr>
            <a:r>
              <a:rPr lang="en-IN" sz="1800" dirty="0" err="1"/>
              <a:t>System.out.println</a:t>
            </a:r>
            <a:r>
              <a:rPr lang="en-IN" sz="1800" dirty="0"/>
              <a:t>("\</a:t>
            </a:r>
            <a:r>
              <a:rPr lang="en-IN" sz="1800" dirty="0" err="1"/>
              <a:t>nDefault</a:t>
            </a:r>
            <a:r>
              <a:rPr lang="en-IN" sz="1800" dirty="0"/>
              <a:t> Constructor values: \n");  </a:t>
            </a:r>
          </a:p>
          <a:p>
            <a:pPr marL="0" indent="0">
              <a:spcBef>
                <a:spcPts val="0"/>
              </a:spcBef>
              <a:buNone/>
            </a:pPr>
            <a:r>
              <a:rPr lang="en-IN" sz="1800" dirty="0" err="1"/>
              <a:t>System.out.println</a:t>
            </a:r>
            <a:r>
              <a:rPr lang="en-IN" sz="1800" dirty="0"/>
              <a:t>("Student Id : "+s.id + "\</a:t>
            </a:r>
            <a:r>
              <a:rPr lang="en-IN" sz="1800" dirty="0" err="1"/>
              <a:t>nStudent</a:t>
            </a:r>
            <a:r>
              <a:rPr lang="en-IN" sz="1800" dirty="0"/>
              <a:t> Name : "+s.name);  </a:t>
            </a:r>
          </a:p>
          <a:p>
            <a:pPr marL="0" indent="0">
              <a:spcBef>
                <a:spcPts val="0"/>
              </a:spcBef>
              <a:buNone/>
            </a:pPr>
            <a:r>
              <a:rPr lang="en-IN" sz="1800" dirty="0"/>
              <a:t>  </a:t>
            </a:r>
            <a:r>
              <a:rPr lang="en-IN" sz="1800" dirty="0" err="1" smtClean="0"/>
              <a:t>System.out.println</a:t>
            </a:r>
            <a:r>
              <a:rPr lang="en-IN" sz="1800" dirty="0"/>
              <a:t>("\</a:t>
            </a:r>
            <a:r>
              <a:rPr lang="en-IN" sz="1800" dirty="0" err="1"/>
              <a:t>nParameterized</a:t>
            </a:r>
            <a:r>
              <a:rPr lang="en-IN" sz="1800" dirty="0"/>
              <a:t> Constructor values: \n");  </a:t>
            </a:r>
          </a:p>
          <a:p>
            <a:pPr marL="0" indent="0">
              <a:spcBef>
                <a:spcPts val="0"/>
              </a:spcBef>
              <a:buNone/>
            </a:pPr>
            <a:r>
              <a:rPr lang="en-IN" sz="1800" dirty="0"/>
              <a:t>Student </a:t>
            </a:r>
            <a:r>
              <a:rPr lang="en-IN" sz="1800" dirty="0" err="1"/>
              <a:t>st</a:t>
            </a:r>
            <a:r>
              <a:rPr lang="en-IN" sz="1800" dirty="0"/>
              <a:t> = new Student(10, "ABC");  </a:t>
            </a:r>
          </a:p>
          <a:p>
            <a:pPr marL="0" indent="0">
              <a:spcBef>
                <a:spcPts val="0"/>
              </a:spcBef>
              <a:buNone/>
            </a:pPr>
            <a:r>
              <a:rPr lang="en-IN" sz="1800" dirty="0" err="1"/>
              <a:t>System.out.println</a:t>
            </a:r>
            <a:r>
              <a:rPr lang="en-IN" sz="1800" dirty="0"/>
              <a:t>("Student Id : "+st.id + "\</a:t>
            </a:r>
            <a:r>
              <a:rPr lang="en-IN" sz="1800" dirty="0" err="1"/>
              <a:t>nStudent</a:t>
            </a:r>
            <a:r>
              <a:rPr lang="en-IN" sz="1800" dirty="0"/>
              <a:t> Name : "+st.name);  </a:t>
            </a:r>
          </a:p>
          <a:p>
            <a:pPr marL="0" indent="0">
              <a:spcBef>
                <a:spcPts val="0"/>
              </a:spcBef>
              <a:buNone/>
            </a:pPr>
            <a:r>
              <a:rPr lang="en-IN" sz="1800" dirty="0"/>
              <a:t>}  </a:t>
            </a:r>
            <a:r>
              <a:rPr lang="en-IN" sz="1800" dirty="0" smtClean="0"/>
              <a:t>} </a:t>
            </a:r>
          </a:p>
        </p:txBody>
      </p:sp>
      <p:sp>
        <p:nvSpPr>
          <p:cNvPr id="4" name="TextBox 3"/>
          <p:cNvSpPr txBox="1"/>
          <p:nvPr/>
        </p:nvSpPr>
        <p:spPr>
          <a:xfrm>
            <a:off x="6434137" y="0"/>
            <a:ext cx="5757863" cy="7294305"/>
          </a:xfrm>
          <a:prstGeom prst="rect">
            <a:avLst/>
          </a:prstGeom>
          <a:noFill/>
        </p:spPr>
        <p:txBody>
          <a:bodyPr wrap="square" rtlCol="0">
            <a:spAutoFit/>
          </a:bodyPr>
          <a:lstStyle/>
          <a:p>
            <a:r>
              <a:rPr lang="en-IN" b="1" dirty="0"/>
              <a:t>P</a:t>
            </a:r>
            <a:r>
              <a:rPr lang="en-IN" b="1" dirty="0" smtClean="0"/>
              <a:t>urpose </a:t>
            </a:r>
            <a:r>
              <a:rPr lang="en-IN" b="1" dirty="0"/>
              <a:t>of constructor </a:t>
            </a:r>
            <a:r>
              <a:rPr lang="en-IN" b="1" dirty="0" smtClean="0"/>
              <a:t>overloading:  </a:t>
            </a:r>
          </a:p>
          <a:p>
            <a:pPr marL="285750" indent="-285750" algn="just">
              <a:buFont typeface="Arial" panose="020B0604020202020204" pitchFamily="34" charset="0"/>
              <a:buChar char="•"/>
            </a:pPr>
            <a:r>
              <a:rPr lang="en-IN" dirty="0" smtClean="0"/>
              <a:t>When we </a:t>
            </a:r>
            <a:r>
              <a:rPr lang="en-IN" dirty="0"/>
              <a:t>need to use multiple constructors to initialize the different values of the class.</a:t>
            </a:r>
          </a:p>
          <a:p>
            <a:pPr marL="285750" indent="-285750" algn="just">
              <a:buFont typeface="Arial" panose="020B0604020202020204" pitchFamily="34" charset="0"/>
              <a:buChar char="•"/>
            </a:pPr>
            <a:r>
              <a:rPr lang="en-IN" dirty="0"/>
              <a:t>J</a:t>
            </a:r>
            <a:r>
              <a:rPr lang="en-IN" dirty="0" smtClean="0"/>
              <a:t>ava </a:t>
            </a:r>
            <a:r>
              <a:rPr lang="en-IN" dirty="0"/>
              <a:t>compiler invokes a default constructor when we do not use any constructor in the class</a:t>
            </a:r>
            <a:r>
              <a:rPr lang="en-IN" dirty="0" smtClean="0"/>
              <a:t>.</a:t>
            </a:r>
          </a:p>
          <a:p>
            <a:pPr marL="285750" indent="-285750" algn="just">
              <a:buFont typeface="Arial" panose="020B0604020202020204" pitchFamily="34" charset="0"/>
              <a:buChar char="•"/>
            </a:pPr>
            <a:r>
              <a:rPr lang="en-IN" dirty="0" smtClean="0"/>
              <a:t> </a:t>
            </a:r>
            <a:r>
              <a:rPr lang="en-IN" dirty="0"/>
              <a:t>However, the default constructor is not invoked if we have used any constructor in the class, whether it is default or parameterized. </a:t>
            </a:r>
            <a:r>
              <a:rPr lang="en-IN" dirty="0" smtClean="0"/>
              <a:t> </a:t>
            </a:r>
          </a:p>
          <a:p>
            <a:pPr marL="285750" indent="-285750" algn="just">
              <a:buFont typeface="Arial" panose="020B0604020202020204" pitchFamily="34" charset="0"/>
              <a:buChar char="•"/>
            </a:pPr>
            <a:r>
              <a:rPr lang="en-IN" dirty="0" smtClean="0"/>
              <a:t>Java </a:t>
            </a:r>
            <a:r>
              <a:rPr lang="en-IN" dirty="0"/>
              <a:t>compiler throws an exception saying the constructor is undefined</a:t>
            </a:r>
            <a:r>
              <a:rPr lang="en-IN" dirty="0" smtClean="0"/>
              <a:t>.</a:t>
            </a:r>
          </a:p>
          <a:p>
            <a:pPr algn="just"/>
            <a:r>
              <a:rPr lang="en-IN" dirty="0"/>
              <a:t>public class Colleges {  </a:t>
            </a:r>
          </a:p>
          <a:p>
            <a:pPr algn="just"/>
            <a:r>
              <a:rPr lang="en-IN" dirty="0"/>
              <a:t>String </a:t>
            </a:r>
            <a:r>
              <a:rPr lang="en-IN" dirty="0" err="1"/>
              <a:t>collegeId</a:t>
            </a:r>
            <a:r>
              <a:rPr lang="en-IN" dirty="0"/>
              <a:t>;  </a:t>
            </a:r>
          </a:p>
          <a:p>
            <a:pPr algn="just"/>
            <a:r>
              <a:rPr lang="en-IN" dirty="0"/>
              <a:t>Colleges(String </a:t>
            </a:r>
            <a:r>
              <a:rPr lang="en-IN" dirty="0" err="1"/>
              <a:t>cid</a:t>
            </a:r>
            <a:r>
              <a:rPr lang="en-IN" dirty="0"/>
              <a:t>){  </a:t>
            </a:r>
          </a:p>
          <a:p>
            <a:pPr algn="just"/>
            <a:r>
              <a:rPr lang="en-IN" dirty="0" err="1"/>
              <a:t>cid</a:t>
            </a:r>
            <a:r>
              <a:rPr lang="en-IN" dirty="0"/>
              <a:t> = "MIT " + </a:t>
            </a:r>
            <a:r>
              <a:rPr lang="en-IN" dirty="0" err="1"/>
              <a:t>collegeId</a:t>
            </a:r>
            <a:r>
              <a:rPr lang="en-IN" dirty="0"/>
              <a:t>;   </a:t>
            </a:r>
          </a:p>
          <a:p>
            <a:pPr algn="just"/>
            <a:r>
              <a:rPr lang="en-IN" dirty="0"/>
              <a:t>}  </a:t>
            </a:r>
          </a:p>
          <a:p>
            <a:pPr algn="just"/>
            <a:r>
              <a:rPr lang="en-IN" dirty="0"/>
              <a:t>public static void main(String[] </a:t>
            </a:r>
            <a:r>
              <a:rPr lang="en-IN" dirty="0" err="1"/>
              <a:t>args</a:t>
            </a:r>
            <a:r>
              <a:rPr lang="en-IN" dirty="0"/>
              <a:t>) {  </a:t>
            </a:r>
          </a:p>
          <a:p>
            <a:pPr algn="just"/>
            <a:r>
              <a:rPr lang="en-IN" dirty="0" smtClean="0"/>
              <a:t>Colleges </a:t>
            </a:r>
            <a:r>
              <a:rPr lang="en-IN" dirty="0" err="1"/>
              <a:t>clg</a:t>
            </a:r>
            <a:r>
              <a:rPr lang="en-IN" dirty="0"/>
              <a:t> = new Colleges</a:t>
            </a:r>
            <a:r>
              <a:rPr lang="en-IN" dirty="0" smtClean="0"/>
              <a:t>();}  } </a:t>
            </a:r>
          </a:p>
          <a:p>
            <a:pPr algn="just"/>
            <a:endParaRPr lang="en-IN" dirty="0"/>
          </a:p>
          <a:p>
            <a:pPr algn="just"/>
            <a:r>
              <a:rPr lang="en-IN" dirty="0"/>
              <a:t>public class Colleges {  </a:t>
            </a:r>
          </a:p>
          <a:p>
            <a:pPr algn="just"/>
            <a:r>
              <a:rPr lang="en-IN" dirty="0"/>
              <a:t>String </a:t>
            </a:r>
            <a:r>
              <a:rPr lang="en-IN" dirty="0" err="1"/>
              <a:t>collegeId</a:t>
            </a:r>
            <a:r>
              <a:rPr lang="en-IN" dirty="0"/>
              <a:t>;  </a:t>
            </a:r>
          </a:p>
          <a:p>
            <a:pPr algn="just"/>
            <a:r>
              <a:rPr lang="en-IN" dirty="0"/>
              <a:t>Colleges(String </a:t>
            </a:r>
            <a:r>
              <a:rPr lang="en-IN" dirty="0" err="1"/>
              <a:t>cid</a:t>
            </a:r>
            <a:r>
              <a:rPr lang="en-IN" dirty="0"/>
              <a:t>){  </a:t>
            </a:r>
          </a:p>
          <a:p>
            <a:pPr algn="just"/>
            <a:r>
              <a:rPr lang="en-IN" dirty="0" err="1"/>
              <a:t>collegeId</a:t>
            </a:r>
            <a:r>
              <a:rPr lang="en-IN" dirty="0"/>
              <a:t> = "MIT " + </a:t>
            </a:r>
            <a:r>
              <a:rPr lang="en-IN" dirty="0" err="1"/>
              <a:t>cid</a:t>
            </a:r>
            <a:r>
              <a:rPr lang="en-IN" dirty="0"/>
              <a:t>;  </a:t>
            </a:r>
            <a:r>
              <a:rPr lang="en-IN" dirty="0" smtClean="0"/>
              <a:t>}  </a:t>
            </a:r>
            <a:endParaRPr lang="en-IN" dirty="0"/>
          </a:p>
          <a:p>
            <a:pPr algn="just"/>
            <a:r>
              <a:rPr lang="en-IN" dirty="0"/>
              <a:t>public static void main(String[] </a:t>
            </a:r>
            <a:r>
              <a:rPr lang="en-IN" dirty="0" err="1"/>
              <a:t>args</a:t>
            </a:r>
            <a:r>
              <a:rPr lang="en-IN" dirty="0"/>
              <a:t>) {  </a:t>
            </a:r>
          </a:p>
          <a:p>
            <a:pPr algn="just"/>
            <a:r>
              <a:rPr lang="en-IN" dirty="0" smtClean="0"/>
              <a:t>Colleges </a:t>
            </a:r>
            <a:r>
              <a:rPr lang="en-IN" dirty="0" err="1"/>
              <a:t>clg</a:t>
            </a:r>
            <a:r>
              <a:rPr lang="en-IN" dirty="0"/>
              <a:t> = new Colleges("</a:t>
            </a:r>
            <a:r>
              <a:rPr lang="en-IN" dirty="0" smtClean="0"/>
              <a:t>004");</a:t>
            </a:r>
          </a:p>
          <a:p>
            <a:pPr algn="just"/>
            <a:r>
              <a:rPr lang="en-IN" dirty="0" err="1" smtClean="0"/>
              <a:t>System.out.println</a:t>
            </a:r>
            <a:r>
              <a:rPr lang="en-IN" dirty="0" smtClean="0"/>
              <a:t>(</a:t>
            </a:r>
            <a:r>
              <a:rPr lang="en-IN" dirty="0" err="1" smtClean="0"/>
              <a:t>clg.collegeId</a:t>
            </a:r>
            <a:r>
              <a:rPr lang="en-IN" dirty="0" smtClean="0"/>
              <a:t>);}  } </a:t>
            </a:r>
            <a:endParaRPr lang="en-IN" dirty="0"/>
          </a:p>
          <a:p>
            <a:endParaRPr lang="en-IN" dirty="0"/>
          </a:p>
        </p:txBody>
      </p:sp>
      <p:pic>
        <p:nvPicPr>
          <p:cNvPr id="5" name="Picture 4"/>
          <p:cNvPicPr>
            <a:picLocks noChangeAspect="1"/>
          </p:cNvPicPr>
          <p:nvPr/>
        </p:nvPicPr>
        <p:blipFill>
          <a:blip r:embed="rId2"/>
          <a:stretch>
            <a:fillRect/>
          </a:stretch>
        </p:blipFill>
        <p:spPr>
          <a:xfrm>
            <a:off x="3843338" y="2741564"/>
            <a:ext cx="2428875" cy="1811176"/>
          </a:xfrm>
          <a:prstGeom prst="rect">
            <a:avLst/>
          </a:prstGeom>
        </p:spPr>
      </p:pic>
      <p:pic>
        <p:nvPicPr>
          <p:cNvPr id="6" name="Picture 5"/>
          <p:cNvPicPr>
            <a:picLocks noChangeAspect="1"/>
          </p:cNvPicPr>
          <p:nvPr/>
        </p:nvPicPr>
        <p:blipFill>
          <a:blip r:embed="rId3"/>
          <a:stretch>
            <a:fillRect/>
          </a:stretch>
        </p:blipFill>
        <p:spPr>
          <a:xfrm>
            <a:off x="8786813" y="2741564"/>
            <a:ext cx="3405187" cy="1401811"/>
          </a:xfrm>
          <a:prstGeom prst="rect">
            <a:avLst/>
          </a:prstGeom>
        </p:spPr>
      </p:pic>
      <p:pic>
        <p:nvPicPr>
          <p:cNvPr id="7" name="Picture 6"/>
          <p:cNvPicPr>
            <a:picLocks noChangeAspect="1"/>
          </p:cNvPicPr>
          <p:nvPr/>
        </p:nvPicPr>
        <p:blipFill>
          <a:blip r:embed="rId4"/>
          <a:stretch>
            <a:fillRect/>
          </a:stretch>
        </p:blipFill>
        <p:spPr>
          <a:xfrm>
            <a:off x="9065418" y="5252114"/>
            <a:ext cx="2847975" cy="691486"/>
          </a:xfrm>
          <a:prstGeom prst="rect">
            <a:avLst/>
          </a:prstGeom>
        </p:spPr>
      </p:pic>
    </p:spTree>
    <p:extLst>
      <p:ext uri="{BB962C8B-B14F-4D97-AF65-F5344CB8AC3E}">
        <p14:creationId xmlns:p14="http://schemas.microsoft.com/office/powerpoint/2010/main" val="425417038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Java-this keyword</a:t>
            </a:r>
            <a:endParaRPr lang="en-US" dirty="0"/>
          </a:p>
        </p:txBody>
      </p:sp>
      <p:sp>
        <p:nvSpPr>
          <p:cNvPr id="3" name="Content Placeholder 2"/>
          <p:cNvSpPr>
            <a:spLocks noGrp="1"/>
          </p:cNvSpPr>
          <p:nvPr>
            <p:ph sz="half" idx="1"/>
          </p:nvPr>
        </p:nvSpPr>
        <p:spPr>
          <a:xfrm>
            <a:off x="134814" y="394529"/>
            <a:ext cx="6437436" cy="6343895"/>
          </a:xfrm>
        </p:spPr>
        <p:txBody>
          <a:bodyPr>
            <a:noAutofit/>
          </a:bodyPr>
          <a:lstStyle/>
          <a:p>
            <a:pPr marL="0" indent="0">
              <a:buNone/>
            </a:pPr>
            <a:r>
              <a:rPr lang="en-US" sz="1800" b="1" dirty="0"/>
              <a:t>this </a:t>
            </a:r>
            <a:r>
              <a:rPr lang="en-US" sz="1800" dirty="0"/>
              <a:t>is a reference variable that refers to the current object</a:t>
            </a:r>
            <a:r>
              <a:rPr lang="en-US" sz="1800" b="1" dirty="0" smtClean="0"/>
              <a:t>.</a:t>
            </a:r>
          </a:p>
          <a:p>
            <a:pPr marL="0" indent="0">
              <a:buNone/>
            </a:pPr>
            <a:r>
              <a:rPr lang="en-US" sz="1800" b="1" dirty="0" smtClean="0"/>
              <a:t>Usage:</a:t>
            </a:r>
          </a:p>
          <a:p>
            <a:pPr marL="0" indent="0">
              <a:spcBef>
                <a:spcPts val="0"/>
              </a:spcBef>
              <a:buNone/>
            </a:pPr>
            <a:r>
              <a:rPr lang="en-US" sz="1800" dirty="0" smtClean="0"/>
              <a:t>Refer </a:t>
            </a:r>
            <a:r>
              <a:rPr lang="en-US" sz="1800" dirty="0"/>
              <a:t>current class instance variable</a:t>
            </a:r>
            <a:r>
              <a:rPr lang="en-US" sz="1800" dirty="0" smtClean="0"/>
              <a:t>.</a:t>
            </a:r>
          </a:p>
          <a:p>
            <a:pPr marL="0" indent="0">
              <a:spcBef>
                <a:spcPts val="0"/>
              </a:spcBef>
              <a:buNone/>
            </a:pPr>
            <a:r>
              <a:rPr lang="en-US" sz="1800" dirty="0" smtClean="0"/>
              <a:t>Invoke </a:t>
            </a:r>
            <a:r>
              <a:rPr lang="en-US" sz="1800" dirty="0"/>
              <a:t>current class method (implicitly</a:t>
            </a:r>
            <a:r>
              <a:rPr lang="en-US" sz="1800" dirty="0" smtClean="0"/>
              <a:t>)</a:t>
            </a:r>
          </a:p>
          <a:p>
            <a:pPr marL="0" indent="0">
              <a:spcBef>
                <a:spcPts val="0"/>
              </a:spcBef>
              <a:buNone/>
            </a:pPr>
            <a:r>
              <a:rPr lang="en-US" sz="1800" dirty="0" smtClean="0"/>
              <a:t>Invoke </a:t>
            </a:r>
            <a:r>
              <a:rPr lang="en-US" sz="1800" dirty="0"/>
              <a:t>current class constructor</a:t>
            </a:r>
            <a:r>
              <a:rPr lang="en-US" sz="1800" dirty="0" smtClean="0"/>
              <a:t>.</a:t>
            </a:r>
          </a:p>
          <a:p>
            <a:pPr marL="0" indent="0">
              <a:spcBef>
                <a:spcPts val="0"/>
              </a:spcBef>
              <a:buNone/>
            </a:pPr>
            <a:r>
              <a:rPr lang="en-US" sz="1800" dirty="0" smtClean="0"/>
              <a:t>Passed </a:t>
            </a:r>
            <a:r>
              <a:rPr lang="en-US" sz="1800" dirty="0"/>
              <a:t>as an argument in the method call</a:t>
            </a:r>
            <a:r>
              <a:rPr lang="en-US" sz="1800" dirty="0" smtClean="0"/>
              <a:t>.</a:t>
            </a:r>
          </a:p>
          <a:p>
            <a:pPr marL="0" indent="0">
              <a:spcBef>
                <a:spcPts val="0"/>
              </a:spcBef>
              <a:buNone/>
            </a:pPr>
            <a:r>
              <a:rPr lang="en-US" sz="1800" dirty="0" smtClean="0"/>
              <a:t>Passed </a:t>
            </a:r>
            <a:r>
              <a:rPr lang="en-US" sz="1800" dirty="0"/>
              <a:t>as argument in the constructor call</a:t>
            </a:r>
            <a:r>
              <a:rPr lang="en-US" sz="1800" dirty="0" smtClean="0"/>
              <a:t>.</a:t>
            </a:r>
          </a:p>
          <a:p>
            <a:pPr marL="0" indent="0">
              <a:spcBef>
                <a:spcPts val="0"/>
              </a:spcBef>
              <a:buNone/>
            </a:pPr>
            <a:r>
              <a:rPr lang="en-US" sz="1800" dirty="0"/>
              <a:t>U</a:t>
            </a:r>
            <a:r>
              <a:rPr lang="en-US" sz="1800" dirty="0" smtClean="0"/>
              <a:t>sed </a:t>
            </a:r>
            <a:r>
              <a:rPr lang="en-US" sz="1800" dirty="0"/>
              <a:t>to return the current class instance from the method</a:t>
            </a:r>
            <a:r>
              <a:rPr lang="en-US" sz="1800" dirty="0" smtClean="0"/>
              <a:t>.</a:t>
            </a:r>
          </a:p>
          <a:p>
            <a:pPr marL="0" indent="0">
              <a:spcBef>
                <a:spcPts val="0"/>
              </a:spcBef>
              <a:buNone/>
            </a:pPr>
            <a:endParaRPr lang="en-US" sz="1800" dirty="0"/>
          </a:p>
          <a:p>
            <a:pPr marL="0" indent="0">
              <a:spcBef>
                <a:spcPts val="0"/>
              </a:spcBef>
              <a:buNone/>
            </a:pPr>
            <a:r>
              <a:rPr lang="en-US" sz="1800" b="1" dirty="0" smtClean="0"/>
              <a:t>Without this keyword:</a:t>
            </a:r>
          </a:p>
          <a:p>
            <a:pPr marL="0" indent="0">
              <a:spcBef>
                <a:spcPts val="0"/>
              </a:spcBef>
              <a:buNone/>
            </a:pPr>
            <a:r>
              <a:rPr lang="en-IN" sz="1800" dirty="0"/>
              <a:t>class Student{  </a:t>
            </a:r>
          </a:p>
          <a:p>
            <a:pPr marL="0" indent="0">
              <a:spcBef>
                <a:spcPts val="0"/>
              </a:spcBef>
              <a:buNone/>
            </a:pPr>
            <a:r>
              <a:rPr lang="en-IN" sz="1800" dirty="0" err="1"/>
              <a:t>int</a:t>
            </a:r>
            <a:r>
              <a:rPr lang="en-IN" sz="1800" dirty="0"/>
              <a:t> </a:t>
            </a:r>
            <a:r>
              <a:rPr lang="en-IN" sz="1800" dirty="0" err="1"/>
              <a:t>rollno</a:t>
            </a:r>
            <a:r>
              <a:rPr lang="en-IN" sz="1800" dirty="0"/>
              <a:t>;  </a:t>
            </a:r>
          </a:p>
          <a:p>
            <a:pPr marL="0" indent="0">
              <a:spcBef>
                <a:spcPts val="0"/>
              </a:spcBef>
              <a:buNone/>
            </a:pPr>
            <a:r>
              <a:rPr lang="en-IN" sz="1800" dirty="0"/>
              <a:t>String name;  </a:t>
            </a:r>
          </a:p>
          <a:p>
            <a:pPr marL="0" indent="0">
              <a:spcBef>
                <a:spcPts val="0"/>
              </a:spcBef>
              <a:buNone/>
            </a:pPr>
            <a:r>
              <a:rPr lang="en-IN" sz="1800" dirty="0"/>
              <a:t>float fee;  </a:t>
            </a:r>
          </a:p>
          <a:p>
            <a:pPr marL="0" indent="0">
              <a:spcBef>
                <a:spcPts val="0"/>
              </a:spcBef>
              <a:buNone/>
            </a:pPr>
            <a:r>
              <a:rPr lang="en-IN" sz="1800" dirty="0"/>
              <a:t>Student(</a:t>
            </a:r>
            <a:r>
              <a:rPr lang="en-IN" sz="1800" dirty="0" err="1"/>
              <a:t>int</a:t>
            </a:r>
            <a:r>
              <a:rPr lang="en-IN" sz="1800" dirty="0"/>
              <a:t> </a:t>
            </a:r>
            <a:r>
              <a:rPr lang="en-IN" sz="1800" dirty="0" err="1"/>
              <a:t>rollno,String</a:t>
            </a:r>
            <a:r>
              <a:rPr lang="en-IN" sz="1800" dirty="0"/>
              <a:t> </a:t>
            </a:r>
            <a:r>
              <a:rPr lang="en-IN" sz="1800" dirty="0" err="1"/>
              <a:t>name,float</a:t>
            </a:r>
            <a:r>
              <a:rPr lang="en-IN" sz="1800" dirty="0"/>
              <a:t> fee){  </a:t>
            </a:r>
          </a:p>
          <a:p>
            <a:pPr marL="0" indent="0">
              <a:spcBef>
                <a:spcPts val="0"/>
              </a:spcBef>
              <a:buNone/>
            </a:pPr>
            <a:r>
              <a:rPr lang="en-IN" sz="1800" dirty="0" err="1"/>
              <a:t>rollno</a:t>
            </a:r>
            <a:r>
              <a:rPr lang="en-IN" sz="1800" dirty="0"/>
              <a:t>=</a:t>
            </a:r>
            <a:r>
              <a:rPr lang="en-IN" sz="1800" dirty="0" err="1"/>
              <a:t>rollno</a:t>
            </a:r>
            <a:r>
              <a:rPr lang="en-IN" sz="1800" dirty="0"/>
              <a:t>;  </a:t>
            </a:r>
          </a:p>
          <a:p>
            <a:pPr marL="0" indent="0">
              <a:spcBef>
                <a:spcPts val="0"/>
              </a:spcBef>
              <a:buNone/>
            </a:pPr>
            <a:r>
              <a:rPr lang="en-IN" sz="1800" dirty="0"/>
              <a:t>name=name;  </a:t>
            </a:r>
          </a:p>
          <a:p>
            <a:pPr marL="0" indent="0">
              <a:spcBef>
                <a:spcPts val="0"/>
              </a:spcBef>
              <a:buNone/>
            </a:pPr>
            <a:r>
              <a:rPr lang="en-IN" sz="1800" dirty="0"/>
              <a:t>fee=fee;  </a:t>
            </a:r>
            <a:r>
              <a:rPr lang="en-IN" sz="1800" dirty="0" smtClean="0"/>
              <a:t>}  </a:t>
            </a:r>
            <a:endParaRPr lang="en-IN" sz="1800" dirty="0"/>
          </a:p>
          <a:p>
            <a:pPr marL="0" indent="0">
              <a:spcBef>
                <a:spcPts val="0"/>
              </a:spcBef>
              <a:buNone/>
            </a:pPr>
            <a:r>
              <a:rPr lang="en-IN" sz="1800" dirty="0"/>
              <a:t>void display(){</a:t>
            </a:r>
            <a:r>
              <a:rPr lang="en-IN" sz="1800" dirty="0" err="1"/>
              <a:t>System.out.println</a:t>
            </a:r>
            <a:r>
              <a:rPr lang="en-IN" sz="1800" dirty="0"/>
              <a:t>(</a:t>
            </a:r>
            <a:r>
              <a:rPr lang="en-IN" sz="1800" dirty="0" err="1"/>
              <a:t>rollno</a:t>
            </a:r>
            <a:r>
              <a:rPr lang="en-IN" sz="1800" dirty="0"/>
              <a:t>+" "+name+" "+fee);}  </a:t>
            </a:r>
            <a:r>
              <a:rPr lang="en-IN" sz="1800" dirty="0" smtClean="0"/>
              <a:t>}  </a:t>
            </a:r>
            <a:endParaRPr lang="en-IN" sz="1800" dirty="0"/>
          </a:p>
          <a:p>
            <a:pPr marL="0" indent="0">
              <a:spcBef>
                <a:spcPts val="0"/>
              </a:spcBef>
              <a:buNone/>
            </a:pPr>
            <a:r>
              <a:rPr lang="en-IN" sz="1800" dirty="0"/>
              <a:t>public class </a:t>
            </a:r>
            <a:r>
              <a:rPr lang="en-IN" sz="1800" dirty="0" err="1"/>
              <a:t>TestThis</a:t>
            </a:r>
            <a:r>
              <a:rPr lang="en-IN" sz="1800" dirty="0"/>
              <a:t>{  </a:t>
            </a:r>
          </a:p>
          <a:p>
            <a:pPr marL="0" indent="0">
              <a:spcBef>
                <a:spcPts val="0"/>
              </a:spcBef>
              <a:buNone/>
            </a:pPr>
            <a:r>
              <a:rPr lang="en-IN" sz="1800" dirty="0"/>
              <a:t>public static void main(String </a:t>
            </a:r>
            <a:r>
              <a:rPr lang="en-IN" sz="1800" dirty="0" err="1"/>
              <a:t>args</a:t>
            </a:r>
            <a:r>
              <a:rPr lang="en-IN" sz="1800" dirty="0"/>
              <a:t>[]){  </a:t>
            </a:r>
          </a:p>
          <a:p>
            <a:pPr marL="0" indent="0">
              <a:spcBef>
                <a:spcPts val="0"/>
              </a:spcBef>
              <a:buNone/>
            </a:pPr>
            <a:r>
              <a:rPr lang="en-IN" sz="1800" dirty="0"/>
              <a:t>Student s1=new Student(111,"ABC",5000f);  </a:t>
            </a:r>
          </a:p>
          <a:p>
            <a:pPr marL="0" indent="0">
              <a:spcBef>
                <a:spcPts val="0"/>
              </a:spcBef>
              <a:buNone/>
            </a:pPr>
            <a:r>
              <a:rPr lang="en-IN" sz="1800" dirty="0"/>
              <a:t>Student s2=new Student(112,"PQR",6000f);  </a:t>
            </a:r>
          </a:p>
          <a:p>
            <a:pPr marL="0" indent="0">
              <a:spcBef>
                <a:spcPts val="0"/>
              </a:spcBef>
              <a:buNone/>
            </a:pPr>
            <a:r>
              <a:rPr lang="en-IN" sz="1800" dirty="0"/>
              <a:t>s1.display();  </a:t>
            </a:r>
          </a:p>
          <a:p>
            <a:pPr marL="0" indent="0">
              <a:spcBef>
                <a:spcPts val="0"/>
              </a:spcBef>
              <a:buNone/>
            </a:pPr>
            <a:r>
              <a:rPr lang="en-IN" sz="1800" dirty="0"/>
              <a:t>s2.display();  </a:t>
            </a:r>
            <a:r>
              <a:rPr lang="en-IN" sz="1800" dirty="0" smtClean="0"/>
              <a:t>}} </a:t>
            </a:r>
            <a:endParaRPr lang="en-IN" sz="1800" dirty="0"/>
          </a:p>
        </p:txBody>
      </p:sp>
      <p:sp>
        <p:nvSpPr>
          <p:cNvPr id="4" name="TextBox 3"/>
          <p:cNvSpPr txBox="1"/>
          <p:nvPr/>
        </p:nvSpPr>
        <p:spPr>
          <a:xfrm>
            <a:off x="6157913" y="0"/>
            <a:ext cx="5895542" cy="7294305"/>
          </a:xfrm>
          <a:prstGeom prst="rect">
            <a:avLst/>
          </a:prstGeom>
          <a:noFill/>
        </p:spPr>
        <p:txBody>
          <a:bodyPr wrap="square" rtlCol="0">
            <a:spAutoFit/>
          </a:bodyPr>
          <a:lstStyle/>
          <a:p>
            <a:endParaRPr lang="en-US" dirty="0" smtClean="0"/>
          </a:p>
          <a:p>
            <a:r>
              <a:rPr lang="en-US" b="1" dirty="0"/>
              <a:t>this</a:t>
            </a:r>
            <a:r>
              <a:rPr lang="en-US" dirty="0"/>
              <a:t>: </a:t>
            </a:r>
            <a:endParaRPr lang="en-US" dirty="0" smtClean="0"/>
          </a:p>
          <a:p>
            <a:pPr marL="285750" indent="-285750">
              <a:buFont typeface="Arial" panose="020B0604020202020204" pitchFamily="34" charset="0"/>
              <a:buChar char="•"/>
            </a:pPr>
            <a:r>
              <a:rPr lang="en-US" dirty="0" smtClean="0"/>
              <a:t>to </a:t>
            </a:r>
            <a:r>
              <a:rPr lang="en-US" dirty="0"/>
              <a:t>refer current class instance variable</a:t>
            </a:r>
          </a:p>
          <a:p>
            <a:pPr marL="285750" indent="-285750">
              <a:buFont typeface="Arial" panose="020B0604020202020204" pitchFamily="34" charset="0"/>
              <a:buChar char="•"/>
            </a:pPr>
            <a:r>
              <a:rPr lang="en-US" dirty="0"/>
              <a:t>The this keyword can be used to refer current class instance variable. </a:t>
            </a:r>
            <a:endParaRPr lang="en-US" dirty="0" smtClean="0"/>
          </a:p>
          <a:p>
            <a:pPr marL="285750" indent="-285750">
              <a:buFont typeface="Arial" panose="020B0604020202020204" pitchFamily="34" charset="0"/>
              <a:buChar char="•"/>
            </a:pPr>
            <a:r>
              <a:rPr lang="en-US" b="1" dirty="0" smtClean="0"/>
              <a:t>If </a:t>
            </a:r>
            <a:r>
              <a:rPr lang="en-US" b="1" dirty="0"/>
              <a:t>there is ambiguity between the instance variables and parameters, this keyword resolves the problem of ambiguity</a:t>
            </a:r>
            <a:r>
              <a:rPr lang="en-US" b="1" dirty="0" smtClean="0"/>
              <a:t>.</a:t>
            </a:r>
          </a:p>
          <a:p>
            <a:r>
              <a:rPr lang="en-US" b="1" dirty="0" smtClean="0"/>
              <a:t>With this keyword:</a:t>
            </a:r>
          </a:p>
          <a:p>
            <a:r>
              <a:rPr lang="en-IN" dirty="0"/>
              <a:t>public class Student{  </a:t>
            </a:r>
          </a:p>
          <a:p>
            <a:r>
              <a:rPr lang="en-IN" dirty="0" err="1"/>
              <a:t>int</a:t>
            </a:r>
            <a:r>
              <a:rPr lang="en-IN" dirty="0"/>
              <a:t> </a:t>
            </a:r>
            <a:r>
              <a:rPr lang="en-IN" dirty="0" err="1"/>
              <a:t>rollno</a:t>
            </a:r>
            <a:r>
              <a:rPr lang="en-IN" dirty="0"/>
              <a:t>;  </a:t>
            </a:r>
          </a:p>
          <a:p>
            <a:r>
              <a:rPr lang="en-IN" dirty="0"/>
              <a:t>String name;  </a:t>
            </a:r>
          </a:p>
          <a:p>
            <a:r>
              <a:rPr lang="en-IN" dirty="0"/>
              <a:t>float fee;  </a:t>
            </a:r>
          </a:p>
          <a:p>
            <a:r>
              <a:rPr lang="en-IN" dirty="0"/>
              <a:t>Student(</a:t>
            </a:r>
            <a:r>
              <a:rPr lang="en-IN" dirty="0" err="1"/>
              <a:t>int</a:t>
            </a:r>
            <a:r>
              <a:rPr lang="en-IN" dirty="0"/>
              <a:t> </a:t>
            </a:r>
            <a:r>
              <a:rPr lang="en-IN" dirty="0" err="1"/>
              <a:t>rollno,String</a:t>
            </a:r>
            <a:r>
              <a:rPr lang="en-IN" dirty="0"/>
              <a:t> </a:t>
            </a:r>
            <a:r>
              <a:rPr lang="en-IN" dirty="0" err="1"/>
              <a:t>name,float</a:t>
            </a:r>
            <a:r>
              <a:rPr lang="en-IN" dirty="0"/>
              <a:t> fee){  </a:t>
            </a:r>
          </a:p>
          <a:p>
            <a:r>
              <a:rPr lang="en-IN" dirty="0" err="1"/>
              <a:t>this.rollno</a:t>
            </a:r>
            <a:r>
              <a:rPr lang="en-IN" dirty="0"/>
              <a:t>=</a:t>
            </a:r>
            <a:r>
              <a:rPr lang="en-IN" dirty="0" err="1"/>
              <a:t>rollno</a:t>
            </a:r>
            <a:r>
              <a:rPr lang="en-IN" dirty="0"/>
              <a:t>;  </a:t>
            </a:r>
          </a:p>
          <a:p>
            <a:r>
              <a:rPr lang="en-IN" dirty="0"/>
              <a:t>this.name=name;  </a:t>
            </a:r>
          </a:p>
          <a:p>
            <a:r>
              <a:rPr lang="en-IN" dirty="0" err="1"/>
              <a:t>this.fee</a:t>
            </a:r>
            <a:r>
              <a:rPr lang="en-IN" dirty="0"/>
              <a:t>=fee;  </a:t>
            </a:r>
            <a:r>
              <a:rPr lang="en-IN" dirty="0" smtClean="0"/>
              <a:t>}  </a:t>
            </a:r>
            <a:endParaRPr lang="en-IN" dirty="0"/>
          </a:p>
          <a:p>
            <a:r>
              <a:rPr lang="en-IN" dirty="0"/>
              <a:t>void display(){</a:t>
            </a:r>
            <a:r>
              <a:rPr lang="en-IN" dirty="0" err="1"/>
              <a:t>System.out.println</a:t>
            </a:r>
            <a:r>
              <a:rPr lang="en-IN" dirty="0"/>
              <a:t>(</a:t>
            </a:r>
            <a:r>
              <a:rPr lang="en-IN" dirty="0" err="1"/>
              <a:t>rollno</a:t>
            </a:r>
            <a:r>
              <a:rPr lang="en-IN" dirty="0"/>
              <a:t>+" "+name+" "+fee);} </a:t>
            </a:r>
            <a:r>
              <a:rPr lang="en-IN" dirty="0" smtClean="0"/>
              <a:t>}  </a:t>
            </a:r>
            <a:endParaRPr lang="en-IN" dirty="0"/>
          </a:p>
          <a:p>
            <a:r>
              <a:rPr lang="en-IN" dirty="0"/>
              <a:t> </a:t>
            </a:r>
            <a:r>
              <a:rPr lang="en-IN" dirty="0" smtClean="0"/>
              <a:t>class </a:t>
            </a:r>
            <a:r>
              <a:rPr lang="en-IN" dirty="0" err="1"/>
              <a:t>TestThis</a:t>
            </a:r>
            <a:r>
              <a:rPr lang="en-IN" dirty="0"/>
              <a:t>{  </a:t>
            </a:r>
          </a:p>
          <a:p>
            <a:r>
              <a:rPr lang="en-IN" dirty="0"/>
              <a:t>public static void main(String </a:t>
            </a:r>
            <a:r>
              <a:rPr lang="en-IN" dirty="0" err="1"/>
              <a:t>args</a:t>
            </a:r>
            <a:r>
              <a:rPr lang="en-IN" dirty="0"/>
              <a:t>[]){  </a:t>
            </a:r>
          </a:p>
          <a:p>
            <a:r>
              <a:rPr lang="en-IN" dirty="0"/>
              <a:t>Student s1=new Student(111,"ABC",5000f);  </a:t>
            </a:r>
          </a:p>
          <a:p>
            <a:r>
              <a:rPr lang="en-IN" dirty="0"/>
              <a:t>Student s2=new Student(112,"PQR",6000f);  </a:t>
            </a:r>
          </a:p>
          <a:p>
            <a:r>
              <a:rPr lang="en-IN" dirty="0"/>
              <a:t>s1.display();  </a:t>
            </a:r>
          </a:p>
          <a:p>
            <a:r>
              <a:rPr lang="en-IN" dirty="0"/>
              <a:t>s2.display();  </a:t>
            </a:r>
          </a:p>
          <a:p>
            <a:r>
              <a:rPr lang="en-IN" dirty="0"/>
              <a:t>}} </a:t>
            </a:r>
          </a:p>
        </p:txBody>
      </p:sp>
      <p:pic>
        <p:nvPicPr>
          <p:cNvPr id="5" name="Picture 4"/>
          <p:cNvPicPr>
            <a:picLocks noChangeAspect="1"/>
          </p:cNvPicPr>
          <p:nvPr/>
        </p:nvPicPr>
        <p:blipFill>
          <a:blip r:embed="rId2"/>
          <a:stretch>
            <a:fillRect/>
          </a:stretch>
        </p:blipFill>
        <p:spPr>
          <a:xfrm>
            <a:off x="2709863" y="3187192"/>
            <a:ext cx="2857500" cy="657225"/>
          </a:xfrm>
          <a:prstGeom prst="rect">
            <a:avLst/>
          </a:prstGeom>
        </p:spPr>
      </p:pic>
    </p:spTree>
    <p:extLst>
      <p:ext uri="{BB962C8B-B14F-4D97-AF65-F5344CB8AC3E}">
        <p14:creationId xmlns:p14="http://schemas.microsoft.com/office/powerpoint/2010/main" val="29594361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Java-this keyword</a:t>
            </a:r>
            <a:endParaRPr lang="en-US" dirty="0"/>
          </a:p>
        </p:txBody>
      </p:sp>
      <p:sp>
        <p:nvSpPr>
          <p:cNvPr id="3" name="Content Placeholder 2"/>
          <p:cNvSpPr>
            <a:spLocks noGrp="1"/>
          </p:cNvSpPr>
          <p:nvPr>
            <p:ph sz="half" idx="1"/>
          </p:nvPr>
        </p:nvSpPr>
        <p:spPr>
          <a:xfrm>
            <a:off x="134814" y="394529"/>
            <a:ext cx="6023099" cy="6343895"/>
          </a:xfrm>
        </p:spPr>
        <p:txBody>
          <a:bodyPr>
            <a:noAutofit/>
          </a:bodyPr>
          <a:lstStyle/>
          <a:p>
            <a:pPr marL="0" indent="0">
              <a:buNone/>
            </a:pPr>
            <a:r>
              <a:rPr lang="en-US" sz="1800" b="1" dirty="0"/>
              <a:t>this: to invoke current class method</a:t>
            </a:r>
          </a:p>
          <a:p>
            <a:pPr marL="0" indent="0">
              <a:buNone/>
            </a:pPr>
            <a:r>
              <a:rPr lang="en-US" sz="1800" dirty="0"/>
              <a:t>I</a:t>
            </a:r>
            <a:r>
              <a:rPr lang="en-US" sz="1800" dirty="0" smtClean="0"/>
              <a:t>nvoke </a:t>
            </a:r>
            <a:r>
              <a:rPr lang="en-US" sz="1800" dirty="0"/>
              <a:t>the method of the current class by using </a:t>
            </a:r>
            <a:r>
              <a:rPr lang="en-US" sz="1800" dirty="0" smtClean="0"/>
              <a:t>this </a:t>
            </a:r>
            <a:r>
              <a:rPr lang="en-US" sz="1800" dirty="0"/>
              <a:t>keyword. </a:t>
            </a:r>
            <a:endParaRPr lang="en-US" sz="1800" dirty="0" smtClean="0"/>
          </a:p>
          <a:p>
            <a:pPr marL="0" indent="0">
              <a:buNone/>
            </a:pPr>
            <a:r>
              <a:rPr lang="en-US" sz="1800" dirty="0" smtClean="0"/>
              <a:t>If the keyword is not used explicitly, </a:t>
            </a:r>
            <a:r>
              <a:rPr lang="en-US" sz="1800" dirty="0"/>
              <a:t>compiler automatically adds this keyword while invoking the method. </a:t>
            </a:r>
            <a:endParaRPr lang="en-US" sz="1800" dirty="0" smtClean="0"/>
          </a:p>
          <a:p>
            <a:pPr marL="0" indent="0">
              <a:buNone/>
            </a:pPr>
            <a:endParaRPr lang="en-US" sz="1800" dirty="0" smtClean="0"/>
          </a:p>
          <a:p>
            <a:pPr marL="0" indent="0">
              <a:spcBef>
                <a:spcPts val="0"/>
              </a:spcBef>
              <a:buNone/>
            </a:pPr>
            <a:r>
              <a:rPr lang="en-IN" sz="1800" dirty="0"/>
              <a:t>class test{  </a:t>
            </a:r>
          </a:p>
          <a:p>
            <a:pPr marL="0" indent="0">
              <a:spcBef>
                <a:spcPts val="0"/>
              </a:spcBef>
              <a:buNone/>
            </a:pPr>
            <a:r>
              <a:rPr lang="en-IN" sz="1800" dirty="0"/>
              <a:t>void m(){</a:t>
            </a:r>
            <a:r>
              <a:rPr lang="en-IN" sz="1800" dirty="0" err="1"/>
              <a:t>System.out.println</a:t>
            </a:r>
            <a:r>
              <a:rPr lang="en-IN" sz="1800" dirty="0"/>
              <a:t>("hello m");}  </a:t>
            </a:r>
          </a:p>
          <a:p>
            <a:pPr marL="0" indent="0">
              <a:spcBef>
                <a:spcPts val="0"/>
              </a:spcBef>
              <a:buNone/>
            </a:pPr>
            <a:r>
              <a:rPr lang="en-IN" sz="1800" dirty="0"/>
              <a:t>void n(){  </a:t>
            </a:r>
          </a:p>
          <a:p>
            <a:pPr marL="0" indent="0">
              <a:spcBef>
                <a:spcPts val="0"/>
              </a:spcBef>
              <a:buNone/>
            </a:pPr>
            <a:r>
              <a:rPr lang="en-IN" sz="1800" dirty="0" err="1"/>
              <a:t>System.out.println</a:t>
            </a:r>
            <a:r>
              <a:rPr lang="en-IN" sz="1800" dirty="0"/>
              <a:t>("hello n");  </a:t>
            </a:r>
          </a:p>
          <a:p>
            <a:pPr marL="0" indent="0">
              <a:spcBef>
                <a:spcPts val="0"/>
              </a:spcBef>
              <a:buNone/>
            </a:pPr>
            <a:r>
              <a:rPr lang="en-IN" sz="1800" dirty="0"/>
              <a:t>//m();//same as </a:t>
            </a:r>
            <a:r>
              <a:rPr lang="en-IN" sz="1800" dirty="0" err="1"/>
              <a:t>this.m</a:t>
            </a:r>
            <a:r>
              <a:rPr lang="en-IN" sz="1800" dirty="0"/>
              <a:t>()  </a:t>
            </a:r>
          </a:p>
          <a:p>
            <a:pPr marL="0" indent="0">
              <a:spcBef>
                <a:spcPts val="0"/>
              </a:spcBef>
              <a:buNone/>
            </a:pPr>
            <a:r>
              <a:rPr lang="en-IN" sz="1800" dirty="0" err="1"/>
              <a:t>this.m</a:t>
            </a:r>
            <a:r>
              <a:rPr lang="en-IN" sz="1800" dirty="0"/>
              <a:t>();  </a:t>
            </a:r>
          </a:p>
          <a:p>
            <a:pPr marL="0" indent="0">
              <a:spcBef>
                <a:spcPts val="0"/>
              </a:spcBef>
              <a:buNone/>
            </a:pPr>
            <a:r>
              <a:rPr lang="en-IN" sz="1800" dirty="0"/>
              <a:t>}  </a:t>
            </a:r>
          </a:p>
          <a:p>
            <a:pPr marL="0" indent="0">
              <a:spcBef>
                <a:spcPts val="0"/>
              </a:spcBef>
              <a:buNone/>
            </a:pPr>
            <a:r>
              <a:rPr lang="en-IN" sz="1800" dirty="0"/>
              <a:t>}  </a:t>
            </a:r>
          </a:p>
          <a:p>
            <a:pPr marL="0" indent="0">
              <a:spcBef>
                <a:spcPts val="0"/>
              </a:spcBef>
              <a:buNone/>
            </a:pPr>
            <a:r>
              <a:rPr lang="en-IN" sz="1800" dirty="0"/>
              <a:t>public class </a:t>
            </a:r>
            <a:r>
              <a:rPr lang="en-IN" sz="1800" dirty="0" err="1"/>
              <a:t>TestThis</a:t>
            </a:r>
            <a:r>
              <a:rPr lang="en-IN" sz="1800" dirty="0"/>
              <a:t>{  </a:t>
            </a:r>
          </a:p>
          <a:p>
            <a:pPr marL="0" indent="0">
              <a:spcBef>
                <a:spcPts val="0"/>
              </a:spcBef>
              <a:buNone/>
            </a:pPr>
            <a:r>
              <a:rPr lang="en-IN" sz="1800" dirty="0"/>
              <a:t>public static void main(String </a:t>
            </a:r>
            <a:r>
              <a:rPr lang="en-IN" sz="1800" dirty="0" err="1"/>
              <a:t>args</a:t>
            </a:r>
            <a:r>
              <a:rPr lang="en-IN" sz="1800" dirty="0"/>
              <a:t>[]){  </a:t>
            </a:r>
          </a:p>
          <a:p>
            <a:pPr marL="0" indent="0">
              <a:spcBef>
                <a:spcPts val="0"/>
              </a:spcBef>
              <a:buNone/>
            </a:pPr>
            <a:r>
              <a:rPr lang="en-IN" sz="1800" dirty="0"/>
              <a:t>test a=new test();  </a:t>
            </a:r>
          </a:p>
          <a:p>
            <a:pPr marL="0" indent="0">
              <a:spcBef>
                <a:spcPts val="0"/>
              </a:spcBef>
              <a:buNone/>
            </a:pPr>
            <a:r>
              <a:rPr lang="en-IN" sz="1800" dirty="0" err="1"/>
              <a:t>a.n</a:t>
            </a:r>
            <a:r>
              <a:rPr lang="en-IN" sz="1800" dirty="0"/>
              <a:t>();  </a:t>
            </a:r>
          </a:p>
          <a:p>
            <a:pPr marL="0" indent="0">
              <a:spcBef>
                <a:spcPts val="0"/>
              </a:spcBef>
              <a:buNone/>
            </a:pPr>
            <a:r>
              <a:rPr lang="en-IN" sz="1800" dirty="0"/>
              <a:t>}} </a:t>
            </a:r>
          </a:p>
        </p:txBody>
      </p:sp>
      <p:sp>
        <p:nvSpPr>
          <p:cNvPr id="4" name="TextBox 3"/>
          <p:cNvSpPr txBox="1"/>
          <p:nvPr/>
        </p:nvSpPr>
        <p:spPr>
          <a:xfrm>
            <a:off x="6157913" y="0"/>
            <a:ext cx="5895542" cy="5909310"/>
          </a:xfrm>
          <a:prstGeom prst="rect">
            <a:avLst/>
          </a:prstGeom>
          <a:noFill/>
        </p:spPr>
        <p:txBody>
          <a:bodyPr wrap="square" rtlCol="0">
            <a:spAutoFit/>
          </a:bodyPr>
          <a:lstStyle/>
          <a:p>
            <a:endParaRPr lang="en-US" dirty="0" smtClean="0"/>
          </a:p>
          <a:p>
            <a:r>
              <a:rPr lang="en-US" b="1" dirty="0"/>
              <a:t>this</a:t>
            </a:r>
            <a:r>
              <a:rPr lang="en-US" dirty="0"/>
              <a:t>: </a:t>
            </a:r>
            <a:r>
              <a:rPr lang="en-US" dirty="0" smtClean="0"/>
              <a:t>to </a:t>
            </a:r>
            <a:r>
              <a:rPr lang="en-US" dirty="0"/>
              <a:t>invoke current class constructor</a:t>
            </a:r>
          </a:p>
          <a:p>
            <a:r>
              <a:rPr lang="en-US" dirty="0"/>
              <a:t>The this() constructor call can be used to invoke the current class constructor. </a:t>
            </a:r>
            <a:endParaRPr lang="en-US" dirty="0" smtClean="0"/>
          </a:p>
          <a:p>
            <a:r>
              <a:rPr lang="en-US" dirty="0" smtClean="0"/>
              <a:t>It </a:t>
            </a:r>
            <a:r>
              <a:rPr lang="en-US" dirty="0"/>
              <a:t>is used to reuse the </a:t>
            </a:r>
            <a:r>
              <a:rPr lang="en-US" dirty="0" smtClean="0"/>
              <a:t>constructor(</a:t>
            </a:r>
            <a:r>
              <a:rPr lang="en-IN" b="1" dirty="0"/>
              <a:t>constructor </a:t>
            </a:r>
            <a:r>
              <a:rPr lang="en-IN" b="1" dirty="0" smtClean="0"/>
              <a:t>chaining</a:t>
            </a:r>
            <a:r>
              <a:rPr lang="en-IN" dirty="0" smtClean="0"/>
              <a:t>)</a:t>
            </a:r>
          </a:p>
          <a:p>
            <a:endParaRPr lang="en-US" dirty="0" smtClean="0"/>
          </a:p>
          <a:p>
            <a:r>
              <a:rPr lang="en-US" b="1" dirty="0"/>
              <a:t>Calling default constructor from parameterized constructor:</a:t>
            </a:r>
            <a:endParaRPr lang="en-US" dirty="0"/>
          </a:p>
          <a:p>
            <a:r>
              <a:rPr lang="en-US" dirty="0"/>
              <a:t>class A{  </a:t>
            </a:r>
          </a:p>
          <a:p>
            <a:r>
              <a:rPr lang="en-US" dirty="0"/>
              <a:t>A()</a:t>
            </a:r>
          </a:p>
          <a:p>
            <a:r>
              <a:rPr lang="en-US" dirty="0"/>
              <a:t>{</a:t>
            </a:r>
          </a:p>
          <a:p>
            <a:r>
              <a:rPr lang="en-US" dirty="0"/>
              <a:t>    </a:t>
            </a:r>
            <a:r>
              <a:rPr lang="en-US" dirty="0" err="1"/>
              <a:t>System.out.println</a:t>
            </a:r>
            <a:r>
              <a:rPr lang="en-US" dirty="0"/>
              <a:t>("hello a");</a:t>
            </a:r>
          </a:p>
          <a:p>
            <a:r>
              <a:rPr lang="en-US" dirty="0"/>
              <a:t>}  </a:t>
            </a:r>
          </a:p>
          <a:p>
            <a:r>
              <a:rPr lang="en-US" dirty="0"/>
              <a:t>A(</a:t>
            </a:r>
            <a:r>
              <a:rPr lang="en-US" dirty="0" err="1"/>
              <a:t>int</a:t>
            </a:r>
            <a:r>
              <a:rPr lang="en-US" dirty="0"/>
              <a:t> x){  </a:t>
            </a:r>
          </a:p>
          <a:p>
            <a:r>
              <a:rPr lang="en-US" dirty="0"/>
              <a:t>this();  </a:t>
            </a:r>
          </a:p>
          <a:p>
            <a:r>
              <a:rPr lang="en-US" dirty="0" err="1"/>
              <a:t>System.out.println</a:t>
            </a:r>
            <a:r>
              <a:rPr lang="en-US" dirty="0"/>
              <a:t>(x);  </a:t>
            </a:r>
          </a:p>
          <a:p>
            <a:r>
              <a:rPr lang="en-US" dirty="0"/>
              <a:t>}  </a:t>
            </a:r>
          </a:p>
          <a:p>
            <a:r>
              <a:rPr lang="en-US" dirty="0"/>
              <a:t>}  </a:t>
            </a:r>
          </a:p>
          <a:p>
            <a:r>
              <a:rPr lang="en-US" dirty="0"/>
              <a:t>public class </a:t>
            </a:r>
            <a:r>
              <a:rPr lang="en-US" dirty="0" err="1"/>
              <a:t>TestThis</a:t>
            </a:r>
            <a:r>
              <a:rPr lang="en-US" dirty="0"/>
              <a:t>{  </a:t>
            </a:r>
          </a:p>
          <a:p>
            <a:r>
              <a:rPr lang="en-US" dirty="0"/>
              <a:t>public static void main(String </a:t>
            </a:r>
            <a:r>
              <a:rPr lang="en-US" dirty="0" err="1"/>
              <a:t>args</a:t>
            </a:r>
            <a:r>
              <a:rPr lang="en-US" dirty="0"/>
              <a:t>[]){  </a:t>
            </a:r>
          </a:p>
          <a:p>
            <a:r>
              <a:rPr lang="en-US" dirty="0"/>
              <a:t>A a=new A(10);  </a:t>
            </a:r>
          </a:p>
          <a:p>
            <a:r>
              <a:rPr lang="en-US" dirty="0"/>
              <a:t>}}</a:t>
            </a:r>
            <a:endParaRPr lang="en-IN" dirty="0"/>
          </a:p>
        </p:txBody>
      </p:sp>
      <p:pic>
        <p:nvPicPr>
          <p:cNvPr id="5" name="Picture 4"/>
          <p:cNvPicPr>
            <a:picLocks noChangeAspect="1"/>
          </p:cNvPicPr>
          <p:nvPr/>
        </p:nvPicPr>
        <p:blipFill>
          <a:blip r:embed="rId2"/>
          <a:stretch>
            <a:fillRect/>
          </a:stretch>
        </p:blipFill>
        <p:spPr>
          <a:xfrm>
            <a:off x="543481" y="5340191"/>
            <a:ext cx="5205765" cy="1138238"/>
          </a:xfrm>
          <a:prstGeom prst="rect">
            <a:avLst/>
          </a:prstGeom>
        </p:spPr>
      </p:pic>
      <p:pic>
        <p:nvPicPr>
          <p:cNvPr id="6" name="Picture 5"/>
          <p:cNvPicPr>
            <a:picLocks noChangeAspect="1"/>
          </p:cNvPicPr>
          <p:nvPr/>
        </p:nvPicPr>
        <p:blipFill>
          <a:blip r:embed="rId3"/>
          <a:stretch>
            <a:fillRect/>
          </a:stretch>
        </p:blipFill>
        <p:spPr>
          <a:xfrm>
            <a:off x="7477125" y="5604510"/>
            <a:ext cx="4703885" cy="1020504"/>
          </a:xfrm>
          <a:prstGeom prst="rect">
            <a:avLst/>
          </a:prstGeom>
        </p:spPr>
      </p:pic>
    </p:spTree>
    <p:extLst>
      <p:ext uri="{BB962C8B-B14F-4D97-AF65-F5344CB8AC3E}">
        <p14:creationId xmlns:p14="http://schemas.microsoft.com/office/powerpoint/2010/main" val="412784067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Java-this keyword</a:t>
            </a:r>
            <a:endParaRPr lang="en-US" dirty="0"/>
          </a:p>
        </p:txBody>
      </p:sp>
      <p:sp>
        <p:nvSpPr>
          <p:cNvPr id="3" name="Content Placeholder 2"/>
          <p:cNvSpPr>
            <a:spLocks noGrp="1"/>
          </p:cNvSpPr>
          <p:nvPr>
            <p:ph sz="half" idx="1"/>
          </p:nvPr>
        </p:nvSpPr>
        <p:spPr>
          <a:xfrm>
            <a:off x="134814" y="394529"/>
            <a:ext cx="6023099" cy="6343895"/>
          </a:xfrm>
        </p:spPr>
        <p:txBody>
          <a:bodyPr>
            <a:noAutofit/>
          </a:bodyPr>
          <a:lstStyle/>
          <a:p>
            <a:pPr marL="0" indent="0">
              <a:buNone/>
            </a:pPr>
            <a:r>
              <a:rPr lang="en-IN" sz="1800" b="1" dirty="0"/>
              <a:t>Calling parameterized constructor from default </a:t>
            </a:r>
            <a:r>
              <a:rPr lang="en-IN" sz="1800" b="1" dirty="0" smtClean="0"/>
              <a:t>constructor</a:t>
            </a:r>
          </a:p>
          <a:p>
            <a:pPr marL="0" indent="0">
              <a:buNone/>
            </a:pPr>
            <a:r>
              <a:rPr lang="en-US" sz="1800" dirty="0"/>
              <a:t>class test{  </a:t>
            </a:r>
          </a:p>
          <a:p>
            <a:pPr marL="0" indent="0">
              <a:buNone/>
            </a:pPr>
            <a:r>
              <a:rPr lang="en-US" sz="1800" dirty="0"/>
              <a:t>test(){  </a:t>
            </a:r>
          </a:p>
          <a:p>
            <a:pPr marL="0" indent="0">
              <a:buNone/>
            </a:pPr>
            <a:r>
              <a:rPr lang="en-US" sz="1800" dirty="0"/>
              <a:t>this(5);  </a:t>
            </a:r>
          </a:p>
          <a:p>
            <a:pPr marL="0" indent="0">
              <a:buNone/>
            </a:pPr>
            <a:r>
              <a:rPr lang="en-US" sz="1800" dirty="0" err="1"/>
              <a:t>System.out.println</a:t>
            </a:r>
            <a:r>
              <a:rPr lang="en-US" sz="1800" dirty="0"/>
              <a:t>("hello");  </a:t>
            </a:r>
          </a:p>
          <a:p>
            <a:pPr marL="0" indent="0">
              <a:buNone/>
            </a:pPr>
            <a:r>
              <a:rPr lang="en-US" sz="1800" dirty="0"/>
              <a:t>}  </a:t>
            </a:r>
          </a:p>
          <a:p>
            <a:pPr marL="0" indent="0">
              <a:buNone/>
            </a:pPr>
            <a:r>
              <a:rPr lang="en-US" sz="1800" dirty="0"/>
              <a:t>test(</a:t>
            </a:r>
            <a:r>
              <a:rPr lang="en-US" sz="1800" dirty="0" err="1"/>
              <a:t>int</a:t>
            </a:r>
            <a:r>
              <a:rPr lang="en-US" sz="1800" dirty="0"/>
              <a:t> x){  </a:t>
            </a:r>
          </a:p>
          <a:p>
            <a:pPr marL="0" indent="0">
              <a:buNone/>
            </a:pPr>
            <a:r>
              <a:rPr lang="en-US" sz="1800" dirty="0" err="1"/>
              <a:t>System.out.println</a:t>
            </a:r>
            <a:r>
              <a:rPr lang="en-US" sz="1800" dirty="0"/>
              <a:t>(x);  </a:t>
            </a:r>
          </a:p>
          <a:p>
            <a:pPr marL="0" indent="0">
              <a:buNone/>
            </a:pPr>
            <a:r>
              <a:rPr lang="en-US" sz="1800" dirty="0"/>
              <a:t>}  </a:t>
            </a:r>
          </a:p>
          <a:p>
            <a:pPr marL="0" indent="0">
              <a:buNone/>
            </a:pPr>
            <a:r>
              <a:rPr lang="en-US" sz="1800" dirty="0"/>
              <a:t>}  </a:t>
            </a:r>
          </a:p>
          <a:p>
            <a:pPr marL="0" indent="0">
              <a:buNone/>
            </a:pPr>
            <a:r>
              <a:rPr lang="en-US" sz="1800" dirty="0"/>
              <a:t>public class </a:t>
            </a:r>
            <a:r>
              <a:rPr lang="en-US" sz="1800" dirty="0" err="1"/>
              <a:t>TestThis</a:t>
            </a:r>
            <a:r>
              <a:rPr lang="en-US" sz="1800" dirty="0"/>
              <a:t>{  </a:t>
            </a:r>
          </a:p>
          <a:p>
            <a:pPr marL="0" indent="0">
              <a:buNone/>
            </a:pPr>
            <a:r>
              <a:rPr lang="en-US" sz="1800" dirty="0"/>
              <a:t>public static void main(String </a:t>
            </a:r>
            <a:r>
              <a:rPr lang="en-US" sz="1800" dirty="0" err="1"/>
              <a:t>args</a:t>
            </a:r>
            <a:r>
              <a:rPr lang="en-US" sz="1800" dirty="0"/>
              <a:t>[]){  </a:t>
            </a:r>
          </a:p>
          <a:p>
            <a:pPr marL="0" indent="0">
              <a:buNone/>
            </a:pPr>
            <a:r>
              <a:rPr lang="en-US" sz="1800" dirty="0"/>
              <a:t>test a=new test();  </a:t>
            </a:r>
          </a:p>
          <a:p>
            <a:pPr marL="0" indent="0">
              <a:buNone/>
            </a:pPr>
            <a:r>
              <a:rPr lang="en-US" sz="1800" dirty="0"/>
              <a:t>}}</a:t>
            </a:r>
            <a:endParaRPr lang="en-IN" sz="1800" dirty="0"/>
          </a:p>
        </p:txBody>
      </p:sp>
      <p:sp>
        <p:nvSpPr>
          <p:cNvPr id="4" name="TextBox 3"/>
          <p:cNvSpPr txBox="1"/>
          <p:nvPr/>
        </p:nvSpPr>
        <p:spPr>
          <a:xfrm>
            <a:off x="5800725" y="-342900"/>
            <a:ext cx="6252730" cy="7848302"/>
          </a:xfrm>
          <a:prstGeom prst="rect">
            <a:avLst/>
          </a:prstGeom>
          <a:noFill/>
        </p:spPr>
        <p:txBody>
          <a:bodyPr wrap="square" rtlCol="0">
            <a:spAutoFit/>
          </a:bodyPr>
          <a:lstStyle/>
          <a:p>
            <a:endParaRPr lang="en-US" dirty="0" smtClean="0"/>
          </a:p>
          <a:p>
            <a:r>
              <a:rPr lang="en-IN" b="1" dirty="0"/>
              <a:t>usage of this() constructor call</a:t>
            </a:r>
          </a:p>
          <a:p>
            <a:pPr algn="just"/>
            <a:r>
              <a:rPr lang="en-IN" dirty="0"/>
              <a:t>The this() constructor call should be used to reuse the constructor from the constructor. </a:t>
            </a:r>
            <a:endParaRPr lang="en-IN" dirty="0" smtClean="0"/>
          </a:p>
          <a:p>
            <a:pPr algn="just"/>
            <a:r>
              <a:rPr lang="en-IN" b="1" dirty="0"/>
              <a:t>Call to this() must be the first statement in </a:t>
            </a:r>
            <a:r>
              <a:rPr lang="en-IN" b="1" dirty="0" smtClean="0"/>
              <a:t>constructor</a:t>
            </a:r>
            <a:r>
              <a:rPr lang="en-IN" dirty="0" smtClean="0"/>
              <a:t>, else CTE</a:t>
            </a:r>
            <a:endParaRPr lang="en-IN" dirty="0"/>
          </a:p>
          <a:p>
            <a:pPr algn="just"/>
            <a:r>
              <a:rPr lang="en-IN" dirty="0" smtClean="0"/>
              <a:t>It </a:t>
            </a:r>
            <a:r>
              <a:rPr lang="en-IN" dirty="0"/>
              <a:t>maintains the chain between the constructors i.e. it is used for constructor chaining</a:t>
            </a:r>
            <a:r>
              <a:rPr lang="en-IN" dirty="0" smtClean="0"/>
              <a:t>.</a:t>
            </a:r>
          </a:p>
          <a:p>
            <a:pPr algn="just"/>
            <a:r>
              <a:rPr lang="en-IN" dirty="0"/>
              <a:t>class Student{  </a:t>
            </a:r>
          </a:p>
          <a:p>
            <a:pPr algn="just"/>
            <a:r>
              <a:rPr lang="en-IN" dirty="0" err="1"/>
              <a:t>int</a:t>
            </a:r>
            <a:r>
              <a:rPr lang="en-IN" dirty="0"/>
              <a:t> </a:t>
            </a:r>
            <a:r>
              <a:rPr lang="en-IN" dirty="0" err="1"/>
              <a:t>rollno</a:t>
            </a:r>
            <a:r>
              <a:rPr lang="en-IN" dirty="0"/>
              <a:t>;  </a:t>
            </a:r>
          </a:p>
          <a:p>
            <a:pPr algn="just"/>
            <a:r>
              <a:rPr lang="en-IN" dirty="0"/>
              <a:t>String </a:t>
            </a:r>
            <a:r>
              <a:rPr lang="en-IN" dirty="0" err="1"/>
              <a:t>name,course</a:t>
            </a:r>
            <a:r>
              <a:rPr lang="en-IN" dirty="0"/>
              <a:t>;  </a:t>
            </a:r>
          </a:p>
          <a:p>
            <a:pPr algn="just"/>
            <a:r>
              <a:rPr lang="en-IN" dirty="0"/>
              <a:t>float fee;  </a:t>
            </a:r>
          </a:p>
          <a:p>
            <a:pPr algn="just"/>
            <a:r>
              <a:rPr lang="en-IN" dirty="0"/>
              <a:t>Student(</a:t>
            </a:r>
            <a:r>
              <a:rPr lang="en-IN" dirty="0" err="1"/>
              <a:t>int</a:t>
            </a:r>
            <a:r>
              <a:rPr lang="en-IN" dirty="0"/>
              <a:t> </a:t>
            </a:r>
            <a:r>
              <a:rPr lang="en-IN" dirty="0" err="1"/>
              <a:t>rollno,String</a:t>
            </a:r>
            <a:r>
              <a:rPr lang="en-IN" dirty="0"/>
              <a:t> </a:t>
            </a:r>
            <a:r>
              <a:rPr lang="en-IN" dirty="0" err="1"/>
              <a:t>name,String</a:t>
            </a:r>
            <a:r>
              <a:rPr lang="en-IN" dirty="0"/>
              <a:t> course){  </a:t>
            </a:r>
          </a:p>
          <a:p>
            <a:pPr algn="just"/>
            <a:r>
              <a:rPr lang="en-IN" dirty="0" err="1"/>
              <a:t>this.rollno</a:t>
            </a:r>
            <a:r>
              <a:rPr lang="en-IN" dirty="0"/>
              <a:t>=</a:t>
            </a:r>
            <a:r>
              <a:rPr lang="en-IN" dirty="0" err="1"/>
              <a:t>rollno</a:t>
            </a:r>
            <a:r>
              <a:rPr lang="en-IN" dirty="0"/>
              <a:t>;  </a:t>
            </a:r>
          </a:p>
          <a:p>
            <a:pPr algn="just"/>
            <a:r>
              <a:rPr lang="en-IN" dirty="0"/>
              <a:t>this.name=name;  </a:t>
            </a:r>
          </a:p>
          <a:p>
            <a:pPr algn="just"/>
            <a:r>
              <a:rPr lang="en-IN" dirty="0" err="1"/>
              <a:t>this.course</a:t>
            </a:r>
            <a:r>
              <a:rPr lang="en-IN" dirty="0"/>
              <a:t>=course;  </a:t>
            </a:r>
            <a:r>
              <a:rPr lang="en-IN" dirty="0" smtClean="0"/>
              <a:t>}  </a:t>
            </a:r>
            <a:endParaRPr lang="en-IN" dirty="0"/>
          </a:p>
          <a:p>
            <a:pPr algn="just"/>
            <a:r>
              <a:rPr lang="en-IN" dirty="0"/>
              <a:t>Student(</a:t>
            </a:r>
            <a:r>
              <a:rPr lang="en-IN" dirty="0" err="1"/>
              <a:t>int</a:t>
            </a:r>
            <a:r>
              <a:rPr lang="en-IN" dirty="0"/>
              <a:t> </a:t>
            </a:r>
            <a:r>
              <a:rPr lang="en-IN" dirty="0" err="1"/>
              <a:t>rollno,String</a:t>
            </a:r>
            <a:r>
              <a:rPr lang="en-IN" dirty="0"/>
              <a:t> </a:t>
            </a:r>
            <a:r>
              <a:rPr lang="en-IN" dirty="0" err="1"/>
              <a:t>name,String</a:t>
            </a:r>
            <a:r>
              <a:rPr lang="en-IN" dirty="0"/>
              <a:t> </a:t>
            </a:r>
            <a:r>
              <a:rPr lang="en-IN" dirty="0" err="1"/>
              <a:t>course,float</a:t>
            </a:r>
            <a:r>
              <a:rPr lang="en-IN" dirty="0"/>
              <a:t> fee){  </a:t>
            </a:r>
          </a:p>
          <a:p>
            <a:pPr algn="just"/>
            <a:r>
              <a:rPr lang="en-IN" b="1" dirty="0"/>
              <a:t>this(</a:t>
            </a:r>
            <a:r>
              <a:rPr lang="en-IN" b="1" dirty="0" err="1"/>
              <a:t>rollno,name,course</a:t>
            </a:r>
            <a:r>
              <a:rPr lang="en-IN" b="1" dirty="0"/>
              <a:t>);//reusing constructor  </a:t>
            </a:r>
          </a:p>
          <a:p>
            <a:pPr algn="just"/>
            <a:r>
              <a:rPr lang="en-IN" dirty="0" err="1"/>
              <a:t>this.fee</a:t>
            </a:r>
            <a:r>
              <a:rPr lang="en-IN" dirty="0"/>
              <a:t>=fee;  </a:t>
            </a:r>
            <a:r>
              <a:rPr lang="en-IN" dirty="0" smtClean="0"/>
              <a:t>}  </a:t>
            </a:r>
            <a:endParaRPr lang="en-IN" dirty="0"/>
          </a:p>
          <a:p>
            <a:pPr algn="just"/>
            <a:r>
              <a:rPr lang="en-IN" dirty="0"/>
              <a:t>void display(){</a:t>
            </a:r>
            <a:r>
              <a:rPr lang="en-IN" dirty="0" err="1"/>
              <a:t>System.out.println</a:t>
            </a:r>
            <a:r>
              <a:rPr lang="en-IN" dirty="0"/>
              <a:t>(</a:t>
            </a:r>
            <a:r>
              <a:rPr lang="en-IN" dirty="0" err="1"/>
              <a:t>rollno</a:t>
            </a:r>
            <a:r>
              <a:rPr lang="en-IN" dirty="0"/>
              <a:t>+" "+name+" "+course+" "+fee);}  </a:t>
            </a:r>
            <a:r>
              <a:rPr lang="en-IN" dirty="0" smtClean="0"/>
              <a:t>}  </a:t>
            </a:r>
            <a:endParaRPr lang="en-IN" dirty="0"/>
          </a:p>
          <a:p>
            <a:pPr algn="just"/>
            <a:r>
              <a:rPr lang="en-IN" dirty="0"/>
              <a:t>public class </a:t>
            </a:r>
            <a:r>
              <a:rPr lang="en-IN" dirty="0" err="1"/>
              <a:t>TestThis</a:t>
            </a:r>
            <a:r>
              <a:rPr lang="en-IN" dirty="0"/>
              <a:t>{  </a:t>
            </a:r>
          </a:p>
          <a:p>
            <a:pPr algn="just"/>
            <a:r>
              <a:rPr lang="en-IN" dirty="0"/>
              <a:t>public static void main(String </a:t>
            </a:r>
            <a:r>
              <a:rPr lang="en-IN" dirty="0" err="1"/>
              <a:t>args</a:t>
            </a:r>
            <a:r>
              <a:rPr lang="en-IN" dirty="0"/>
              <a:t>[]){  </a:t>
            </a:r>
          </a:p>
          <a:p>
            <a:pPr algn="just"/>
            <a:r>
              <a:rPr lang="en-IN" dirty="0"/>
              <a:t>Student s1=new Student(111,"ABC","java");  </a:t>
            </a:r>
          </a:p>
          <a:p>
            <a:pPr algn="just"/>
            <a:r>
              <a:rPr lang="en-IN" dirty="0"/>
              <a:t>Student s2=new Student(112,"PQR","java",600.20f);  </a:t>
            </a:r>
          </a:p>
          <a:p>
            <a:pPr algn="just"/>
            <a:r>
              <a:rPr lang="en-IN" dirty="0"/>
              <a:t>s1.display();  </a:t>
            </a:r>
          </a:p>
          <a:p>
            <a:pPr algn="just"/>
            <a:r>
              <a:rPr lang="en-IN" dirty="0"/>
              <a:t>s2.display();  </a:t>
            </a:r>
            <a:r>
              <a:rPr lang="en-IN" dirty="0" smtClean="0"/>
              <a:t>}} </a:t>
            </a:r>
            <a:endParaRPr lang="en-IN" dirty="0"/>
          </a:p>
          <a:p>
            <a:pPr algn="just"/>
            <a:endParaRPr lang="en-IN" dirty="0"/>
          </a:p>
          <a:p>
            <a:endParaRPr lang="en-IN" dirty="0"/>
          </a:p>
        </p:txBody>
      </p:sp>
      <p:pic>
        <p:nvPicPr>
          <p:cNvPr id="5" name="Picture 4"/>
          <p:cNvPicPr>
            <a:picLocks noChangeAspect="1"/>
          </p:cNvPicPr>
          <p:nvPr/>
        </p:nvPicPr>
        <p:blipFill>
          <a:blip r:embed="rId2"/>
          <a:stretch>
            <a:fillRect/>
          </a:stretch>
        </p:blipFill>
        <p:spPr>
          <a:xfrm>
            <a:off x="652462" y="5338762"/>
            <a:ext cx="5041616" cy="976313"/>
          </a:xfrm>
          <a:prstGeom prst="rect">
            <a:avLst/>
          </a:prstGeom>
        </p:spPr>
      </p:pic>
      <p:pic>
        <p:nvPicPr>
          <p:cNvPr id="6" name="Picture 5"/>
          <p:cNvPicPr>
            <a:picLocks noChangeAspect="1"/>
          </p:cNvPicPr>
          <p:nvPr/>
        </p:nvPicPr>
        <p:blipFill>
          <a:blip r:embed="rId3"/>
          <a:stretch>
            <a:fillRect/>
          </a:stretch>
        </p:blipFill>
        <p:spPr>
          <a:xfrm>
            <a:off x="8347199" y="1643062"/>
            <a:ext cx="3812903" cy="885826"/>
          </a:xfrm>
          <a:prstGeom prst="rect">
            <a:avLst/>
          </a:prstGeom>
        </p:spPr>
      </p:pic>
    </p:spTree>
    <p:extLst>
      <p:ext uri="{BB962C8B-B14F-4D97-AF65-F5344CB8AC3E}">
        <p14:creationId xmlns:p14="http://schemas.microsoft.com/office/powerpoint/2010/main" val="177200078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Java-this keyword</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buNone/>
            </a:pPr>
            <a:r>
              <a:rPr lang="en-US" sz="1800" b="1" dirty="0"/>
              <a:t>this: </a:t>
            </a:r>
            <a:r>
              <a:rPr lang="en-IN" sz="1800" b="1" dirty="0"/>
              <a:t>to pass as an argument in the method</a:t>
            </a:r>
          </a:p>
          <a:p>
            <a:pPr marL="0" indent="0">
              <a:buNone/>
            </a:pPr>
            <a:r>
              <a:rPr lang="en-IN" sz="1800" dirty="0" smtClean="0"/>
              <a:t>	this </a:t>
            </a:r>
            <a:r>
              <a:rPr lang="en-IN" sz="1800" dirty="0"/>
              <a:t>keyword can also be passed as an argument in the method. It is mainly used in the event handling</a:t>
            </a:r>
            <a:r>
              <a:rPr lang="en-IN" sz="1800" dirty="0" smtClean="0"/>
              <a:t>.</a:t>
            </a:r>
          </a:p>
          <a:p>
            <a:pPr marL="0" indent="0">
              <a:buNone/>
            </a:pPr>
            <a:r>
              <a:rPr lang="en-IN" sz="1800" dirty="0"/>
              <a:t>	In event handling </a:t>
            </a:r>
            <a:r>
              <a:rPr lang="en-IN" sz="1800" dirty="0" smtClean="0"/>
              <a:t>, to </a:t>
            </a:r>
            <a:r>
              <a:rPr lang="en-IN" sz="1800" dirty="0"/>
              <a:t>provide reference of a class to another </a:t>
            </a:r>
            <a:r>
              <a:rPr lang="en-IN" sz="1800" dirty="0" smtClean="0"/>
              <a:t>one it is used. </a:t>
            </a:r>
          </a:p>
          <a:p>
            <a:pPr marL="0" indent="0">
              <a:buNone/>
            </a:pPr>
            <a:r>
              <a:rPr lang="en-IN" sz="1800" dirty="0"/>
              <a:t>	</a:t>
            </a:r>
            <a:r>
              <a:rPr lang="en-IN" sz="1800" dirty="0" smtClean="0"/>
              <a:t>It </a:t>
            </a:r>
            <a:r>
              <a:rPr lang="en-IN" sz="1800" dirty="0"/>
              <a:t>is used to reuse one object in many methods</a:t>
            </a:r>
            <a:r>
              <a:rPr lang="en-IN" sz="1800" dirty="0" smtClean="0"/>
              <a:t>.</a:t>
            </a:r>
          </a:p>
          <a:p>
            <a:pPr marL="0" indent="0">
              <a:buNone/>
            </a:pPr>
            <a:endParaRPr lang="en-IN" sz="1800" dirty="0"/>
          </a:p>
          <a:p>
            <a:pPr marL="0" indent="0">
              <a:buNone/>
            </a:pPr>
            <a:r>
              <a:rPr lang="en-IN" sz="1800" b="1" dirty="0" smtClean="0"/>
              <a:t>this</a:t>
            </a:r>
            <a:r>
              <a:rPr lang="en-IN" sz="1800" b="1" dirty="0"/>
              <a:t>: to pass as argument in the constructor </a:t>
            </a:r>
            <a:r>
              <a:rPr lang="en-IN" sz="1800" b="1" dirty="0" smtClean="0"/>
              <a:t>call:</a:t>
            </a:r>
          </a:p>
          <a:p>
            <a:pPr marL="0" indent="0">
              <a:buNone/>
            </a:pPr>
            <a:r>
              <a:rPr lang="en-IN" sz="1800" dirty="0" smtClean="0"/>
              <a:t>this </a:t>
            </a:r>
            <a:r>
              <a:rPr lang="en-IN" sz="1800" dirty="0"/>
              <a:t>keyword </a:t>
            </a:r>
            <a:r>
              <a:rPr lang="en-IN" sz="1800" dirty="0" smtClean="0"/>
              <a:t>can be passed in </a:t>
            </a:r>
            <a:r>
              <a:rPr lang="en-IN" sz="1800" dirty="0"/>
              <a:t>the constructor also. </a:t>
            </a:r>
            <a:endParaRPr lang="en-IN" sz="1800" dirty="0" smtClean="0"/>
          </a:p>
          <a:p>
            <a:pPr marL="0" indent="0">
              <a:buNone/>
            </a:pPr>
            <a:r>
              <a:rPr lang="en-IN" sz="1800" dirty="0" smtClean="0"/>
              <a:t>It </a:t>
            </a:r>
            <a:r>
              <a:rPr lang="en-IN" sz="1800" dirty="0"/>
              <a:t>is useful if we have to use one object in multiple </a:t>
            </a:r>
            <a:r>
              <a:rPr lang="en-IN" sz="1800" dirty="0" smtClean="0"/>
              <a:t>classes</a:t>
            </a:r>
          </a:p>
          <a:p>
            <a:pPr marL="0" indent="0">
              <a:buNone/>
            </a:pPr>
            <a:r>
              <a:rPr lang="en-IN" sz="1800" b="1" dirty="0" smtClean="0"/>
              <a:t>this </a:t>
            </a:r>
            <a:r>
              <a:rPr lang="en-IN" sz="1800" b="1" dirty="0"/>
              <a:t>keyword can be used to return current class instance</a:t>
            </a:r>
          </a:p>
          <a:p>
            <a:r>
              <a:rPr lang="en-IN" sz="1800" dirty="0" smtClean="0"/>
              <a:t>this </a:t>
            </a:r>
            <a:r>
              <a:rPr lang="en-IN" sz="1800" dirty="0"/>
              <a:t>keyword </a:t>
            </a:r>
            <a:r>
              <a:rPr lang="en-IN" sz="1800" dirty="0" smtClean="0"/>
              <a:t>is used as a return </a:t>
            </a:r>
            <a:r>
              <a:rPr lang="en-IN" sz="1800" dirty="0"/>
              <a:t>statement from the method. </a:t>
            </a:r>
            <a:endParaRPr lang="en-IN" sz="1800" dirty="0" smtClean="0"/>
          </a:p>
          <a:p>
            <a:r>
              <a:rPr lang="en-IN" sz="1800" dirty="0" smtClean="0"/>
              <a:t>return </a:t>
            </a:r>
            <a:r>
              <a:rPr lang="en-IN" sz="1800" dirty="0"/>
              <a:t>type of the method must be the class type (non-primitive</a:t>
            </a:r>
            <a:r>
              <a:rPr lang="en-IN" sz="1800" dirty="0" smtClean="0"/>
              <a:t>)</a:t>
            </a:r>
            <a:endParaRPr lang="en-IN" sz="1800" dirty="0"/>
          </a:p>
          <a:p>
            <a:pPr marL="0" indent="0">
              <a:spcBef>
                <a:spcPts val="0"/>
              </a:spcBef>
              <a:buNone/>
            </a:pPr>
            <a:r>
              <a:rPr lang="en-US" sz="1800" dirty="0"/>
              <a:t>class Student {</a:t>
            </a:r>
          </a:p>
          <a:p>
            <a:pPr marL="0" indent="0">
              <a:spcBef>
                <a:spcPts val="0"/>
              </a:spcBef>
              <a:buNone/>
            </a:pPr>
            <a:r>
              <a:rPr lang="en-US" sz="1800" dirty="0"/>
              <a:t>    String name;</a:t>
            </a:r>
          </a:p>
          <a:p>
            <a:pPr marL="0" indent="0">
              <a:spcBef>
                <a:spcPts val="0"/>
              </a:spcBef>
              <a:buNone/>
            </a:pPr>
            <a:r>
              <a:rPr lang="en-US" sz="1800" dirty="0" smtClean="0"/>
              <a:t>    </a:t>
            </a:r>
            <a:r>
              <a:rPr lang="en-US" sz="1800" dirty="0"/>
              <a:t>Student </a:t>
            </a:r>
            <a:r>
              <a:rPr lang="en-US" sz="1800" dirty="0" err="1"/>
              <a:t>setName</a:t>
            </a:r>
            <a:r>
              <a:rPr lang="en-US" sz="1800" dirty="0"/>
              <a:t>(String name) {</a:t>
            </a:r>
          </a:p>
          <a:p>
            <a:pPr marL="0" indent="0">
              <a:spcBef>
                <a:spcPts val="0"/>
              </a:spcBef>
              <a:buNone/>
            </a:pPr>
            <a:r>
              <a:rPr lang="en-US" sz="1800" dirty="0"/>
              <a:t>        this.name = name;</a:t>
            </a:r>
          </a:p>
          <a:p>
            <a:pPr marL="0" indent="0">
              <a:spcBef>
                <a:spcPts val="0"/>
              </a:spcBef>
              <a:buNone/>
            </a:pPr>
            <a:r>
              <a:rPr lang="en-US" sz="1800" dirty="0"/>
              <a:t>        return this</a:t>
            </a:r>
            <a:r>
              <a:rPr lang="en-US" sz="1800" dirty="0" smtClean="0"/>
              <a:t>;    }}</a:t>
            </a:r>
            <a:r>
              <a:rPr lang="en-IN" sz="1800" dirty="0"/>
              <a:t/>
            </a:r>
            <a:br>
              <a:rPr lang="en-IN" sz="1800" dirty="0"/>
            </a:br>
            <a:endParaRPr lang="en-IN" sz="1800" dirty="0"/>
          </a:p>
          <a:p>
            <a:pPr marL="0" indent="0">
              <a:buNone/>
            </a:pPr>
            <a:endParaRPr lang="en-IN" sz="1800" dirty="0"/>
          </a:p>
        </p:txBody>
      </p:sp>
      <p:sp>
        <p:nvSpPr>
          <p:cNvPr id="4" name="TextBox 3"/>
          <p:cNvSpPr txBox="1"/>
          <p:nvPr/>
        </p:nvSpPr>
        <p:spPr>
          <a:xfrm>
            <a:off x="6157913" y="0"/>
            <a:ext cx="5895542" cy="4524315"/>
          </a:xfrm>
          <a:prstGeom prst="rect">
            <a:avLst/>
          </a:prstGeom>
          <a:noFill/>
        </p:spPr>
        <p:txBody>
          <a:bodyPr wrap="square" rtlCol="0">
            <a:spAutoFit/>
          </a:bodyPr>
          <a:lstStyle/>
          <a:p>
            <a:endParaRPr lang="en-US" dirty="0" smtClean="0"/>
          </a:p>
          <a:p>
            <a:r>
              <a:rPr lang="en-IN" dirty="0"/>
              <a:t>this keyword refers to the current class instance variable</a:t>
            </a:r>
            <a:r>
              <a:rPr lang="en-IN" dirty="0" smtClean="0"/>
              <a:t>.</a:t>
            </a:r>
          </a:p>
          <a:p>
            <a:r>
              <a:rPr lang="en-IN" dirty="0" smtClean="0"/>
              <a:t> </a:t>
            </a:r>
            <a:r>
              <a:rPr lang="en-IN" dirty="0"/>
              <a:t>In this program, we are printing the reference variable and this, output of both variables are same</a:t>
            </a:r>
            <a:r>
              <a:rPr lang="en-IN" dirty="0" smtClean="0"/>
              <a:t>.</a:t>
            </a:r>
          </a:p>
          <a:p>
            <a:endParaRPr lang="en-IN" dirty="0" smtClean="0"/>
          </a:p>
          <a:p>
            <a:r>
              <a:rPr lang="en-US" dirty="0"/>
              <a:t>public class A5{  </a:t>
            </a:r>
          </a:p>
          <a:p>
            <a:r>
              <a:rPr lang="en-US" dirty="0"/>
              <a:t>void m(){  </a:t>
            </a:r>
          </a:p>
          <a:p>
            <a:r>
              <a:rPr lang="en-US" b="1" dirty="0" err="1"/>
              <a:t>System.out.println</a:t>
            </a:r>
            <a:r>
              <a:rPr lang="en-US" b="1" dirty="0"/>
              <a:t>(this);//</a:t>
            </a:r>
            <a:r>
              <a:rPr lang="en-US" b="1" dirty="0" smtClean="0"/>
              <a:t>pass current object as an argument</a:t>
            </a:r>
            <a:endParaRPr lang="en-US" b="1" dirty="0"/>
          </a:p>
          <a:p>
            <a:r>
              <a:rPr lang="en-US" dirty="0"/>
              <a:t>}  </a:t>
            </a:r>
          </a:p>
          <a:p>
            <a:r>
              <a:rPr lang="en-US" dirty="0"/>
              <a:t>public static void main(String </a:t>
            </a:r>
            <a:r>
              <a:rPr lang="en-US" dirty="0" err="1"/>
              <a:t>args</a:t>
            </a:r>
            <a:r>
              <a:rPr lang="en-US" dirty="0"/>
              <a:t>[]){  </a:t>
            </a:r>
          </a:p>
          <a:p>
            <a:r>
              <a:rPr lang="en-US" dirty="0"/>
              <a:t>A5 </a:t>
            </a:r>
            <a:r>
              <a:rPr lang="en-US" dirty="0" err="1"/>
              <a:t>obj</a:t>
            </a:r>
            <a:r>
              <a:rPr lang="en-US" dirty="0"/>
              <a:t>=new A5();  </a:t>
            </a:r>
          </a:p>
          <a:p>
            <a:r>
              <a:rPr lang="en-US" dirty="0" err="1"/>
              <a:t>System.out.println</a:t>
            </a:r>
            <a:r>
              <a:rPr lang="en-US" dirty="0"/>
              <a:t>(</a:t>
            </a:r>
            <a:r>
              <a:rPr lang="en-US" dirty="0" err="1"/>
              <a:t>obj</a:t>
            </a:r>
            <a:r>
              <a:rPr lang="en-US" dirty="0"/>
              <a:t>);//</a:t>
            </a:r>
            <a:r>
              <a:rPr lang="en-US" b="1" dirty="0"/>
              <a:t>prints the reference ID </a:t>
            </a:r>
            <a:r>
              <a:rPr lang="en-US" b="1" dirty="0" smtClean="0"/>
              <a:t>of </a:t>
            </a:r>
            <a:r>
              <a:rPr lang="en-US" b="1" dirty="0" err="1" smtClean="0"/>
              <a:t>obj</a:t>
            </a:r>
            <a:r>
              <a:rPr lang="en-US" b="1" dirty="0" smtClean="0"/>
              <a:t> </a:t>
            </a:r>
            <a:endParaRPr lang="en-US" b="1" dirty="0"/>
          </a:p>
          <a:p>
            <a:r>
              <a:rPr lang="en-US" dirty="0" err="1"/>
              <a:t>obj.m</a:t>
            </a:r>
            <a:r>
              <a:rPr lang="en-US" dirty="0"/>
              <a:t>();  </a:t>
            </a:r>
          </a:p>
          <a:p>
            <a:r>
              <a:rPr lang="en-US" dirty="0"/>
              <a:t>}  </a:t>
            </a:r>
          </a:p>
          <a:p>
            <a:r>
              <a:rPr lang="en-US" dirty="0"/>
              <a:t>} </a:t>
            </a:r>
            <a:endParaRPr lang="en-IN" dirty="0"/>
          </a:p>
        </p:txBody>
      </p:sp>
      <p:pic>
        <p:nvPicPr>
          <p:cNvPr id="5" name="Picture 4"/>
          <p:cNvPicPr>
            <a:picLocks noChangeAspect="1"/>
          </p:cNvPicPr>
          <p:nvPr/>
        </p:nvPicPr>
        <p:blipFill>
          <a:blip r:embed="rId2"/>
          <a:stretch>
            <a:fillRect/>
          </a:stretch>
        </p:blipFill>
        <p:spPr>
          <a:xfrm>
            <a:off x="6788028" y="5532447"/>
            <a:ext cx="3862388" cy="1205978"/>
          </a:xfrm>
          <a:prstGeom prst="rect">
            <a:avLst/>
          </a:prstGeom>
        </p:spPr>
      </p:pic>
      <p:sp>
        <p:nvSpPr>
          <p:cNvPr id="6" name="Rectangle 5"/>
          <p:cNvSpPr/>
          <p:nvPr/>
        </p:nvSpPr>
        <p:spPr>
          <a:xfrm>
            <a:off x="6699828" y="5163115"/>
            <a:ext cx="2901500" cy="369332"/>
          </a:xfrm>
          <a:prstGeom prst="rect">
            <a:avLst/>
          </a:prstGeom>
        </p:spPr>
        <p:txBody>
          <a:bodyPr wrap="none">
            <a:spAutoFit/>
          </a:bodyPr>
          <a:lstStyle/>
          <a:p>
            <a:r>
              <a:rPr lang="en-IN" dirty="0" err="1"/>
              <a:t>ClassName@HashCodeInHex</a:t>
            </a:r>
            <a:endParaRPr lang="en-IN" dirty="0"/>
          </a:p>
        </p:txBody>
      </p:sp>
      <p:sp>
        <p:nvSpPr>
          <p:cNvPr id="7" name="Rectangle 6"/>
          <p:cNvSpPr/>
          <p:nvPr/>
        </p:nvSpPr>
        <p:spPr>
          <a:xfrm>
            <a:off x="6788028" y="4893647"/>
            <a:ext cx="1482329" cy="369332"/>
          </a:xfrm>
          <a:prstGeom prst="rect">
            <a:avLst/>
          </a:prstGeom>
        </p:spPr>
        <p:txBody>
          <a:bodyPr wrap="none">
            <a:spAutoFit/>
          </a:bodyPr>
          <a:lstStyle/>
          <a:p>
            <a:r>
              <a:rPr lang="en-IN" dirty="0" err="1"/>
              <a:t>obj.toString</a:t>
            </a:r>
            <a:r>
              <a:rPr lang="en-IN" dirty="0"/>
              <a:t>();</a:t>
            </a:r>
          </a:p>
        </p:txBody>
      </p:sp>
      <p:sp>
        <p:nvSpPr>
          <p:cNvPr id="8" name="Rectangle 7"/>
          <p:cNvSpPr/>
          <p:nvPr/>
        </p:nvSpPr>
        <p:spPr>
          <a:xfrm>
            <a:off x="9105684" y="3685787"/>
            <a:ext cx="2995478" cy="1477328"/>
          </a:xfrm>
          <a:prstGeom prst="rect">
            <a:avLst/>
          </a:prstGeom>
        </p:spPr>
        <p:txBody>
          <a:bodyPr wrap="square">
            <a:spAutoFit/>
          </a:bodyPr>
          <a:lstStyle/>
          <a:p>
            <a:r>
              <a:rPr lang="en-US" dirty="0"/>
              <a:t>@Override</a:t>
            </a:r>
          </a:p>
          <a:p>
            <a:r>
              <a:rPr lang="en-US" dirty="0"/>
              <a:t>public String </a:t>
            </a:r>
            <a:r>
              <a:rPr lang="en-US" dirty="0" err="1"/>
              <a:t>toString</a:t>
            </a:r>
            <a:r>
              <a:rPr lang="en-US" dirty="0"/>
              <a:t>() {</a:t>
            </a:r>
          </a:p>
          <a:p>
            <a:r>
              <a:rPr lang="en-US" dirty="0"/>
              <a:t>    return "This is an A5 object!";</a:t>
            </a:r>
          </a:p>
          <a:p>
            <a:r>
              <a:rPr lang="en-US" dirty="0"/>
              <a:t>}</a:t>
            </a:r>
            <a:endParaRPr lang="en-IN" dirty="0"/>
          </a:p>
        </p:txBody>
      </p:sp>
    </p:spTree>
    <p:extLst>
      <p:ext uri="{BB962C8B-B14F-4D97-AF65-F5344CB8AC3E}">
        <p14:creationId xmlns:p14="http://schemas.microsoft.com/office/powerpoint/2010/main" val="33334831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t>
            </a:r>
            <a:r>
              <a:rPr lang="en-US" dirty="0" smtClean="0"/>
              <a:t>his keyword</a:t>
            </a:r>
            <a:endParaRPr lang="en-IN" dirty="0"/>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1480783142"/>
              </p:ext>
            </p:extLst>
          </p:nvPr>
        </p:nvGraphicFramePr>
        <p:xfrm>
          <a:off x="654756" y="1377484"/>
          <a:ext cx="11322754" cy="4334696"/>
        </p:xfrm>
        <a:graphic>
          <a:graphicData uri="http://schemas.openxmlformats.org/drawingml/2006/table">
            <a:tbl>
              <a:tblPr/>
              <a:tblGrid>
                <a:gridCol w="5661377">
                  <a:extLst>
                    <a:ext uri="{9D8B030D-6E8A-4147-A177-3AD203B41FA5}">
                      <a16:colId xmlns:a16="http://schemas.microsoft.com/office/drawing/2014/main" val="3058970124"/>
                    </a:ext>
                  </a:extLst>
                </a:gridCol>
                <a:gridCol w="5661377">
                  <a:extLst>
                    <a:ext uri="{9D8B030D-6E8A-4147-A177-3AD203B41FA5}">
                      <a16:colId xmlns:a16="http://schemas.microsoft.com/office/drawing/2014/main" val="3214894168"/>
                    </a:ext>
                  </a:extLst>
                </a:gridCol>
              </a:tblGrid>
              <a:tr h="1195656">
                <a:tc>
                  <a:txBody>
                    <a:bodyPr/>
                    <a:lstStyle/>
                    <a:p>
                      <a:r>
                        <a:rPr lang="en-IN" sz="2800" b="1" dirty="0"/>
                        <a:t>Purpose</a:t>
                      </a:r>
                    </a:p>
                  </a:txBody>
                  <a:tcPr marL="45057" marR="45057" marT="22529" marB="22529" anchor="ctr">
                    <a:lnL>
                      <a:noFill/>
                    </a:lnL>
                    <a:lnR>
                      <a:noFill/>
                    </a:lnR>
                    <a:lnT>
                      <a:noFill/>
                    </a:lnT>
                    <a:lnB>
                      <a:noFill/>
                    </a:lnB>
                  </a:tcPr>
                </a:tc>
                <a:tc>
                  <a:txBody>
                    <a:bodyPr/>
                    <a:lstStyle/>
                    <a:p>
                      <a:r>
                        <a:rPr lang="en-IN" sz="2800" b="1" dirty="0" smtClean="0"/>
                        <a:t>Example</a:t>
                      </a:r>
                    </a:p>
                    <a:p>
                      <a:endParaRPr lang="en-IN" sz="2800" b="1" dirty="0"/>
                    </a:p>
                  </a:txBody>
                  <a:tcPr marL="45057" marR="45057" marT="22529" marB="22529" anchor="ctr">
                    <a:lnL>
                      <a:noFill/>
                    </a:lnL>
                    <a:lnR>
                      <a:noFill/>
                    </a:lnR>
                    <a:lnT>
                      <a:noFill/>
                    </a:lnT>
                    <a:lnB>
                      <a:noFill/>
                    </a:lnB>
                  </a:tcPr>
                </a:tc>
                <a:extLst>
                  <a:ext uri="{0D108BD9-81ED-4DB2-BD59-A6C34878D82A}">
                    <a16:rowId xmlns:a16="http://schemas.microsoft.com/office/drawing/2014/main" val="3574634740"/>
                  </a:ext>
                </a:extLst>
              </a:tr>
              <a:tr h="627808">
                <a:tc>
                  <a:txBody>
                    <a:bodyPr/>
                    <a:lstStyle/>
                    <a:p>
                      <a:r>
                        <a:rPr lang="en-IN" sz="2800"/>
                        <a:t>Resolve variable name conflicts</a:t>
                      </a:r>
                    </a:p>
                  </a:txBody>
                  <a:tcPr marL="45057" marR="45057" marT="22529" marB="22529" anchor="ctr">
                    <a:lnL>
                      <a:noFill/>
                    </a:lnL>
                    <a:lnR>
                      <a:noFill/>
                    </a:lnR>
                    <a:lnT>
                      <a:noFill/>
                    </a:lnT>
                    <a:lnB>
                      <a:noFill/>
                    </a:lnB>
                  </a:tcPr>
                </a:tc>
                <a:tc>
                  <a:txBody>
                    <a:bodyPr/>
                    <a:lstStyle/>
                    <a:p>
                      <a:r>
                        <a:rPr lang="en-IN" sz="2800"/>
                        <a:t>this.name = name;</a:t>
                      </a:r>
                    </a:p>
                  </a:txBody>
                  <a:tcPr marL="45057" marR="45057" marT="22529" marB="22529" anchor="ctr">
                    <a:lnL>
                      <a:noFill/>
                    </a:lnL>
                    <a:lnR>
                      <a:noFill/>
                    </a:lnR>
                    <a:lnT>
                      <a:noFill/>
                    </a:lnT>
                    <a:lnB>
                      <a:noFill/>
                    </a:lnB>
                  </a:tcPr>
                </a:tc>
                <a:extLst>
                  <a:ext uri="{0D108BD9-81ED-4DB2-BD59-A6C34878D82A}">
                    <a16:rowId xmlns:a16="http://schemas.microsoft.com/office/drawing/2014/main" val="3939270290"/>
                  </a:ext>
                </a:extLst>
              </a:tr>
              <a:tr h="627808">
                <a:tc>
                  <a:txBody>
                    <a:bodyPr/>
                    <a:lstStyle/>
                    <a:p>
                      <a:r>
                        <a:rPr lang="en-IN" sz="2800"/>
                        <a:t>Call another constructor</a:t>
                      </a:r>
                    </a:p>
                  </a:txBody>
                  <a:tcPr marL="45057" marR="45057" marT="22529" marB="22529" anchor="ctr">
                    <a:lnL>
                      <a:noFill/>
                    </a:lnL>
                    <a:lnR>
                      <a:noFill/>
                    </a:lnR>
                    <a:lnT>
                      <a:noFill/>
                    </a:lnT>
                    <a:lnB>
                      <a:noFill/>
                    </a:lnB>
                  </a:tcPr>
                </a:tc>
                <a:tc>
                  <a:txBody>
                    <a:bodyPr/>
                    <a:lstStyle/>
                    <a:p>
                      <a:r>
                        <a:rPr lang="en-IN" sz="2800" dirty="0"/>
                        <a:t>this(name, age);</a:t>
                      </a:r>
                    </a:p>
                  </a:txBody>
                  <a:tcPr marL="45057" marR="45057" marT="22529" marB="22529" anchor="ctr">
                    <a:lnL>
                      <a:noFill/>
                    </a:lnL>
                    <a:lnR>
                      <a:noFill/>
                    </a:lnR>
                    <a:lnT>
                      <a:noFill/>
                    </a:lnT>
                    <a:lnB>
                      <a:noFill/>
                    </a:lnB>
                  </a:tcPr>
                </a:tc>
                <a:extLst>
                  <a:ext uri="{0D108BD9-81ED-4DB2-BD59-A6C34878D82A}">
                    <a16:rowId xmlns:a16="http://schemas.microsoft.com/office/drawing/2014/main" val="1858458397"/>
                  </a:ext>
                </a:extLst>
              </a:tr>
              <a:tr h="627808">
                <a:tc>
                  <a:txBody>
                    <a:bodyPr/>
                    <a:lstStyle/>
                    <a:p>
                      <a:r>
                        <a:rPr lang="en-US" sz="2800"/>
                        <a:t>Pass current object as argument</a:t>
                      </a:r>
                    </a:p>
                  </a:txBody>
                  <a:tcPr marL="45057" marR="45057" marT="22529" marB="22529" anchor="ctr">
                    <a:lnL>
                      <a:noFill/>
                    </a:lnL>
                    <a:lnR>
                      <a:noFill/>
                    </a:lnR>
                    <a:lnT>
                      <a:noFill/>
                    </a:lnT>
                    <a:lnB>
                      <a:noFill/>
                    </a:lnB>
                  </a:tcPr>
                </a:tc>
                <a:tc>
                  <a:txBody>
                    <a:bodyPr/>
                    <a:lstStyle/>
                    <a:p>
                      <a:r>
                        <a:rPr lang="en-IN" sz="2800"/>
                        <a:t>someMethod(this);</a:t>
                      </a:r>
                    </a:p>
                  </a:txBody>
                  <a:tcPr marL="45057" marR="45057" marT="22529" marB="22529" anchor="ctr">
                    <a:lnL>
                      <a:noFill/>
                    </a:lnL>
                    <a:lnR>
                      <a:noFill/>
                    </a:lnR>
                    <a:lnT>
                      <a:noFill/>
                    </a:lnT>
                    <a:lnB>
                      <a:noFill/>
                    </a:lnB>
                  </a:tcPr>
                </a:tc>
                <a:extLst>
                  <a:ext uri="{0D108BD9-81ED-4DB2-BD59-A6C34878D82A}">
                    <a16:rowId xmlns:a16="http://schemas.microsoft.com/office/drawing/2014/main" val="3891755124"/>
                  </a:ext>
                </a:extLst>
              </a:tr>
              <a:tr h="627808">
                <a:tc>
                  <a:txBody>
                    <a:bodyPr/>
                    <a:lstStyle/>
                    <a:p>
                      <a:r>
                        <a:rPr lang="en-US" sz="2800"/>
                        <a:t>Return current object from a method</a:t>
                      </a:r>
                    </a:p>
                  </a:txBody>
                  <a:tcPr marL="45057" marR="45057" marT="22529" marB="22529" anchor="ctr">
                    <a:lnL>
                      <a:noFill/>
                    </a:lnL>
                    <a:lnR>
                      <a:noFill/>
                    </a:lnR>
                    <a:lnT>
                      <a:noFill/>
                    </a:lnT>
                    <a:lnB>
                      <a:noFill/>
                    </a:lnB>
                  </a:tcPr>
                </a:tc>
                <a:tc>
                  <a:txBody>
                    <a:bodyPr/>
                    <a:lstStyle/>
                    <a:p>
                      <a:r>
                        <a:rPr lang="en-IN" sz="2800"/>
                        <a:t>return this;</a:t>
                      </a:r>
                    </a:p>
                  </a:txBody>
                  <a:tcPr marL="45057" marR="45057" marT="22529" marB="22529" anchor="ctr">
                    <a:lnL>
                      <a:noFill/>
                    </a:lnL>
                    <a:lnR>
                      <a:noFill/>
                    </a:lnR>
                    <a:lnT>
                      <a:noFill/>
                    </a:lnT>
                    <a:lnB>
                      <a:noFill/>
                    </a:lnB>
                  </a:tcPr>
                </a:tc>
                <a:extLst>
                  <a:ext uri="{0D108BD9-81ED-4DB2-BD59-A6C34878D82A}">
                    <a16:rowId xmlns:a16="http://schemas.microsoft.com/office/drawing/2014/main" val="1077168743"/>
                  </a:ext>
                </a:extLst>
              </a:tr>
              <a:tr h="627808">
                <a:tc>
                  <a:txBody>
                    <a:bodyPr/>
                    <a:lstStyle/>
                    <a:p>
                      <a:r>
                        <a:rPr lang="en-IN" sz="2800"/>
                        <a:t>Access instance members explicitly</a:t>
                      </a:r>
                    </a:p>
                  </a:txBody>
                  <a:tcPr marL="45057" marR="45057" marT="22529" marB="22529" anchor="ctr">
                    <a:lnL>
                      <a:noFill/>
                    </a:lnL>
                    <a:lnR>
                      <a:noFill/>
                    </a:lnR>
                    <a:lnT>
                      <a:noFill/>
                    </a:lnT>
                    <a:lnB>
                      <a:noFill/>
                    </a:lnB>
                  </a:tcPr>
                </a:tc>
                <a:tc>
                  <a:txBody>
                    <a:bodyPr/>
                    <a:lstStyle/>
                    <a:p>
                      <a:r>
                        <a:rPr lang="en-IN" sz="2800" dirty="0" err="1"/>
                        <a:t>this.var</a:t>
                      </a:r>
                      <a:r>
                        <a:rPr lang="en-IN" sz="2800" dirty="0"/>
                        <a:t>, </a:t>
                      </a:r>
                      <a:r>
                        <a:rPr lang="en-IN" sz="2800" dirty="0" err="1"/>
                        <a:t>this.method</a:t>
                      </a:r>
                      <a:r>
                        <a:rPr lang="en-IN" sz="2800" dirty="0"/>
                        <a:t>()</a:t>
                      </a:r>
                    </a:p>
                  </a:txBody>
                  <a:tcPr marL="45057" marR="45057" marT="22529" marB="22529" anchor="ctr">
                    <a:lnL>
                      <a:noFill/>
                    </a:lnL>
                    <a:lnR>
                      <a:noFill/>
                    </a:lnR>
                    <a:lnT>
                      <a:noFill/>
                    </a:lnT>
                    <a:lnB>
                      <a:noFill/>
                    </a:lnB>
                  </a:tcPr>
                </a:tc>
                <a:extLst>
                  <a:ext uri="{0D108BD9-81ED-4DB2-BD59-A6C34878D82A}">
                    <a16:rowId xmlns:a16="http://schemas.microsoft.com/office/drawing/2014/main" val="2042365644"/>
                  </a:ext>
                </a:extLst>
              </a:tr>
            </a:tbl>
          </a:graphicData>
        </a:graphic>
      </p:graphicFrame>
    </p:spTree>
    <p:extLst>
      <p:ext uri="{BB962C8B-B14F-4D97-AF65-F5344CB8AC3E}">
        <p14:creationId xmlns:p14="http://schemas.microsoft.com/office/powerpoint/2010/main" val="5930795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Why Call the </a:t>
            </a:r>
            <a:r>
              <a:rPr lang="en-US" sz="3200" b="1" dirty="0"/>
              <a:t>Default Constructor</a:t>
            </a:r>
            <a:r>
              <a:rPr lang="en-US" sz="3200" dirty="0"/>
              <a:t> Inside a </a:t>
            </a:r>
            <a:r>
              <a:rPr lang="en-US" sz="3200" b="1" dirty="0"/>
              <a:t>Parameterized Constructor</a:t>
            </a:r>
            <a:r>
              <a:rPr lang="en-US" sz="3200" dirty="0"/>
              <a:t>?</a:t>
            </a:r>
            <a:endParaRPr lang="en-IN" sz="3200" dirty="0"/>
          </a:p>
        </p:txBody>
      </p:sp>
      <p:sp>
        <p:nvSpPr>
          <p:cNvPr id="3" name="Content Placeholder 2"/>
          <p:cNvSpPr>
            <a:spLocks noGrp="1"/>
          </p:cNvSpPr>
          <p:nvPr>
            <p:ph sz="half" idx="1"/>
          </p:nvPr>
        </p:nvSpPr>
        <p:spPr/>
        <p:txBody>
          <a:bodyPr>
            <a:normAutofit/>
          </a:bodyPr>
          <a:lstStyle/>
          <a:p>
            <a:r>
              <a:rPr lang="en-IN" sz="2000" dirty="0"/>
              <a:t>To Reuse Common Initialization </a:t>
            </a:r>
            <a:r>
              <a:rPr lang="en-IN" sz="2000" dirty="0" smtClean="0"/>
              <a:t>Logic</a:t>
            </a:r>
          </a:p>
          <a:p>
            <a:pPr marL="0" indent="0">
              <a:buNone/>
            </a:pPr>
            <a:r>
              <a:rPr lang="en-IN" sz="2000" dirty="0" smtClean="0"/>
              <a:t>The </a:t>
            </a:r>
            <a:r>
              <a:rPr lang="en-IN" sz="2000" dirty="0"/>
              <a:t>default constructor may</a:t>
            </a:r>
            <a:r>
              <a:rPr lang="en-IN" sz="2000" dirty="0" smtClean="0"/>
              <a:t>:</a:t>
            </a:r>
          </a:p>
          <a:p>
            <a:r>
              <a:rPr lang="en-IN" sz="2000" dirty="0" smtClean="0"/>
              <a:t>Initialize </a:t>
            </a:r>
            <a:r>
              <a:rPr lang="en-IN" sz="2000" dirty="0"/>
              <a:t>shared values (e.g., default IDs, database connections, etc</a:t>
            </a:r>
            <a:r>
              <a:rPr lang="en-IN" sz="2000" dirty="0" smtClean="0"/>
              <a:t>.)</a:t>
            </a:r>
          </a:p>
          <a:p>
            <a:r>
              <a:rPr lang="en-IN" sz="2000" dirty="0" smtClean="0"/>
              <a:t>Set </a:t>
            </a:r>
            <a:r>
              <a:rPr lang="en-IN" sz="2000" dirty="0"/>
              <a:t>up logging, configuration, etc.</a:t>
            </a:r>
          </a:p>
        </p:txBody>
      </p:sp>
      <p:sp>
        <p:nvSpPr>
          <p:cNvPr id="5" name="Rectangle 4"/>
          <p:cNvSpPr/>
          <p:nvPr/>
        </p:nvSpPr>
        <p:spPr>
          <a:xfrm>
            <a:off x="5475110" y="1059127"/>
            <a:ext cx="6096000" cy="5355312"/>
          </a:xfrm>
          <a:prstGeom prst="rect">
            <a:avLst/>
          </a:prstGeom>
        </p:spPr>
        <p:txBody>
          <a:bodyPr>
            <a:spAutoFit/>
          </a:bodyPr>
          <a:lstStyle/>
          <a:p>
            <a:r>
              <a:rPr lang="en-IN" dirty="0"/>
              <a:t>class Product {</a:t>
            </a:r>
          </a:p>
          <a:p>
            <a:r>
              <a:rPr lang="en-IN" dirty="0"/>
              <a:t>    </a:t>
            </a:r>
            <a:r>
              <a:rPr lang="en-IN" dirty="0" err="1"/>
              <a:t>int</a:t>
            </a:r>
            <a:r>
              <a:rPr lang="en-IN" dirty="0"/>
              <a:t> id;</a:t>
            </a:r>
          </a:p>
          <a:p>
            <a:r>
              <a:rPr lang="en-IN" dirty="0"/>
              <a:t>    String name;</a:t>
            </a:r>
          </a:p>
          <a:p>
            <a:r>
              <a:rPr lang="en-IN" dirty="0"/>
              <a:t>    double price;</a:t>
            </a:r>
          </a:p>
          <a:p>
            <a:r>
              <a:rPr lang="en-IN" dirty="0" smtClean="0"/>
              <a:t>Product</a:t>
            </a:r>
            <a:r>
              <a:rPr lang="en-IN" dirty="0"/>
              <a:t>() {</a:t>
            </a:r>
          </a:p>
          <a:p>
            <a:r>
              <a:rPr lang="en-IN" dirty="0"/>
              <a:t>        </a:t>
            </a:r>
            <a:r>
              <a:rPr lang="en-IN" dirty="0" err="1"/>
              <a:t>System.out.println</a:t>
            </a:r>
            <a:r>
              <a:rPr lang="en-IN" dirty="0"/>
              <a:t>("Connecting to inventory system...");</a:t>
            </a:r>
          </a:p>
          <a:p>
            <a:r>
              <a:rPr lang="en-IN" dirty="0"/>
              <a:t>    </a:t>
            </a:r>
            <a:r>
              <a:rPr lang="en-IN" dirty="0" smtClean="0"/>
              <a:t>}</a:t>
            </a:r>
            <a:endParaRPr lang="en-IN" dirty="0"/>
          </a:p>
          <a:p>
            <a:r>
              <a:rPr lang="en-IN" dirty="0" smtClean="0"/>
              <a:t>Product(</a:t>
            </a:r>
            <a:r>
              <a:rPr lang="en-IN" dirty="0" err="1" smtClean="0"/>
              <a:t>int</a:t>
            </a:r>
            <a:r>
              <a:rPr lang="en-IN" dirty="0" smtClean="0"/>
              <a:t> </a:t>
            </a:r>
            <a:r>
              <a:rPr lang="en-IN" dirty="0"/>
              <a:t>id, String name, double price) {</a:t>
            </a:r>
          </a:p>
          <a:p>
            <a:r>
              <a:rPr lang="en-IN" dirty="0"/>
              <a:t>        this(); // </a:t>
            </a:r>
            <a:endParaRPr lang="en-IN" dirty="0" smtClean="0"/>
          </a:p>
          <a:p>
            <a:r>
              <a:rPr lang="en-IN" dirty="0" smtClean="0"/>
              <a:t>this.id </a:t>
            </a:r>
            <a:r>
              <a:rPr lang="en-IN" dirty="0"/>
              <a:t>= id;</a:t>
            </a:r>
          </a:p>
          <a:p>
            <a:r>
              <a:rPr lang="en-IN" dirty="0"/>
              <a:t>        this.name = name;</a:t>
            </a:r>
          </a:p>
          <a:p>
            <a:r>
              <a:rPr lang="en-IN" dirty="0"/>
              <a:t>        </a:t>
            </a:r>
            <a:r>
              <a:rPr lang="en-IN" dirty="0" err="1"/>
              <a:t>this.price</a:t>
            </a:r>
            <a:r>
              <a:rPr lang="en-IN" dirty="0"/>
              <a:t> = price;</a:t>
            </a:r>
          </a:p>
          <a:p>
            <a:r>
              <a:rPr lang="en-IN" dirty="0"/>
              <a:t>    }</a:t>
            </a:r>
          </a:p>
          <a:p>
            <a:r>
              <a:rPr lang="en-IN" dirty="0" smtClean="0"/>
              <a:t>    </a:t>
            </a:r>
            <a:r>
              <a:rPr lang="en-IN" dirty="0"/>
              <a:t>void display() {</a:t>
            </a:r>
          </a:p>
          <a:p>
            <a:r>
              <a:rPr lang="en-IN" dirty="0"/>
              <a:t>        </a:t>
            </a:r>
            <a:r>
              <a:rPr lang="en-IN" dirty="0" err="1"/>
              <a:t>System.out.println</a:t>
            </a:r>
            <a:r>
              <a:rPr lang="en-IN" dirty="0"/>
              <a:t>(id + " " + name + " ₹" + price);</a:t>
            </a:r>
          </a:p>
          <a:p>
            <a:r>
              <a:rPr lang="en-IN" dirty="0"/>
              <a:t>    }</a:t>
            </a:r>
          </a:p>
          <a:p>
            <a:r>
              <a:rPr lang="en-IN" dirty="0" smtClean="0"/>
              <a:t>    </a:t>
            </a:r>
            <a:r>
              <a:rPr lang="en-IN" dirty="0"/>
              <a:t>public static void main(String[] </a:t>
            </a:r>
            <a:r>
              <a:rPr lang="en-IN" dirty="0" err="1"/>
              <a:t>args</a:t>
            </a:r>
            <a:r>
              <a:rPr lang="en-IN" dirty="0"/>
              <a:t>) {</a:t>
            </a:r>
          </a:p>
          <a:p>
            <a:r>
              <a:rPr lang="en-IN" dirty="0"/>
              <a:t>        Product p1 = new Product(101, "Keyboard", 999.99);</a:t>
            </a:r>
          </a:p>
          <a:p>
            <a:r>
              <a:rPr lang="en-IN" dirty="0"/>
              <a:t>        p1.display</a:t>
            </a:r>
            <a:r>
              <a:rPr lang="en-IN" dirty="0" smtClean="0"/>
              <a:t>();    }}</a:t>
            </a:r>
            <a:endParaRPr lang="en-IN" dirty="0"/>
          </a:p>
        </p:txBody>
      </p:sp>
    </p:spTree>
    <p:extLst>
      <p:ext uri="{BB962C8B-B14F-4D97-AF65-F5344CB8AC3E}">
        <p14:creationId xmlns:p14="http://schemas.microsoft.com/office/powerpoint/2010/main" val="20618385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Why Call a </a:t>
            </a:r>
            <a:r>
              <a:rPr lang="en-US" sz="3200" b="1" dirty="0"/>
              <a:t>Parameterized Constructor</a:t>
            </a:r>
            <a:r>
              <a:rPr lang="en-US" sz="3200" dirty="0"/>
              <a:t> from the </a:t>
            </a:r>
            <a:r>
              <a:rPr lang="en-US" sz="3200" b="1" dirty="0"/>
              <a:t>Default Constructor</a:t>
            </a:r>
            <a:r>
              <a:rPr lang="en-US" sz="3200" dirty="0" smtClean="0"/>
              <a:t>?</a:t>
            </a:r>
            <a:endParaRPr lang="en-IN" sz="3200" dirty="0"/>
          </a:p>
        </p:txBody>
      </p:sp>
      <p:sp>
        <p:nvSpPr>
          <p:cNvPr id="3" name="Content Placeholder 2"/>
          <p:cNvSpPr>
            <a:spLocks noGrp="1"/>
          </p:cNvSpPr>
          <p:nvPr>
            <p:ph sz="half" idx="1"/>
          </p:nvPr>
        </p:nvSpPr>
        <p:spPr>
          <a:xfrm>
            <a:off x="293510" y="1690688"/>
            <a:ext cx="5181600" cy="4351338"/>
          </a:xfrm>
        </p:spPr>
        <p:txBody>
          <a:bodyPr>
            <a:normAutofit/>
          </a:bodyPr>
          <a:lstStyle/>
          <a:p>
            <a:r>
              <a:rPr lang="en-US" sz="2000" b="1" dirty="0"/>
              <a:t>To Provide Default Values Using Parameterized Logic</a:t>
            </a:r>
          </a:p>
          <a:p>
            <a:r>
              <a:rPr lang="en-US" sz="2000" dirty="0"/>
              <a:t>You might want your default constructor to:</a:t>
            </a:r>
          </a:p>
          <a:p>
            <a:r>
              <a:rPr lang="en-US" sz="2000" dirty="0"/>
              <a:t>Set up an object with </a:t>
            </a:r>
            <a:r>
              <a:rPr lang="en-US" sz="2000" b="1" dirty="0"/>
              <a:t>predefined default values</a:t>
            </a:r>
            <a:endParaRPr lang="en-US" sz="2000" dirty="0"/>
          </a:p>
          <a:p>
            <a:r>
              <a:rPr lang="en-US" sz="2000" dirty="0"/>
              <a:t>Delegate the setup to a parameterized constructor for consistency</a:t>
            </a:r>
          </a:p>
          <a:p>
            <a:endParaRPr lang="en-IN" sz="2000" dirty="0"/>
          </a:p>
        </p:txBody>
      </p:sp>
      <p:sp>
        <p:nvSpPr>
          <p:cNvPr id="5" name="Rectangle 4"/>
          <p:cNvSpPr/>
          <p:nvPr/>
        </p:nvSpPr>
        <p:spPr>
          <a:xfrm>
            <a:off x="5475110" y="1059127"/>
            <a:ext cx="6096000" cy="5355312"/>
          </a:xfrm>
          <a:prstGeom prst="rect">
            <a:avLst/>
          </a:prstGeom>
        </p:spPr>
        <p:txBody>
          <a:bodyPr>
            <a:spAutoFit/>
          </a:bodyPr>
          <a:lstStyle/>
          <a:p>
            <a:r>
              <a:rPr lang="en-IN" dirty="0"/>
              <a:t>class Patient {</a:t>
            </a:r>
          </a:p>
          <a:p>
            <a:r>
              <a:rPr lang="en-IN" dirty="0"/>
              <a:t>    String name;</a:t>
            </a:r>
          </a:p>
          <a:p>
            <a:r>
              <a:rPr lang="en-IN" dirty="0"/>
              <a:t>    </a:t>
            </a:r>
            <a:r>
              <a:rPr lang="en-IN" dirty="0" err="1"/>
              <a:t>int</a:t>
            </a:r>
            <a:r>
              <a:rPr lang="en-IN" dirty="0"/>
              <a:t> age;</a:t>
            </a:r>
          </a:p>
          <a:p>
            <a:r>
              <a:rPr lang="en-IN" dirty="0" smtClean="0"/>
              <a:t>Patient</a:t>
            </a:r>
            <a:r>
              <a:rPr lang="en-IN" dirty="0"/>
              <a:t>() {</a:t>
            </a:r>
          </a:p>
          <a:p>
            <a:r>
              <a:rPr lang="en-IN" dirty="0"/>
              <a:t>        this("Unknown", 0); // </a:t>
            </a:r>
            <a:r>
              <a:rPr lang="en-IN" dirty="0" smtClean="0"/>
              <a:t>}</a:t>
            </a:r>
            <a:endParaRPr lang="en-IN" dirty="0"/>
          </a:p>
          <a:p>
            <a:r>
              <a:rPr lang="en-IN" dirty="0" smtClean="0"/>
              <a:t>Patient(String </a:t>
            </a:r>
            <a:r>
              <a:rPr lang="en-IN" dirty="0"/>
              <a:t>name, </a:t>
            </a:r>
            <a:r>
              <a:rPr lang="en-IN" dirty="0" err="1"/>
              <a:t>int</a:t>
            </a:r>
            <a:r>
              <a:rPr lang="en-IN" dirty="0"/>
              <a:t> age) {</a:t>
            </a:r>
          </a:p>
          <a:p>
            <a:r>
              <a:rPr lang="en-IN" dirty="0"/>
              <a:t>        this.name = name;</a:t>
            </a:r>
          </a:p>
          <a:p>
            <a:r>
              <a:rPr lang="en-IN" dirty="0"/>
              <a:t>        </a:t>
            </a:r>
            <a:r>
              <a:rPr lang="en-IN" dirty="0" err="1"/>
              <a:t>this.age</a:t>
            </a:r>
            <a:r>
              <a:rPr lang="en-IN" dirty="0"/>
              <a:t> = age;</a:t>
            </a:r>
          </a:p>
          <a:p>
            <a:r>
              <a:rPr lang="en-IN" dirty="0"/>
              <a:t>    }</a:t>
            </a:r>
          </a:p>
          <a:p>
            <a:r>
              <a:rPr lang="en-IN" dirty="0" smtClean="0"/>
              <a:t>    </a:t>
            </a:r>
            <a:r>
              <a:rPr lang="en-IN" dirty="0"/>
              <a:t>void show() {</a:t>
            </a:r>
          </a:p>
          <a:p>
            <a:r>
              <a:rPr lang="en-IN" dirty="0"/>
              <a:t>        </a:t>
            </a:r>
            <a:r>
              <a:rPr lang="en-IN" dirty="0" err="1"/>
              <a:t>System.out.println</a:t>
            </a:r>
            <a:r>
              <a:rPr lang="en-IN" dirty="0"/>
              <a:t>(name + " - " + age + " years");</a:t>
            </a:r>
          </a:p>
          <a:p>
            <a:r>
              <a:rPr lang="en-IN" dirty="0"/>
              <a:t>    }</a:t>
            </a:r>
          </a:p>
          <a:p>
            <a:r>
              <a:rPr lang="en-IN" dirty="0" smtClean="0"/>
              <a:t>    </a:t>
            </a:r>
            <a:r>
              <a:rPr lang="en-IN" dirty="0"/>
              <a:t>public static void main(String[] </a:t>
            </a:r>
            <a:r>
              <a:rPr lang="en-IN" dirty="0" err="1"/>
              <a:t>args</a:t>
            </a:r>
            <a:r>
              <a:rPr lang="en-IN" dirty="0"/>
              <a:t>) {</a:t>
            </a:r>
          </a:p>
          <a:p>
            <a:r>
              <a:rPr lang="en-IN" dirty="0"/>
              <a:t>        Patient p1 = new Patient();</a:t>
            </a:r>
          </a:p>
          <a:p>
            <a:r>
              <a:rPr lang="en-IN" dirty="0"/>
              <a:t>        Patient p2 = new Patient</a:t>
            </a:r>
            <a:r>
              <a:rPr lang="en-IN" dirty="0" smtClean="0"/>
              <a:t>(“</a:t>
            </a:r>
            <a:r>
              <a:rPr lang="en-IN" dirty="0" err="1" smtClean="0"/>
              <a:t>Aarthi</a:t>
            </a:r>
            <a:r>
              <a:rPr lang="en-IN" dirty="0" smtClean="0"/>
              <a:t>", </a:t>
            </a:r>
            <a:r>
              <a:rPr lang="en-IN" dirty="0"/>
              <a:t>35);</a:t>
            </a:r>
          </a:p>
          <a:p>
            <a:r>
              <a:rPr lang="en-IN" dirty="0"/>
              <a:t>        p1.show();  // Unknown - 0 years</a:t>
            </a:r>
          </a:p>
          <a:p>
            <a:r>
              <a:rPr lang="en-IN" dirty="0"/>
              <a:t>        p2.show();  // </a:t>
            </a:r>
            <a:r>
              <a:rPr lang="en-IN" dirty="0" err="1" smtClean="0"/>
              <a:t>Aarthi</a:t>
            </a:r>
            <a:r>
              <a:rPr lang="en-IN" dirty="0" smtClean="0"/>
              <a:t> </a:t>
            </a:r>
            <a:r>
              <a:rPr lang="en-IN" dirty="0"/>
              <a:t>- 35 years</a:t>
            </a:r>
          </a:p>
          <a:p>
            <a:r>
              <a:rPr lang="en-IN" dirty="0"/>
              <a:t>    }</a:t>
            </a:r>
          </a:p>
          <a:p>
            <a:r>
              <a:rPr lang="en-IN" dirty="0"/>
              <a:t>}</a:t>
            </a:r>
          </a:p>
        </p:txBody>
      </p:sp>
    </p:spTree>
    <p:extLst>
      <p:ext uri="{BB962C8B-B14F-4D97-AF65-F5344CB8AC3E}">
        <p14:creationId xmlns:p14="http://schemas.microsoft.com/office/powerpoint/2010/main" val="10148167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66887"/>
          </a:xfrm>
        </p:spPr>
        <p:txBody>
          <a:bodyPr>
            <a:normAutofit fontScale="90000"/>
          </a:bodyPr>
          <a:lstStyle/>
          <a:p>
            <a:r>
              <a:rPr lang="en-IN" dirty="0"/>
              <a:t>A</a:t>
            </a:r>
            <a:r>
              <a:rPr lang="en-IN" dirty="0" smtClean="0"/>
              <a:t>rray </a:t>
            </a:r>
            <a:r>
              <a:rPr lang="en-IN" dirty="0"/>
              <a:t>of Objects</a:t>
            </a:r>
          </a:p>
        </p:txBody>
      </p:sp>
      <p:sp>
        <p:nvSpPr>
          <p:cNvPr id="3" name="Content Placeholder 2"/>
          <p:cNvSpPr>
            <a:spLocks noGrp="1"/>
          </p:cNvSpPr>
          <p:nvPr>
            <p:ph sz="half" idx="1"/>
          </p:nvPr>
        </p:nvSpPr>
        <p:spPr>
          <a:xfrm>
            <a:off x="282388" y="833718"/>
            <a:ext cx="5737412" cy="5343245"/>
          </a:xfrm>
        </p:spPr>
        <p:txBody>
          <a:bodyPr>
            <a:noAutofit/>
          </a:bodyPr>
          <a:lstStyle/>
          <a:p>
            <a:pPr marL="0" indent="0">
              <a:buNone/>
            </a:pPr>
            <a:r>
              <a:rPr lang="en-IN" sz="2000" dirty="0" smtClean="0"/>
              <a:t>Stores </a:t>
            </a:r>
            <a:r>
              <a:rPr lang="en-IN" sz="2000" dirty="0"/>
              <a:t>an array of </a:t>
            </a:r>
            <a:r>
              <a:rPr lang="en-IN" sz="2000" dirty="0" smtClean="0"/>
              <a:t>objects</a:t>
            </a:r>
          </a:p>
          <a:p>
            <a:pPr marL="0" indent="0">
              <a:buNone/>
            </a:pPr>
            <a:r>
              <a:rPr lang="en-IN" sz="2000" i="1" dirty="0"/>
              <a:t>Array of Objects</a:t>
            </a:r>
            <a:r>
              <a:rPr lang="en-IN" sz="2000" dirty="0"/>
              <a:t> stores </a:t>
            </a:r>
            <a:r>
              <a:rPr lang="en-IN" sz="2000" b="1" i="1" dirty="0"/>
              <a:t>objects </a:t>
            </a:r>
            <a:r>
              <a:rPr lang="en-IN" sz="2000" dirty="0"/>
              <a:t>that mean objects are stored as elements of an array</a:t>
            </a:r>
            <a:r>
              <a:rPr lang="en-IN" sz="2000" dirty="0" smtClean="0"/>
              <a:t>.</a:t>
            </a:r>
          </a:p>
          <a:p>
            <a:pPr marL="0" indent="0">
              <a:buNone/>
            </a:pPr>
            <a:r>
              <a:rPr lang="en-IN" sz="2000" b="1" dirty="0"/>
              <a:t>Array of Objects</a:t>
            </a:r>
            <a:r>
              <a:rPr lang="en-IN" sz="2000" dirty="0"/>
              <a:t> it is not the object itself that is stored in the array but the reference of the object</a:t>
            </a:r>
            <a:r>
              <a:rPr lang="en-IN" sz="2000" dirty="0" smtClean="0"/>
              <a:t>.</a:t>
            </a:r>
          </a:p>
          <a:p>
            <a:pPr marL="0" indent="0">
              <a:buNone/>
            </a:pPr>
            <a:r>
              <a:rPr lang="en-IN" sz="2000" dirty="0" smtClean="0"/>
              <a:t>Syntax </a:t>
            </a:r>
            <a:r>
              <a:rPr lang="en-IN" sz="2000" dirty="0"/>
              <a:t>: </a:t>
            </a:r>
            <a:r>
              <a:rPr lang="en-IN" sz="2000" dirty="0" err="1"/>
              <a:t>Class_Name</a:t>
            </a:r>
            <a:r>
              <a:rPr lang="en-IN" sz="2000" dirty="0"/>
              <a:t>[ ] </a:t>
            </a:r>
            <a:r>
              <a:rPr lang="en-IN" sz="2000" dirty="0" err="1"/>
              <a:t>objectArrayReference</a:t>
            </a:r>
            <a:r>
              <a:rPr lang="en-IN" sz="2000" dirty="0" smtClean="0"/>
              <a:t>;</a:t>
            </a:r>
          </a:p>
          <a:p>
            <a:pPr marL="0" indent="0">
              <a:buNone/>
            </a:pPr>
            <a:r>
              <a:rPr lang="en-IN" sz="2000" dirty="0"/>
              <a:t>	</a:t>
            </a:r>
            <a:r>
              <a:rPr lang="en-IN" sz="2000" dirty="0" smtClean="0"/>
              <a:t>or</a:t>
            </a:r>
          </a:p>
          <a:p>
            <a:pPr marL="0" indent="0">
              <a:buNone/>
            </a:pPr>
            <a:r>
              <a:rPr lang="en-IN" sz="2000" dirty="0"/>
              <a:t>	</a:t>
            </a:r>
            <a:r>
              <a:rPr lang="en-IN" sz="2000" dirty="0" err="1"/>
              <a:t>Class_Name</a:t>
            </a:r>
            <a:r>
              <a:rPr lang="en-IN" sz="2000" dirty="0"/>
              <a:t> </a:t>
            </a:r>
            <a:r>
              <a:rPr lang="en-IN" sz="2000" dirty="0" err="1"/>
              <a:t>objectArrayReference</a:t>
            </a:r>
            <a:r>
              <a:rPr lang="en-IN" sz="2000" dirty="0"/>
              <a:t>[ </a:t>
            </a:r>
            <a:r>
              <a:rPr lang="en-IN" sz="2000" dirty="0" smtClean="0"/>
              <a:t>];</a:t>
            </a:r>
          </a:p>
          <a:p>
            <a:pPr marL="0" indent="0">
              <a:buNone/>
            </a:pPr>
            <a:r>
              <a:rPr lang="en-IN" sz="2000" dirty="0"/>
              <a:t>Instantiate the array of objects –</a:t>
            </a:r>
          </a:p>
          <a:p>
            <a:pPr marL="0" indent="0">
              <a:buNone/>
            </a:pPr>
            <a:r>
              <a:rPr lang="en-IN" sz="2000" dirty="0" smtClean="0"/>
              <a:t>Syntax</a:t>
            </a:r>
            <a:r>
              <a:rPr lang="en-IN" sz="2000" dirty="0"/>
              <a:t>: </a:t>
            </a:r>
          </a:p>
          <a:p>
            <a:pPr marL="0" indent="0">
              <a:buNone/>
            </a:pPr>
            <a:r>
              <a:rPr lang="en-IN" sz="2000" dirty="0" err="1" smtClean="0"/>
              <a:t>Class_Name</a:t>
            </a:r>
            <a:r>
              <a:rPr lang="en-IN" sz="2000" dirty="0" smtClean="0"/>
              <a:t> </a:t>
            </a:r>
            <a:r>
              <a:rPr lang="en-IN" sz="2000" dirty="0" err="1"/>
              <a:t>obj</a:t>
            </a:r>
            <a:r>
              <a:rPr lang="en-IN" sz="2000" dirty="0"/>
              <a:t>[ ]= new </a:t>
            </a:r>
            <a:r>
              <a:rPr lang="en-IN" sz="2000" dirty="0" err="1"/>
              <a:t>Class_Name</a:t>
            </a:r>
            <a:r>
              <a:rPr lang="en-IN" sz="2000" dirty="0"/>
              <a:t>[</a:t>
            </a:r>
            <a:r>
              <a:rPr lang="en-IN" sz="2000" dirty="0" err="1"/>
              <a:t>Array_Length</a:t>
            </a:r>
            <a:r>
              <a:rPr lang="en-IN" sz="2000" dirty="0"/>
              <a:t>];</a:t>
            </a:r>
          </a:p>
        </p:txBody>
      </p:sp>
      <p:sp>
        <p:nvSpPr>
          <p:cNvPr id="4" name="Content Placeholder 3"/>
          <p:cNvSpPr>
            <a:spLocks noGrp="1"/>
          </p:cNvSpPr>
          <p:nvPr>
            <p:ph sz="half" idx="2"/>
          </p:nvPr>
        </p:nvSpPr>
        <p:spPr>
          <a:xfrm>
            <a:off x="5939772" y="0"/>
            <a:ext cx="6241559" cy="6705319"/>
          </a:xfrm>
        </p:spPr>
        <p:txBody>
          <a:bodyPr>
            <a:noAutofit/>
          </a:bodyPr>
          <a:lstStyle/>
          <a:p>
            <a:pPr marL="0" indent="0">
              <a:lnSpc>
                <a:spcPct val="120000"/>
              </a:lnSpc>
              <a:spcBef>
                <a:spcPts val="0"/>
              </a:spcBef>
              <a:buNone/>
            </a:pPr>
            <a:r>
              <a:rPr lang="en-US" sz="1600" dirty="0"/>
              <a:t>public class </a:t>
            </a:r>
            <a:r>
              <a:rPr lang="en-US" sz="1600" dirty="0" err="1"/>
              <a:t>ArrayOfObjects</a:t>
            </a:r>
            <a:r>
              <a:rPr lang="en-US" sz="1600" dirty="0"/>
              <a:t>  </a:t>
            </a:r>
          </a:p>
          <a:p>
            <a:pPr marL="0" indent="0">
              <a:lnSpc>
                <a:spcPct val="120000"/>
              </a:lnSpc>
              <a:spcBef>
                <a:spcPts val="0"/>
              </a:spcBef>
              <a:buNone/>
            </a:pPr>
            <a:r>
              <a:rPr lang="en-US" sz="1600" dirty="0"/>
              <a:t>{  </a:t>
            </a:r>
            <a:r>
              <a:rPr lang="en-US" sz="1600" dirty="0" smtClean="0"/>
              <a:t>public </a:t>
            </a:r>
            <a:r>
              <a:rPr lang="en-US" sz="1600" dirty="0"/>
              <a:t>static void main(String </a:t>
            </a:r>
            <a:r>
              <a:rPr lang="en-US" sz="1600" dirty="0" err="1"/>
              <a:t>args</a:t>
            </a:r>
            <a:r>
              <a:rPr lang="en-US" sz="1600" dirty="0"/>
              <a:t>[])  </a:t>
            </a:r>
          </a:p>
          <a:p>
            <a:pPr marL="0" indent="0">
              <a:lnSpc>
                <a:spcPct val="120000"/>
              </a:lnSpc>
              <a:spcBef>
                <a:spcPts val="0"/>
              </a:spcBef>
              <a:buNone/>
            </a:pPr>
            <a:r>
              <a:rPr lang="en-US" sz="1600" dirty="0"/>
              <a:t>{  </a:t>
            </a:r>
            <a:r>
              <a:rPr lang="en-US" sz="1600" dirty="0" smtClean="0"/>
              <a:t>Product</a:t>
            </a:r>
            <a:r>
              <a:rPr lang="en-US" sz="1600" dirty="0"/>
              <a:t>[] </a:t>
            </a:r>
            <a:r>
              <a:rPr lang="en-US" sz="1600" dirty="0" err="1"/>
              <a:t>obj</a:t>
            </a:r>
            <a:r>
              <a:rPr lang="en-US" sz="1600" dirty="0"/>
              <a:t> = new Product[5] ;  </a:t>
            </a:r>
          </a:p>
          <a:p>
            <a:pPr marL="0" indent="0">
              <a:lnSpc>
                <a:spcPct val="120000"/>
              </a:lnSpc>
              <a:spcBef>
                <a:spcPts val="0"/>
              </a:spcBef>
              <a:buNone/>
            </a:pPr>
            <a:r>
              <a:rPr lang="en-US" sz="1600" dirty="0" err="1"/>
              <a:t>obj</a:t>
            </a:r>
            <a:r>
              <a:rPr lang="en-US" sz="1600" dirty="0"/>
              <a:t>[0] = new Product(23907,"Laptop");  </a:t>
            </a:r>
          </a:p>
          <a:p>
            <a:pPr marL="0" indent="0">
              <a:lnSpc>
                <a:spcPct val="120000"/>
              </a:lnSpc>
              <a:spcBef>
                <a:spcPts val="0"/>
              </a:spcBef>
              <a:buNone/>
            </a:pPr>
            <a:r>
              <a:rPr lang="en-US" sz="1600" dirty="0" err="1"/>
              <a:t>obj</a:t>
            </a:r>
            <a:r>
              <a:rPr lang="en-US" sz="1600" dirty="0"/>
              <a:t>[1] = new Product(91240,"Printer");  </a:t>
            </a:r>
          </a:p>
          <a:p>
            <a:pPr marL="0" indent="0">
              <a:lnSpc>
                <a:spcPct val="120000"/>
              </a:lnSpc>
              <a:spcBef>
                <a:spcPts val="0"/>
              </a:spcBef>
              <a:buNone/>
            </a:pPr>
            <a:r>
              <a:rPr lang="en-US" sz="1600" dirty="0" err="1"/>
              <a:t>obj</a:t>
            </a:r>
            <a:r>
              <a:rPr lang="en-US" sz="1600" dirty="0"/>
              <a:t>[2] = new Product(29823,"TV");  </a:t>
            </a:r>
          </a:p>
          <a:p>
            <a:pPr marL="0" indent="0">
              <a:lnSpc>
                <a:spcPct val="120000"/>
              </a:lnSpc>
              <a:spcBef>
                <a:spcPts val="0"/>
              </a:spcBef>
              <a:buNone/>
            </a:pPr>
            <a:r>
              <a:rPr lang="en-US" sz="1600" dirty="0" err="1"/>
              <a:t>obj</a:t>
            </a:r>
            <a:r>
              <a:rPr lang="en-US" sz="1600" dirty="0"/>
              <a:t>[3] = new Product(11908,"PC");  </a:t>
            </a:r>
          </a:p>
          <a:p>
            <a:pPr marL="0" indent="0">
              <a:lnSpc>
                <a:spcPct val="120000"/>
              </a:lnSpc>
              <a:spcBef>
                <a:spcPts val="0"/>
              </a:spcBef>
              <a:buNone/>
            </a:pPr>
            <a:r>
              <a:rPr lang="en-US" sz="1600" dirty="0" err="1"/>
              <a:t>obj</a:t>
            </a:r>
            <a:r>
              <a:rPr lang="en-US" sz="1600" dirty="0"/>
              <a:t>[4] = new Product(43590,"USB");  </a:t>
            </a:r>
          </a:p>
          <a:p>
            <a:pPr marL="0" indent="0">
              <a:lnSpc>
                <a:spcPct val="120000"/>
              </a:lnSpc>
              <a:spcBef>
                <a:spcPts val="0"/>
              </a:spcBef>
              <a:buNone/>
            </a:pPr>
            <a:r>
              <a:rPr lang="en-US" sz="1600" dirty="0" err="1"/>
              <a:t>System.out.println</a:t>
            </a:r>
            <a:r>
              <a:rPr lang="en-US" sz="1600" dirty="0"/>
              <a:t>("Product Object 1:");  </a:t>
            </a:r>
            <a:r>
              <a:rPr lang="en-US" sz="1600" dirty="0" err="1" smtClean="0"/>
              <a:t>obj</a:t>
            </a:r>
            <a:r>
              <a:rPr lang="en-US" sz="1600" dirty="0" smtClean="0"/>
              <a:t>[0</a:t>
            </a:r>
            <a:r>
              <a:rPr lang="en-US" sz="1600" dirty="0"/>
              <a:t>].display();  </a:t>
            </a:r>
          </a:p>
          <a:p>
            <a:pPr marL="0" indent="0">
              <a:lnSpc>
                <a:spcPct val="120000"/>
              </a:lnSpc>
              <a:spcBef>
                <a:spcPts val="0"/>
              </a:spcBef>
              <a:buNone/>
            </a:pPr>
            <a:r>
              <a:rPr lang="en-US" sz="1600" dirty="0" err="1"/>
              <a:t>System.out.println</a:t>
            </a:r>
            <a:r>
              <a:rPr lang="en-US" sz="1600" dirty="0"/>
              <a:t>("Product Object 2:");  </a:t>
            </a:r>
            <a:r>
              <a:rPr lang="en-US" sz="1600" dirty="0" err="1" smtClean="0"/>
              <a:t>obj</a:t>
            </a:r>
            <a:r>
              <a:rPr lang="en-US" sz="1600" dirty="0" smtClean="0"/>
              <a:t>[1</a:t>
            </a:r>
            <a:r>
              <a:rPr lang="en-US" sz="1600" dirty="0"/>
              <a:t>].display();  </a:t>
            </a:r>
          </a:p>
          <a:p>
            <a:pPr marL="0" indent="0">
              <a:lnSpc>
                <a:spcPct val="120000"/>
              </a:lnSpc>
              <a:spcBef>
                <a:spcPts val="0"/>
              </a:spcBef>
              <a:buNone/>
            </a:pPr>
            <a:r>
              <a:rPr lang="en-US" sz="1600" dirty="0" err="1"/>
              <a:t>System.out.println</a:t>
            </a:r>
            <a:r>
              <a:rPr lang="en-US" sz="1600" dirty="0"/>
              <a:t>("Product Object 3:");  </a:t>
            </a:r>
            <a:r>
              <a:rPr lang="en-US" sz="1600" dirty="0" err="1" smtClean="0"/>
              <a:t>obj</a:t>
            </a:r>
            <a:r>
              <a:rPr lang="en-US" sz="1600" dirty="0" smtClean="0"/>
              <a:t>[2</a:t>
            </a:r>
            <a:r>
              <a:rPr lang="en-US" sz="1600" dirty="0"/>
              <a:t>].display();  </a:t>
            </a:r>
          </a:p>
          <a:p>
            <a:pPr marL="0" indent="0">
              <a:lnSpc>
                <a:spcPct val="120000"/>
              </a:lnSpc>
              <a:spcBef>
                <a:spcPts val="0"/>
              </a:spcBef>
              <a:buNone/>
            </a:pPr>
            <a:r>
              <a:rPr lang="en-US" sz="1600" dirty="0" err="1"/>
              <a:t>System.out.println</a:t>
            </a:r>
            <a:r>
              <a:rPr lang="en-US" sz="1600" dirty="0"/>
              <a:t>("Product Object 4:");  </a:t>
            </a:r>
            <a:r>
              <a:rPr lang="en-US" sz="1600" dirty="0" err="1" smtClean="0"/>
              <a:t>obj</a:t>
            </a:r>
            <a:r>
              <a:rPr lang="en-US" sz="1600" dirty="0" smtClean="0"/>
              <a:t>[3</a:t>
            </a:r>
            <a:r>
              <a:rPr lang="en-US" sz="1600" dirty="0"/>
              <a:t>].display();  </a:t>
            </a:r>
          </a:p>
          <a:p>
            <a:pPr marL="0" indent="0">
              <a:lnSpc>
                <a:spcPct val="120000"/>
              </a:lnSpc>
              <a:spcBef>
                <a:spcPts val="0"/>
              </a:spcBef>
              <a:buNone/>
            </a:pPr>
            <a:r>
              <a:rPr lang="en-US" sz="1600" dirty="0" err="1"/>
              <a:t>System.out.println</a:t>
            </a:r>
            <a:r>
              <a:rPr lang="en-US" sz="1600" dirty="0"/>
              <a:t>("Product Object 5:");  </a:t>
            </a:r>
            <a:r>
              <a:rPr lang="en-US" sz="1600" dirty="0" err="1" smtClean="0"/>
              <a:t>obj</a:t>
            </a:r>
            <a:r>
              <a:rPr lang="en-US" sz="1600" dirty="0" smtClean="0"/>
              <a:t>[4</a:t>
            </a:r>
            <a:r>
              <a:rPr lang="en-US" sz="1600" dirty="0"/>
              <a:t>].display();  </a:t>
            </a:r>
          </a:p>
          <a:p>
            <a:pPr marL="0" indent="0">
              <a:lnSpc>
                <a:spcPct val="120000"/>
              </a:lnSpc>
              <a:spcBef>
                <a:spcPts val="0"/>
              </a:spcBef>
              <a:buNone/>
            </a:pPr>
            <a:r>
              <a:rPr lang="en-US" sz="1600" dirty="0"/>
              <a:t>}  </a:t>
            </a:r>
            <a:r>
              <a:rPr lang="en-US" sz="1600" dirty="0" smtClean="0"/>
              <a:t>}  class </a:t>
            </a:r>
            <a:r>
              <a:rPr lang="en-US" sz="1600" dirty="0"/>
              <a:t>Product  </a:t>
            </a:r>
            <a:r>
              <a:rPr lang="en-US" sz="1600" dirty="0" smtClean="0"/>
              <a:t>{  </a:t>
            </a:r>
            <a:endParaRPr lang="en-US" sz="1600" dirty="0"/>
          </a:p>
          <a:p>
            <a:pPr marL="0" indent="0">
              <a:lnSpc>
                <a:spcPct val="120000"/>
              </a:lnSpc>
              <a:spcBef>
                <a:spcPts val="0"/>
              </a:spcBef>
              <a:buNone/>
            </a:pPr>
            <a:r>
              <a:rPr lang="en-US" sz="1600" dirty="0" err="1"/>
              <a:t>int</a:t>
            </a:r>
            <a:r>
              <a:rPr lang="en-US" sz="1600" dirty="0"/>
              <a:t> </a:t>
            </a:r>
            <a:r>
              <a:rPr lang="en-US" sz="1600" dirty="0" err="1"/>
              <a:t>pro_Id</a:t>
            </a:r>
            <a:r>
              <a:rPr lang="en-US" sz="1600" dirty="0"/>
              <a:t>;  </a:t>
            </a:r>
          </a:p>
          <a:p>
            <a:pPr marL="0" indent="0">
              <a:lnSpc>
                <a:spcPct val="120000"/>
              </a:lnSpc>
              <a:spcBef>
                <a:spcPts val="0"/>
              </a:spcBef>
              <a:buNone/>
            </a:pPr>
            <a:r>
              <a:rPr lang="en-US" sz="1600" dirty="0"/>
              <a:t>String </a:t>
            </a:r>
            <a:r>
              <a:rPr lang="en-US" sz="1600" dirty="0" err="1"/>
              <a:t>pro_name</a:t>
            </a:r>
            <a:r>
              <a:rPr lang="en-US" sz="1600" dirty="0"/>
              <a:t>;  </a:t>
            </a:r>
          </a:p>
          <a:p>
            <a:pPr marL="0" indent="0">
              <a:lnSpc>
                <a:spcPct val="120000"/>
              </a:lnSpc>
              <a:spcBef>
                <a:spcPts val="0"/>
              </a:spcBef>
              <a:buNone/>
            </a:pPr>
            <a:r>
              <a:rPr lang="en-US" sz="1600" dirty="0"/>
              <a:t>Product(</a:t>
            </a:r>
            <a:r>
              <a:rPr lang="en-US" sz="1600" dirty="0" err="1"/>
              <a:t>int</a:t>
            </a:r>
            <a:r>
              <a:rPr lang="en-US" sz="1600" dirty="0"/>
              <a:t> </a:t>
            </a:r>
            <a:r>
              <a:rPr lang="en-US" sz="1600" dirty="0" err="1"/>
              <a:t>pid</a:t>
            </a:r>
            <a:r>
              <a:rPr lang="en-US" sz="1600" dirty="0"/>
              <a:t>, String n)  </a:t>
            </a:r>
            <a:r>
              <a:rPr lang="en-US" sz="1600" dirty="0" smtClean="0"/>
              <a:t>{  </a:t>
            </a:r>
            <a:endParaRPr lang="en-US" sz="1600" dirty="0"/>
          </a:p>
          <a:p>
            <a:pPr marL="0" indent="0">
              <a:lnSpc>
                <a:spcPct val="120000"/>
              </a:lnSpc>
              <a:spcBef>
                <a:spcPts val="0"/>
              </a:spcBef>
              <a:buNone/>
            </a:pPr>
            <a:r>
              <a:rPr lang="en-US" sz="1600" dirty="0" err="1"/>
              <a:t>pro_Id</a:t>
            </a:r>
            <a:r>
              <a:rPr lang="en-US" sz="1600" dirty="0"/>
              <a:t> = </a:t>
            </a:r>
            <a:r>
              <a:rPr lang="en-US" sz="1600" dirty="0" err="1"/>
              <a:t>pid</a:t>
            </a:r>
            <a:r>
              <a:rPr lang="en-US" sz="1600" dirty="0"/>
              <a:t>;  </a:t>
            </a:r>
          </a:p>
          <a:p>
            <a:pPr marL="0" indent="0">
              <a:lnSpc>
                <a:spcPct val="120000"/>
              </a:lnSpc>
              <a:spcBef>
                <a:spcPts val="0"/>
              </a:spcBef>
              <a:buNone/>
            </a:pPr>
            <a:r>
              <a:rPr lang="en-US" sz="1600" dirty="0" err="1"/>
              <a:t>pro_name</a:t>
            </a:r>
            <a:r>
              <a:rPr lang="en-US" sz="1600" dirty="0"/>
              <a:t> = n;  </a:t>
            </a:r>
            <a:r>
              <a:rPr lang="en-US" sz="1600" dirty="0" smtClean="0"/>
              <a:t>}  </a:t>
            </a:r>
            <a:endParaRPr lang="en-US" sz="1600" dirty="0"/>
          </a:p>
          <a:p>
            <a:pPr marL="0" indent="0">
              <a:lnSpc>
                <a:spcPct val="120000"/>
              </a:lnSpc>
              <a:spcBef>
                <a:spcPts val="0"/>
              </a:spcBef>
              <a:buNone/>
            </a:pPr>
            <a:r>
              <a:rPr lang="en-US" sz="1600" dirty="0"/>
              <a:t>public void display()  </a:t>
            </a:r>
          </a:p>
          <a:p>
            <a:pPr marL="0" indent="0">
              <a:lnSpc>
                <a:spcPct val="120000"/>
              </a:lnSpc>
              <a:spcBef>
                <a:spcPts val="0"/>
              </a:spcBef>
              <a:buNone/>
            </a:pPr>
            <a:r>
              <a:rPr lang="en-US" sz="1600" dirty="0"/>
              <a:t>{  </a:t>
            </a:r>
            <a:r>
              <a:rPr lang="en-US" sz="1600" dirty="0" err="1" smtClean="0"/>
              <a:t>System.out.print</a:t>
            </a:r>
            <a:r>
              <a:rPr lang="en-US" sz="1600" dirty="0"/>
              <a:t>("Product Id = "+</a:t>
            </a:r>
            <a:r>
              <a:rPr lang="en-US" sz="1600" dirty="0" err="1"/>
              <a:t>pro_Id</a:t>
            </a:r>
            <a:r>
              <a:rPr lang="en-US" sz="1600" dirty="0"/>
              <a:t> + "  " + " Product Name = "+</a:t>
            </a:r>
            <a:r>
              <a:rPr lang="en-US" sz="1600" dirty="0" err="1"/>
              <a:t>pro_name</a:t>
            </a:r>
            <a:r>
              <a:rPr lang="en-US" sz="1600" dirty="0"/>
              <a:t>);  </a:t>
            </a:r>
          </a:p>
          <a:p>
            <a:pPr marL="0" indent="0">
              <a:lnSpc>
                <a:spcPct val="120000"/>
              </a:lnSpc>
              <a:spcBef>
                <a:spcPts val="0"/>
              </a:spcBef>
              <a:buNone/>
            </a:pPr>
            <a:r>
              <a:rPr lang="en-US" sz="1600" dirty="0" err="1"/>
              <a:t>System.out.println</a:t>
            </a:r>
            <a:r>
              <a:rPr lang="en-US" sz="1600" dirty="0"/>
              <a:t>();  </a:t>
            </a:r>
            <a:r>
              <a:rPr lang="en-US" sz="1600" dirty="0" smtClean="0"/>
              <a:t>}  } </a:t>
            </a:r>
            <a:endParaRPr lang="en-IN" sz="1600" dirty="0"/>
          </a:p>
        </p:txBody>
      </p:sp>
      <p:pic>
        <p:nvPicPr>
          <p:cNvPr id="1026" name="Picture 2" descr="How to Create Array of Objects in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1675" y="4938232"/>
            <a:ext cx="2393062" cy="19197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9399365" y="9044"/>
            <a:ext cx="2781965" cy="2095500"/>
          </a:xfrm>
          <a:prstGeom prst="rect">
            <a:avLst/>
          </a:prstGeom>
        </p:spPr>
      </p:pic>
    </p:spTree>
    <p:extLst>
      <p:ext uri="{BB962C8B-B14F-4D97-AF65-F5344CB8AC3E}">
        <p14:creationId xmlns:p14="http://schemas.microsoft.com/office/powerpoint/2010/main" val="177250254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Java-Static Keyword</a:t>
            </a:r>
            <a:endParaRPr lang="en-US" dirty="0"/>
          </a:p>
        </p:txBody>
      </p:sp>
      <p:sp>
        <p:nvSpPr>
          <p:cNvPr id="3" name="Content Placeholder 2"/>
          <p:cNvSpPr>
            <a:spLocks noGrp="1"/>
          </p:cNvSpPr>
          <p:nvPr>
            <p:ph sz="half" idx="1"/>
          </p:nvPr>
        </p:nvSpPr>
        <p:spPr>
          <a:xfrm>
            <a:off x="134814" y="394529"/>
            <a:ext cx="6437436" cy="6343895"/>
          </a:xfrm>
        </p:spPr>
        <p:txBody>
          <a:bodyPr>
            <a:noAutofit/>
          </a:bodyPr>
          <a:lstStyle/>
          <a:p>
            <a:pPr marL="0" indent="0">
              <a:buNone/>
            </a:pPr>
            <a:r>
              <a:rPr lang="en-IN" sz="1800" b="1" dirty="0"/>
              <a:t>static keyword</a:t>
            </a:r>
            <a:r>
              <a:rPr lang="en-IN" sz="1800" dirty="0"/>
              <a:t> in Java is used for memory management </a:t>
            </a:r>
            <a:r>
              <a:rPr lang="en-IN" sz="1800" dirty="0" smtClean="0"/>
              <a:t>mainly.</a:t>
            </a:r>
          </a:p>
          <a:p>
            <a:pPr marL="0" indent="0">
              <a:buNone/>
            </a:pPr>
            <a:r>
              <a:rPr lang="en-IN" sz="1800" dirty="0" smtClean="0"/>
              <a:t>The </a:t>
            </a:r>
            <a:r>
              <a:rPr lang="en-IN" sz="1800" dirty="0"/>
              <a:t>static keyword belongs to the class than an instance of the class.</a:t>
            </a:r>
          </a:p>
          <a:p>
            <a:pPr marL="0" indent="0">
              <a:spcBef>
                <a:spcPts val="0"/>
              </a:spcBef>
              <a:buNone/>
            </a:pPr>
            <a:r>
              <a:rPr lang="en-IN" sz="1800" dirty="0"/>
              <a:t>The static can be:</a:t>
            </a:r>
          </a:p>
          <a:p>
            <a:pPr>
              <a:spcBef>
                <a:spcPts val="0"/>
              </a:spcBef>
            </a:pPr>
            <a:r>
              <a:rPr lang="en-IN" sz="1800" dirty="0"/>
              <a:t>Variable (also known as a class variable)</a:t>
            </a:r>
          </a:p>
          <a:p>
            <a:pPr>
              <a:spcBef>
                <a:spcPts val="0"/>
              </a:spcBef>
            </a:pPr>
            <a:r>
              <a:rPr lang="en-IN" sz="1800" dirty="0"/>
              <a:t>Method (also known as a class method)</a:t>
            </a:r>
          </a:p>
          <a:p>
            <a:pPr>
              <a:spcBef>
                <a:spcPts val="0"/>
              </a:spcBef>
            </a:pPr>
            <a:r>
              <a:rPr lang="en-IN" sz="1800" dirty="0"/>
              <a:t>Block</a:t>
            </a:r>
          </a:p>
          <a:p>
            <a:pPr>
              <a:spcBef>
                <a:spcPts val="0"/>
              </a:spcBef>
            </a:pPr>
            <a:r>
              <a:rPr lang="en-IN" sz="1800" dirty="0"/>
              <a:t>Nested </a:t>
            </a:r>
            <a:r>
              <a:rPr lang="en-IN" sz="1800" dirty="0" smtClean="0"/>
              <a:t>class</a:t>
            </a:r>
          </a:p>
          <a:p>
            <a:pPr marL="0" indent="0">
              <a:buNone/>
            </a:pPr>
            <a:r>
              <a:rPr lang="en-IN" sz="1800" b="1" dirty="0"/>
              <a:t>Java static variable</a:t>
            </a:r>
          </a:p>
          <a:p>
            <a:pPr marL="0" indent="0">
              <a:buNone/>
            </a:pPr>
            <a:r>
              <a:rPr lang="en-IN" sz="1800" dirty="0"/>
              <a:t>D</a:t>
            </a:r>
            <a:r>
              <a:rPr lang="en-IN" sz="1800" dirty="0" smtClean="0"/>
              <a:t>eclare </a:t>
            </a:r>
            <a:r>
              <a:rPr lang="en-IN" sz="1800" dirty="0"/>
              <a:t>any variable as </a:t>
            </a:r>
            <a:r>
              <a:rPr lang="en-IN" sz="1800" dirty="0" smtClean="0"/>
              <a:t>static</a:t>
            </a:r>
            <a:r>
              <a:rPr lang="en-IN" sz="1800" dirty="0"/>
              <a:t> </a:t>
            </a:r>
            <a:r>
              <a:rPr lang="en-IN" sz="1800" dirty="0" smtClean="0"/>
              <a:t>– static variable.</a:t>
            </a:r>
            <a:endParaRPr lang="en-IN" sz="1800" dirty="0"/>
          </a:p>
          <a:p>
            <a:pPr marL="0" indent="0">
              <a:buNone/>
            </a:pPr>
            <a:r>
              <a:rPr lang="en-IN" sz="1800" dirty="0" smtClean="0"/>
              <a:t>The </a:t>
            </a:r>
            <a:r>
              <a:rPr lang="en-IN" sz="1800" dirty="0"/>
              <a:t>static variable can be used to refer to the common property of all objects (which is not unique for each </a:t>
            </a:r>
            <a:r>
              <a:rPr lang="en-IN" sz="1800" dirty="0" smtClean="0"/>
              <a:t>object)</a:t>
            </a:r>
          </a:p>
          <a:p>
            <a:pPr marL="0" indent="0">
              <a:buNone/>
            </a:pPr>
            <a:r>
              <a:rPr lang="en-IN" sz="1800" dirty="0" smtClean="0"/>
              <a:t>for example: college/University </a:t>
            </a:r>
            <a:r>
              <a:rPr lang="en-IN" sz="1800" dirty="0"/>
              <a:t>name of students, etc.</a:t>
            </a:r>
          </a:p>
          <a:p>
            <a:pPr marL="0" indent="0">
              <a:buNone/>
            </a:pPr>
            <a:r>
              <a:rPr lang="en-IN" sz="1800" dirty="0"/>
              <a:t>The static variable gets memory only once in the class area at the time of class loading</a:t>
            </a:r>
            <a:r>
              <a:rPr lang="en-IN" sz="1800" dirty="0" smtClean="0"/>
              <a:t>.</a:t>
            </a:r>
          </a:p>
          <a:p>
            <a:pPr marL="0" indent="0">
              <a:buNone/>
            </a:pPr>
            <a:r>
              <a:rPr lang="en-IN" sz="1800" dirty="0"/>
              <a:t>Advantages of static variable</a:t>
            </a:r>
          </a:p>
          <a:p>
            <a:r>
              <a:rPr lang="en-IN" sz="1800" dirty="0"/>
              <a:t>It makes your program </a:t>
            </a:r>
            <a:r>
              <a:rPr lang="en-IN" sz="1800" b="1" dirty="0"/>
              <a:t>memory efficient</a:t>
            </a:r>
            <a:r>
              <a:rPr lang="en-IN" sz="1800" dirty="0"/>
              <a:t> (i.e., it saves memory).</a:t>
            </a:r>
          </a:p>
          <a:p>
            <a:pPr marL="0" indent="0">
              <a:buNone/>
            </a:pPr>
            <a:r>
              <a:rPr lang="en-IN" sz="1800" b="1" dirty="0"/>
              <a:t>static property is shared to all objects.</a:t>
            </a:r>
          </a:p>
          <a:p>
            <a:pPr marL="0" indent="0">
              <a:buNone/>
            </a:pPr>
            <a:endParaRPr lang="en-IN" sz="1800" dirty="0"/>
          </a:p>
        </p:txBody>
      </p:sp>
      <p:sp>
        <p:nvSpPr>
          <p:cNvPr id="4" name="TextBox 3"/>
          <p:cNvSpPr txBox="1"/>
          <p:nvPr/>
        </p:nvSpPr>
        <p:spPr>
          <a:xfrm>
            <a:off x="6434137" y="0"/>
            <a:ext cx="5757863" cy="6740307"/>
          </a:xfrm>
          <a:prstGeom prst="rect">
            <a:avLst/>
          </a:prstGeom>
          <a:noFill/>
        </p:spPr>
        <p:txBody>
          <a:bodyPr wrap="square" rtlCol="0">
            <a:spAutoFit/>
          </a:bodyPr>
          <a:lstStyle/>
          <a:p>
            <a:r>
              <a:rPr lang="en-IN" dirty="0"/>
              <a:t>class Student{  </a:t>
            </a:r>
          </a:p>
          <a:p>
            <a:r>
              <a:rPr lang="en-IN" dirty="0"/>
              <a:t>   </a:t>
            </a:r>
            <a:r>
              <a:rPr lang="en-IN" dirty="0" err="1"/>
              <a:t>int</a:t>
            </a:r>
            <a:r>
              <a:rPr lang="en-IN" dirty="0"/>
              <a:t> </a:t>
            </a:r>
            <a:r>
              <a:rPr lang="en-IN" dirty="0" err="1"/>
              <a:t>rollno</a:t>
            </a:r>
            <a:r>
              <a:rPr lang="en-IN" dirty="0"/>
              <a:t>;//instance variable  </a:t>
            </a:r>
          </a:p>
          <a:p>
            <a:r>
              <a:rPr lang="en-IN" dirty="0"/>
              <a:t>   String name;  </a:t>
            </a:r>
          </a:p>
          <a:p>
            <a:r>
              <a:rPr lang="en-IN" dirty="0"/>
              <a:t>   static String college ="MIT";//static variable  </a:t>
            </a:r>
          </a:p>
          <a:p>
            <a:r>
              <a:rPr lang="en-IN" dirty="0"/>
              <a:t>   //</a:t>
            </a:r>
            <a:r>
              <a:rPr lang="en-IN" dirty="0" err="1"/>
              <a:t>param</a:t>
            </a:r>
            <a:r>
              <a:rPr lang="en-IN" dirty="0"/>
              <a:t>. constructor  </a:t>
            </a:r>
          </a:p>
          <a:p>
            <a:r>
              <a:rPr lang="en-IN" dirty="0"/>
              <a:t>   Student(</a:t>
            </a:r>
            <a:r>
              <a:rPr lang="en-IN" dirty="0" err="1"/>
              <a:t>int</a:t>
            </a:r>
            <a:r>
              <a:rPr lang="en-IN" dirty="0"/>
              <a:t> r, String n){  </a:t>
            </a:r>
          </a:p>
          <a:p>
            <a:r>
              <a:rPr lang="en-IN" dirty="0"/>
              <a:t>   </a:t>
            </a:r>
            <a:r>
              <a:rPr lang="en-IN" dirty="0" err="1"/>
              <a:t>rollno</a:t>
            </a:r>
            <a:r>
              <a:rPr lang="en-IN" dirty="0"/>
              <a:t> = r;  </a:t>
            </a:r>
          </a:p>
          <a:p>
            <a:r>
              <a:rPr lang="en-IN" dirty="0"/>
              <a:t>   name = n;  </a:t>
            </a:r>
          </a:p>
          <a:p>
            <a:r>
              <a:rPr lang="en-IN" dirty="0"/>
              <a:t>   }  </a:t>
            </a:r>
          </a:p>
          <a:p>
            <a:r>
              <a:rPr lang="en-IN" dirty="0"/>
              <a:t>   //method to display the values  </a:t>
            </a:r>
          </a:p>
          <a:p>
            <a:r>
              <a:rPr lang="en-IN" dirty="0"/>
              <a:t>   void display (){</a:t>
            </a:r>
            <a:r>
              <a:rPr lang="en-IN" dirty="0" err="1"/>
              <a:t>System.out.println</a:t>
            </a:r>
            <a:r>
              <a:rPr lang="en-IN" dirty="0"/>
              <a:t>(</a:t>
            </a:r>
            <a:r>
              <a:rPr lang="en-IN" dirty="0" err="1"/>
              <a:t>rollno</a:t>
            </a:r>
            <a:r>
              <a:rPr lang="en-IN" dirty="0"/>
              <a:t>+" "+name+" "+college);}  </a:t>
            </a:r>
          </a:p>
          <a:p>
            <a:r>
              <a:rPr lang="en-IN" dirty="0"/>
              <a:t>}  </a:t>
            </a:r>
          </a:p>
          <a:p>
            <a:r>
              <a:rPr lang="en-IN" dirty="0"/>
              <a:t> public class </a:t>
            </a:r>
            <a:r>
              <a:rPr lang="en-IN" dirty="0" err="1"/>
              <a:t>TestStaticVariable</a:t>
            </a:r>
            <a:r>
              <a:rPr lang="en-IN" dirty="0"/>
              <a:t>{  </a:t>
            </a:r>
          </a:p>
          <a:p>
            <a:r>
              <a:rPr lang="en-IN" dirty="0"/>
              <a:t> public static void main(String </a:t>
            </a:r>
            <a:r>
              <a:rPr lang="en-IN" dirty="0" err="1"/>
              <a:t>args</a:t>
            </a:r>
            <a:r>
              <a:rPr lang="en-IN" dirty="0"/>
              <a:t>[]){  </a:t>
            </a:r>
          </a:p>
          <a:p>
            <a:r>
              <a:rPr lang="en-IN" dirty="0"/>
              <a:t> Student s1 = new Student(111,"ABC");  </a:t>
            </a:r>
          </a:p>
          <a:p>
            <a:r>
              <a:rPr lang="en-IN" dirty="0"/>
              <a:t> Student s2 = new Student(222,"PQR");  </a:t>
            </a:r>
          </a:p>
          <a:p>
            <a:r>
              <a:rPr lang="en-IN" dirty="0"/>
              <a:t> //we can change the college of all objects by the single line of code  </a:t>
            </a:r>
          </a:p>
          <a:p>
            <a:r>
              <a:rPr lang="en-IN" dirty="0"/>
              <a:t> //</a:t>
            </a:r>
            <a:r>
              <a:rPr lang="en-IN" dirty="0" err="1"/>
              <a:t>Student.college</a:t>
            </a:r>
            <a:r>
              <a:rPr lang="en-IN" dirty="0"/>
              <a:t>="CEG";  </a:t>
            </a:r>
          </a:p>
          <a:p>
            <a:r>
              <a:rPr lang="en-IN" dirty="0"/>
              <a:t> s1.display();  </a:t>
            </a:r>
          </a:p>
          <a:p>
            <a:r>
              <a:rPr lang="en-IN" dirty="0"/>
              <a:t> s2.display();  </a:t>
            </a:r>
          </a:p>
          <a:p>
            <a:r>
              <a:rPr lang="en-IN" dirty="0"/>
              <a:t> }  </a:t>
            </a:r>
          </a:p>
          <a:p>
            <a:r>
              <a:rPr lang="en-IN" dirty="0"/>
              <a:t>} </a:t>
            </a:r>
            <a:endParaRPr lang="en-IN" dirty="0" smtClean="0"/>
          </a:p>
        </p:txBody>
      </p:sp>
    </p:spTree>
    <p:extLst>
      <p:ext uri="{BB962C8B-B14F-4D97-AF65-F5344CB8AC3E}">
        <p14:creationId xmlns:p14="http://schemas.microsoft.com/office/powerpoint/2010/main" val="235136077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Java-Static Keyword</a:t>
            </a:r>
            <a:endParaRPr lang="en-US" dirty="0"/>
          </a:p>
        </p:txBody>
      </p:sp>
      <p:sp>
        <p:nvSpPr>
          <p:cNvPr id="3" name="Content Placeholder 2"/>
          <p:cNvSpPr>
            <a:spLocks noGrp="1"/>
          </p:cNvSpPr>
          <p:nvPr>
            <p:ph sz="half" idx="1"/>
          </p:nvPr>
        </p:nvSpPr>
        <p:spPr>
          <a:xfrm>
            <a:off x="134814" y="394529"/>
            <a:ext cx="6437436" cy="6343895"/>
          </a:xfrm>
        </p:spPr>
        <p:txBody>
          <a:bodyPr>
            <a:noAutofit/>
          </a:bodyPr>
          <a:lstStyle/>
          <a:p>
            <a:pPr marL="0" indent="0">
              <a:buNone/>
            </a:pPr>
            <a:r>
              <a:rPr lang="en-IN" sz="1800" b="1" dirty="0" smtClean="0"/>
              <a:t>Without static </a:t>
            </a:r>
            <a:r>
              <a:rPr lang="en-IN" sz="1800" b="1" dirty="0"/>
              <a:t>keyword</a:t>
            </a:r>
            <a:r>
              <a:rPr lang="en-IN" sz="1800" dirty="0"/>
              <a:t> </a:t>
            </a:r>
            <a:endParaRPr lang="en-IN" sz="1800" dirty="0" smtClean="0"/>
          </a:p>
          <a:p>
            <a:pPr marL="0" indent="0">
              <a:buNone/>
            </a:pPr>
            <a:r>
              <a:rPr lang="en-IN" sz="1800" dirty="0"/>
              <a:t>I</a:t>
            </a:r>
            <a:r>
              <a:rPr lang="en-IN" sz="1800" dirty="0" smtClean="0"/>
              <a:t>nstance </a:t>
            </a:r>
            <a:r>
              <a:rPr lang="en-IN" sz="1800" dirty="0"/>
              <a:t>variable named count which is incremented in the constructor</a:t>
            </a:r>
            <a:r>
              <a:rPr lang="en-IN" sz="1800" dirty="0" smtClean="0"/>
              <a:t>.</a:t>
            </a:r>
          </a:p>
          <a:p>
            <a:pPr marL="0" indent="0">
              <a:buNone/>
            </a:pPr>
            <a:r>
              <a:rPr lang="en-IN" sz="1800" dirty="0"/>
              <a:t>I</a:t>
            </a:r>
            <a:r>
              <a:rPr lang="en-IN" sz="1800" dirty="0" smtClean="0"/>
              <a:t>nstance </a:t>
            </a:r>
            <a:r>
              <a:rPr lang="en-IN" sz="1800" dirty="0"/>
              <a:t>variable gets the memory at the time of object creation, each object will have the copy of the instance variable. </a:t>
            </a:r>
            <a:endParaRPr lang="en-IN" sz="1800" dirty="0" smtClean="0"/>
          </a:p>
          <a:p>
            <a:pPr marL="0" indent="0">
              <a:buNone/>
            </a:pPr>
            <a:r>
              <a:rPr lang="en-IN" sz="1800" dirty="0" smtClean="0"/>
              <a:t>If </a:t>
            </a:r>
            <a:r>
              <a:rPr lang="en-IN" sz="1800" dirty="0"/>
              <a:t>it is incremented, it won't reflect other objects</a:t>
            </a:r>
            <a:r>
              <a:rPr lang="en-IN" sz="1800" b="1" dirty="0"/>
              <a:t>. So each object will have the value 1 in the count variable</a:t>
            </a:r>
            <a:r>
              <a:rPr lang="en-IN" sz="1800" b="1" dirty="0" smtClean="0"/>
              <a:t>.</a:t>
            </a:r>
          </a:p>
          <a:p>
            <a:pPr marL="0" indent="0">
              <a:buNone/>
            </a:pPr>
            <a:endParaRPr lang="en-IN" sz="1800" dirty="0" smtClean="0"/>
          </a:p>
          <a:p>
            <a:pPr marL="0" indent="0">
              <a:spcBef>
                <a:spcPts val="0"/>
              </a:spcBef>
              <a:buNone/>
            </a:pPr>
            <a:r>
              <a:rPr lang="en-IN" sz="1800" dirty="0"/>
              <a:t>public class Counter{  </a:t>
            </a:r>
          </a:p>
          <a:p>
            <a:pPr marL="0" indent="0">
              <a:spcBef>
                <a:spcPts val="0"/>
              </a:spcBef>
              <a:buNone/>
            </a:pPr>
            <a:r>
              <a:rPr lang="en-IN" sz="1800" dirty="0" err="1"/>
              <a:t>int</a:t>
            </a:r>
            <a:r>
              <a:rPr lang="en-IN" sz="1800" dirty="0"/>
              <a:t> count=0;</a:t>
            </a:r>
          </a:p>
          <a:p>
            <a:pPr marL="0" indent="0">
              <a:spcBef>
                <a:spcPts val="0"/>
              </a:spcBef>
              <a:buNone/>
            </a:pPr>
            <a:r>
              <a:rPr lang="en-IN" sz="1800" dirty="0"/>
              <a:t>Counter(){  </a:t>
            </a:r>
          </a:p>
          <a:p>
            <a:pPr marL="0" indent="0">
              <a:spcBef>
                <a:spcPts val="0"/>
              </a:spcBef>
              <a:buNone/>
            </a:pPr>
            <a:r>
              <a:rPr lang="en-IN" sz="1800" dirty="0"/>
              <a:t>count++; </a:t>
            </a:r>
          </a:p>
          <a:p>
            <a:pPr marL="0" indent="0">
              <a:spcBef>
                <a:spcPts val="0"/>
              </a:spcBef>
              <a:buNone/>
            </a:pPr>
            <a:r>
              <a:rPr lang="en-IN" sz="1800" dirty="0" err="1"/>
              <a:t>System.out.println</a:t>
            </a:r>
            <a:r>
              <a:rPr lang="en-IN" sz="1800" dirty="0"/>
              <a:t>(count);  </a:t>
            </a:r>
          </a:p>
          <a:p>
            <a:pPr marL="0" indent="0">
              <a:spcBef>
                <a:spcPts val="0"/>
              </a:spcBef>
              <a:buNone/>
            </a:pPr>
            <a:r>
              <a:rPr lang="en-IN" sz="1800" dirty="0"/>
              <a:t>}  </a:t>
            </a:r>
          </a:p>
          <a:p>
            <a:pPr marL="0" indent="0">
              <a:spcBef>
                <a:spcPts val="0"/>
              </a:spcBef>
              <a:buNone/>
            </a:pPr>
            <a:r>
              <a:rPr lang="en-IN" sz="1800" dirty="0"/>
              <a:t>  </a:t>
            </a:r>
          </a:p>
          <a:p>
            <a:pPr marL="0" indent="0">
              <a:spcBef>
                <a:spcPts val="0"/>
              </a:spcBef>
              <a:buNone/>
            </a:pPr>
            <a:r>
              <a:rPr lang="en-IN" sz="1800" dirty="0"/>
              <a:t>public static void main(String </a:t>
            </a:r>
            <a:r>
              <a:rPr lang="en-IN" sz="1800" dirty="0" err="1"/>
              <a:t>args</a:t>
            </a:r>
            <a:r>
              <a:rPr lang="en-IN" sz="1800" dirty="0"/>
              <a:t>[]){  </a:t>
            </a:r>
          </a:p>
          <a:p>
            <a:pPr marL="0" indent="0">
              <a:spcBef>
                <a:spcPts val="0"/>
              </a:spcBef>
              <a:buNone/>
            </a:pPr>
            <a:r>
              <a:rPr lang="en-IN" sz="1800" dirty="0"/>
              <a:t>  Counter c1=new Counter();  </a:t>
            </a:r>
          </a:p>
          <a:p>
            <a:pPr marL="0" indent="0">
              <a:spcBef>
                <a:spcPts val="0"/>
              </a:spcBef>
              <a:buNone/>
            </a:pPr>
            <a:r>
              <a:rPr lang="en-IN" sz="1800" dirty="0"/>
              <a:t>Counter c2=new Counter();  </a:t>
            </a:r>
          </a:p>
          <a:p>
            <a:pPr marL="0" indent="0">
              <a:spcBef>
                <a:spcPts val="0"/>
              </a:spcBef>
              <a:buNone/>
            </a:pPr>
            <a:r>
              <a:rPr lang="en-IN" sz="1800" dirty="0"/>
              <a:t>Counter c3=new Counter();  </a:t>
            </a:r>
          </a:p>
          <a:p>
            <a:pPr marL="0" indent="0">
              <a:spcBef>
                <a:spcPts val="0"/>
              </a:spcBef>
              <a:buNone/>
            </a:pPr>
            <a:r>
              <a:rPr lang="en-IN" sz="1800" dirty="0"/>
              <a:t>}  </a:t>
            </a:r>
          </a:p>
          <a:p>
            <a:pPr marL="0" indent="0">
              <a:spcBef>
                <a:spcPts val="0"/>
              </a:spcBef>
              <a:buNone/>
            </a:pPr>
            <a:r>
              <a:rPr lang="en-IN" sz="1800" dirty="0"/>
              <a:t>} </a:t>
            </a:r>
          </a:p>
        </p:txBody>
      </p:sp>
      <p:sp>
        <p:nvSpPr>
          <p:cNvPr id="4" name="TextBox 3"/>
          <p:cNvSpPr txBox="1"/>
          <p:nvPr/>
        </p:nvSpPr>
        <p:spPr>
          <a:xfrm>
            <a:off x="6434137" y="0"/>
            <a:ext cx="5757863" cy="4801314"/>
          </a:xfrm>
          <a:prstGeom prst="rect">
            <a:avLst/>
          </a:prstGeom>
          <a:noFill/>
        </p:spPr>
        <p:txBody>
          <a:bodyPr wrap="square" rtlCol="0">
            <a:spAutoFit/>
          </a:bodyPr>
          <a:lstStyle/>
          <a:p>
            <a:r>
              <a:rPr lang="en-IN" dirty="0" smtClean="0"/>
              <a:t>With </a:t>
            </a:r>
            <a:r>
              <a:rPr lang="en-IN" dirty="0"/>
              <a:t>static </a:t>
            </a:r>
            <a:r>
              <a:rPr lang="en-IN" dirty="0" smtClean="0"/>
              <a:t>variable</a:t>
            </a:r>
          </a:p>
          <a:p>
            <a:endParaRPr lang="en-IN" dirty="0" smtClean="0"/>
          </a:p>
          <a:p>
            <a:r>
              <a:rPr lang="en-IN" dirty="0"/>
              <a:t>public class Counter{  </a:t>
            </a:r>
          </a:p>
          <a:p>
            <a:r>
              <a:rPr lang="en-IN" dirty="0"/>
              <a:t>static </a:t>
            </a:r>
            <a:r>
              <a:rPr lang="en-IN" dirty="0" err="1"/>
              <a:t>int</a:t>
            </a:r>
            <a:r>
              <a:rPr lang="en-IN" dirty="0"/>
              <a:t> count=0;</a:t>
            </a:r>
          </a:p>
          <a:p>
            <a:r>
              <a:rPr lang="en-IN" dirty="0"/>
              <a:t>  </a:t>
            </a:r>
          </a:p>
          <a:p>
            <a:r>
              <a:rPr lang="en-IN" dirty="0"/>
              <a:t>Counter(){  </a:t>
            </a:r>
          </a:p>
          <a:p>
            <a:r>
              <a:rPr lang="en-IN" dirty="0"/>
              <a:t>count++; </a:t>
            </a:r>
          </a:p>
          <a:p>
            <a:r>
              <a:rPr lang="en-IN" dirty="0" err="1"/>
              <a:t>System.out.println</a:t>
            </a:r>
            <a:r>
              <a:rPr lang="en-IN" dirty="0"/>
              <a:t>(count);  </a:t>
            </a:r>
          </a:p>
          <a:p>
            <a:r>
              <a:rPr lang="en-IN" dirty="0"/>
              <a:t>}  </a:t>
            </a:r>
          </a:p>
          <a:p>
            <a:r>
              <a:rPr lang="en-IN" dirty="0"/>
              <a:t>  </a:t>
            </a:r>
          </a:p>
          <a:p>
            <a:r>
              <a:rPr lang="en-IN" dirty="0"/>
              <a:t>public static void main(String </a:t>
            </a:r>
            <a:r>
              <a:rPr lang="en-IN" dirty="0" err="1"/>
              <a:t>args</a:t>
            </a:r>
            <a:r>
              <a:rPr lang="en-IN" dirty="0"/>
              <a:t>[]){  </a:t>
            </a:r>
          </a:p>
          <a:p>
            <a:r>
              <a:rPr lang="en-IN" dirty="0"/>
              <a:t>  </a:t>
            </a:r>
          </a:p>
          <a:p>
            <a:r>
              <a:rPr lang="en-IN" dirty="0"/>
              <a:t>Counter c1=new Counter();  </a:t>
            </a:r>
          </a:p>
          <a:p>
            <a:r>
              <a:rPr lang="en-IN" dirty="0"/>
              <a:t>Counter c2=new Counter();  </a:t>
            </a:r>
          </a:p>
          <a:p>
            <a:r>
              <a:rPr lang="en-IN" dirty="0"/>
              <a:t>Counter c3=new Counter();  </a:t>
            </a:r>
          </a:p>
          <a:p>
            <a:r>
              <a:rPr lang="en-IN" dirty="0"/>
              <a:t>}  </a:t>
            </a:r>
          </a:p>
          <a:p>
            <a:r>
              <a:rPr lang="en-IN" dirty="0"/>
              <a:t>} </a:t>
            </a:r>
          </a:p>
        </p:txBody>
      </p:sp>
      <p:pic>
        <p:nvPicPr>
          <p:cNvPr id="5" name="Picture 4"/>
          <p:cNvPicPr>
            <a:picLocks noChangeAspect="1"/>
          </p:cNvPicPr>
          <p:nvPr/>
        </p:nvPicPr>
        <p:blipFill>
          <a:blip r:embed="rId2"/>
          <a:stretch>
            <a:fillRect/>
          </a:stretch>
        </p:blipFill>
        <p:spPr>
          <a:xfrm>
            <a:off x="3353532" y="5438262"/>
            <a:ext cx="2676525" cy="866775"/>
          </a:xfrm>
          <a:prstGeom prst="rect">
            <a:avLst/>
          </a:prstGeom>
        </p:spPr>
      </p:pic>
      <p:pic>
        <p:nvPicPr>
          <p:cNvPr id="6" name="Picture 5"/>
          <p:cNvPicPr>
            <a:picLocks noChangeAspect="1"/>
          </p:cNvPicPr>
          <p:nvPr/>
        </p:nvPicPr>
        <p:blipFill>
          <a:blip r:embed="rId3"/>
          <a:stretch>
            <a:fillRect/>
          </a:stretch>
        </p:blipFill>
        <p:spPr>
          <a:xfrm>
            <a:off x="8910637" y="4271963"/>
            <a:ext cx="2714625" cy="1271587"/>
          </a:xfrm>
          <a:prstGeom prst="rect">
            <a:avLst/>
          </a:prstGeom>
        </p:spPr>
      </p:pic>
    </p:spTree>
    <p:extLst>
      <p:ext uri="{BB962C8B-B14F-4D97-AF65-F5344CB8AC3E}">
        <p14:creationId xmlns:p14="http://schemas.microsoft.com/office/powerpoint/2010/main" val="2446748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Java-Static Keyword</a:t>
            </a:r>
            <a:endParaRPr lang="en-US" dirty="0"/>
          </a:p>
        </p:txBody>
      </p:sp>
      <p:sp>
        <p:nvSpPr>
          <p:cNvPr id="3" name="Content Placeholder 2"/>
          <p:cNvSpPr>
            <a:spLocks noGrp="1"/>
          </p:cNvSpPr>
          <p:nvPr>
            <p:ph sz="half" idx="1"/>
          </p:nvPr>
        </p:nvSpPr>
        <p:spPr>
          <a:xfrm>
            <a:off x="134814" y="394529"/>
            <a:ext cx="6437436" cy="6343895"/>
          </a:xfrm>
        </p:spPr>
        <p:txBody>
          <a:bodyPr>
            <a:noAutofit/>
          </a:bodyPr>
          <a:lstStyle/>
          <a:p>
            <a:pPr marL="0" indent="0">
              <a:buNone/>
            </a:pPr>
            <a:r>
              <a:rPr lang="en-IN" sz="1800" b="1" dirty="0"/>
              <a:t>S</a:t>
            </a:r>
            <a:r>
              <a:rPr lang="en-IN" sz="1800" b="1" dirty="0" smtClean="0"/>
              <a:t>tatic method</a:t>
            </a:r>
            <a:r>
              <a:rPr lang="en-IN" sz="1800" dirty="0" smtClean="0"/>
              <a:t>-apply </a:t>
            </a:r>
            <a:r>
              <a:rPr lang="en-IN" sz="1800" dirty="0"/>
              <a:t>static keyword with any </a:t>
            </a:r>
            <a:r>
              <a:rPr lang="en-IN" sz="1800" dirty="0" smtClean="0"/>
              <a:t>method</a:t>
            </a:r>
            <a:endParaRPr lang="en-IN" sz="1800" dirty="0"/>
          </a:p>
          <a:p>
            <a:pPr marL="0" indent="0">
              <a:buNone/>
            </a:pPr>
            <a:r>
              <a:rPr lang="en-IN" sz="1800" b="1" dirty="0"/>
              <a:t>A static method belongs to the class rather than the object of a class.</a:t>
            </a:r>
          </a:p>
          <a:p>
            <a:pPr marL="0" indent="0">
              <a:buNone/>
            </a:pPr>
            <a:r>
              <a:rPr lang="en-IN" sz="1800" b="1" dirty="0"/>
              <a:t>A static method can be invoked without the need for creating an instance of a class.</a:t>
            </a:r>
          </a:p>
          <a:p>
            <a:pPr marL="0" indent="0">
              <a:buNone/>
            </a:pPr>
            <a:r>
              <a:rPr lang="en-IN" sz="1800" b="1" dirty="0"/>
              <a:t>A static method can access static data member and can change the value of it</a:t>
            </a:r>
            <a:r>
              <a:rPr lang="en-IN" sz="1800" b="1" dirty="0" smtClean="0"/>
              <a:t>.</a:t>
            </a:r>
          </a:p>
          <a:p>
            <a:pPr marL="0" indent="0">
              <a:buNone/>
            </a:pPr>
            <a:r>
              <a:rPr lang="en-US" sz="1800" b="1" dirty="0" smtClean="0"/>
              <a:t>A static method cannot be overridden.</a:t>
            </a:r>
            <a:endParaRPr lang="en-IN" sz="1800" b="1" dirty="0"/>
          </a:p>
          <a:p>
            <a:pPr marL="0" indent="0">
              <a:buNone/>
            </a:pPr>
            <a:r>
              <a:rPr lang="en-IN" sz="1800" b="1" dirty="0"/>
              <a:t>R</a:t>
            </a:r>
            <a:r>
              <a:rPr lang="en-IN" sz="1800" b="1" dirty="0" smtClean="0"/>
              <a:t>estrictions </a:t>
            </a:r>
            <a:r>
              <a:rPr lang="en-IN" sz="1800" b="1" dirty="0"/>
              <a:t>for the static </a:t>
            </a:r>
            <a:r>
              <a:rPr lang="en-IN" sz="1800" b="1" dirty="0" smtClean="0"/>
              <a:t>method</a:t>
            </a:r>
            <a:r>
              <a:rPr lang="en-IN" sz="1800" b="1" dirty="0"/>
              <a:t>:</a:t>
            </a:r>
          </a:p>
          <a:p>
            <a:r>
              <a:rPr lang="en-IN" sz="1800" b="1" dirty="0"/>
              <a:t>The static method can not use non static data member or call non-static method directly.</a:t>
            </a:r>
          </a:p>
          <a:p>
            <a:r>
              <a:rPr lang="en-IN" sz="1800" b="1" dirty="0"/>
              <a:t>this and super cannot be used in static </a:t>
            </a:r>
            <a:r>
              <a:rPr lang="en-IN" sz="1800" b="1" dirty="0" smtClean="0"/>
              <a:t>method.</a:t>
            </a:r>
          </a:p>
          <a:p>
            <a:pPr marL="0" indent="0">
              <a:spcBef>
                <a:spcPts val="0"/>
              </a:spcBef>
              <a:buNone/>
            </a:pPr>
            <a:r>
              <a:rPr lang="en-IN" sz="1800" dirty="0"/>
              <a:t>public class A{  </a:t>
            </a:r>
          </a:p>
          <a:p>
            <a:pPr marL="0" indent="0">
              <a:spcBef>
                <a:spcPts val="0"/>
              </a:spcBef>
              <a:buNone/>
            </a:pPr>
            <a:r>
              <a:rPr lang="en-IN" sz="1800" dirty="0"/>
              <a:t> </a:t>
            </a:r>
            <a:r>
              <a:rPr lang="en-IN" sz="1800" dirty="0" err="1"/>
              <a:t>int</a:t>
            </a:r>
            <a:r>
              <a:rPr lang="en-IN" sz="1800" dirty="0"/>
              <a:t> a=40;//non static  </a:t>
            </a:r>
          </a:p>
          <a:p>
            <a:pPr marL="0" indent="0">
              <a:spcBef>
                <a:spcPts val="0"/>
              </a:spcBef>
              <a:buNone/>
            </a:pPr>
            <a:r>
              <a:rPr lang="en-IN" sz="1800" dirty="0"/>
              <a:t> </a:t>
            </a:r>
            <a:r>
              <a:rPr lang="en-IN" sz="1800" dirty="0" smtClean="0"/>
              <a:t>public </a:t>
            </a:r>
            <a:r>
              <a:rPr lang="en-IN" sz="1800" dirty="0"/>
              <a:t>static void main(String </a:t>
            </a:r>
            <a:r>
              <a:rPr lang="en-IN" sz="1800" dirty="0" err="1"/>
              <a:t>args</a:t>
            </a:r>
            <a:r>
              <a:rPr lang="en-IN" sz="1800" dirty="0"/>
              <a:t>[]){  </a:t>
            </a:r>
          </a:p>
          <a:p>
            <a:pPr marL="0" indent="0">
              <a:spcBef>
                <a:spcPts val="0"/>
              </a:spcBef>
              <a:buNone/>
            </a:pPr>
            <a:r>
              <a:rPr lang="en-IN" sz="1800" dirty="0"/>
              <a:t>  </a:t>
            </a:r>
            <a:r>
              <a:rPr lang="en-IN" sz="1800" dirty="0" err="1"/>
              <a:t>System.out.println</a:t>
            </a:r>
            <a:r>
              <a:rPr lang="en-IN" sz="1800" dirty="0"/>
              <a:t>(a);  </a:t>
            </a:r>
          </a:p>
          <a:p>
            <a:pPr marL="0" indent="0">
              <a:spcBef>
                <a:spcPts val="0"/>
              </a:spcBef>
              <a:buNone/>
            </a:pPr>
            <a:r>
              <a:rPr lang="en-IN" sz="1800" dirty="0"/>
              <a:t> }  </a:t>
            </a:r>
            <a:r>
              <a:rPr lang="en-IN" sz="1800" dirty="0" smtClean="0"/>
              <a:t>} </a:t>
            </a:r>
          </a:p>
          <a:p>
            <a:pPr marL="0" indent="0">
              <a:buNone/>
            </a:pPr>
            <a:r>
              <a:rPr lang="en-IN" sz="1800" dirty="0" smtClean="0"/>
              <a:t>Java main method is static because </a:t>
            </a:r>
            <a:r>
              <a:rPr lang="en-IN" sz="1800" dirty="0"/>
              <a:t>object is not required to call a static method. </a:t>
            </a:r>
            <a:endParaRPr lang="en-IN" sz="1800" dirty="0" smtClean="0"/>
          </a:p>
          <a:p>
            <a:pPr marL="0" indent="0">
              <a:buNone/>
            </a:pPr>
            <a:r>
              <a:rPr lang="en-IN" sz="1800" dirty="0" smtClean="0"/>
              <a:t>If </a:t>
            </a:r>
            <a:r>
              <a:rPr lang="en-IN" sz="1800" dirty="0"/>
              <a:t>it were a non-static method, JVM creates an object first then call main() method that will lead the problem of extra memory allocation.</a:t>
            </a:r>
          </a:p>
        </p:txBody>
      </p:sp>
      <p:sp>
        <p:nvSpPr>
          <p:cNvPr id="4" name="TextBox 3"/>
          <p:cNvSpPr txBox="1"/>
          <p:nvPr/>
        </p:nvSpPr>
        <p:spPr>
          <a:xfrm>
            <a:off x="6434137" y="0"/>
            <a:ext cx="5757863" cy="6986528"/>
          </a:xfrm>
          <a:prstGeom prst="rect">
            <a:avLst/>
          </a:prstGeom>
          <a:noFill/>
        </p:spPr>
        <p:txBody>
          <a:bodyPr wrap="square" rtlCol="0">
            <a:spAutoFit/>
          </a:bodyPr>
          <a:lstStyle/>
          <a:p>
            <a:r>
              <a:rPr lang="en-IN" sz="1600" dirty="0"/>
              <a:t>class Student{  </a:t>
            </a:r>
          </a:p>
          <a:p>
            <a:r>
              <a:rPr lang="en-IN" sz="1600" dirty="0"/>
              <a:t>     </a:t>
            </a:r>
            <a:r>
              <a:rPr lang="en-IN" sz="1600" dirty="0" err="1"/>
              <a:t>int</a:t>
            </a:r>
            <a:r>
              <a:rPr lang="en-IN" sz="1600" dirty="0"/>
              <a:t> </a:t>
            </a:r>
            <a:r>
              <a:rPr lang="en-IN" sz="1600" dirty="0" err="1"/>
              <a:t>rollno</a:t>
            </a:r>
            <a:r>
              <a:rPr lang="en-IN" sz="1600" dirty="0"/>
              <a:t>;  </a:t>
            </a:r>
          </a:p>
          <a:p>
            <a:r>
              <a:rPr lang="en-IN" sz="1600" dirty="0"/>
              <a:t>     String name;  </a:t>
            </a:r>
          </a:p>
          <a:p>
            <a:r>
              <a:rPr lang="en-IN" sz="1600" dirty="0"/>
              <a:t>     static String college = "MIT";  </a:t>
            </a:r>
          </a:p>
          <a:p>
            <a:r>
              <a:rPr lang="en-IN" sz="1600" dirty="0"/>
              <a:t>     //static method to change the value of static variable  </a:t>
            </a:r>
          </a:p>
          <a:p>
            <a:r>
              <a:rPr lang="en-IN" sz="1600" dirty="0"/>
              <a:t>     static void change(){  </a:t>
            </a:r>
          </a:p>
          <a:p>
            <a:r>
              <a:rPr lang="en-IN" sz="1600" dirty="0"/>
              <a:t>     college = "AU-MIT";  </a:t>
            </a:r>
            <a:r>
              <a:rPr lang="en-IN" sz="1600" dirty="0" smtClean="0"/>
              <a:t>}  </a:t>
            </a:r>
            <a:endParaRPr lang="en-IN" sz="1600" dirty="0"/>
          </a:p>
          <a:p>
            <a:r>
              <a:rPr lang="en-IN" sz="1600" dirty="0"/>
              <a:t>     Student(</a:t>
            </a:r>
            <a:r>
              <a:rPr lang="en-IN" sz="1600" dirty="0" err="1"/>
              <a:t>int</a:t>
            </a:r>
            <a:r>
              <a:rPr lang="en-IN" sz="1600" dirty="0"/>
              <a:t> r, String n){  </a:t>
            </a:r>
          </a:p>
          <a:p>
            <a:r>
              <a:rPr lang="en-IN" sz="1600" dirty="0"/>
              <a:t>     </a:t>
            </a:r>
            <a:r>
              <a:rPr lang="en-IN" sz="1600" dirty="0" err="1"/>
              <a:t>rollno</a:t>
            </a:r>
            <a:r>
              <a:rPr lang="en-IN" sz="1600" dirty="0"/>
              <a:t> = r;  </a:t>
            </a:r>
          </a:p>
          <a:p>
            <a:r>
              <a:rPr lang="en-IN" sz="1600" dirty="0"/>
              <a:t>     name = n;  </a:t>
            </a:r>
            <a:r>
              <a:rPr lang="en-IN" sz="1600" dirty="0" smtClean="0"/>
              <a:t> </a:t>
            </a:r>
            <a:r>
              <a:rPr lang="en-IN" sz="1600" dirty="0"/>
              <a:t>}  </a:t>
            </a:r>
          </a:p>
          <a:p>
            <a:r>
              <a:rPr lang="en-IN" sz="1600" dirty="0"/>
              <a:t>     void display(){</a:t>
            </a:r>
            <a:r>
              <a:rPr lang="en-IN" sz="1600" dirty="0" err="1"/>
              <a:t>System.out.println</a:t>
            </a:r>
            <a:r>
              <a:rPr lang="en-IN" sz="1600" dirty="0"/>
              <a:t>(</a:t>
            </a:r>
            <a:r>
              <a:rPr lang="en-IN" sz="1600" dirty="0" err="1"/>
              <a:t>rollno</a:t>
            </a:r>
            <a:r>
              <a:rPr lang="en-IN" sz="1600" dirty="0"/>
              <a:t>+" "+name+" "+college);}  </a:t>
            </a:r>
            <a:r>
              <a:rPr lang="en-IN" sz="1600" dirty="0" smtClean="0"/>
              <a:t>}  </a:t>
            </a:r>
            <a:endParaRPr lang="en-IN" sz="1600" dirty="0"/>
          </a:p>
          <a:p>
            <a:r>
              <a:rPr lang="en-IN" sz="1600" dirty="0"/>
              <a:t> public class </a:t>
            </a:r>
            <a:r>
              <a:rPr lang="en-IN" sz="1600" dirty="0" err="1"/>
              <a:t>TestStaticMethod</a:t>
            </a:r>
            <a:r>
              <a:rPr lang="en-IN" sz="1600" dirty="0"/>
              <a:t>{  </a:t>
            </a:r>
          </a:p>
          <a:p>
            <a:r>
              <a:rPr lang="en-IN" sz="1600" dirty="0"/>
              <a:t>    public static void main(String </a:t>
            </a:r>
            <a:r>
              <a:rPr lang="en-IN" sz="1600" dirty="0" err="1"/>
              <a:t>args</a:t>
            </a:r>
            <a:r>
              <a:rPr lang="en-IN" sz="1600" dirty="0"/>
              <a:t>[]){  </a:t>
            </a:r>
          </a:p>
          <a:p>
            <a:r>
              <a:rPr lang="en-IN" sz="1600" dirty="0"/>
              <a:t>    </a:t>
            </a:r>
            <a:r>
              <a:rPr lang="en-IN" sz="1600" b="1" dirty="0" err="1"/>
              <a:t>Student.change</a:t>
            </a:r>
            <a:r>
              <a:rPr lang="en-IN" sz="1600" b="1" dirty="0"/>
              <a:t>(); </a:t>
            </a:r>
            <a:r>
              <a:rPr lang="en-IN" sz="1600" b="1" dirty="0" smtClean="0"/>
              <a:t>(using class to access static method) </a:t>
            </a:r>
            <a:endParaRPr lang="en-IN" sz="1600" b="1" dirty="0"/>
          </a:p>
          <a:p>
            <a:r>
              <a:rPr lang="en-IN" sz="1600" dirty="0"/>
              <a:t>    Student s1 = new Student(111,"ABC");  </a:t>
            </a:r>
          </a:p>
          <a:p>
            <a:r>
              <a:rPr lang="en-IN" sz="1600" dirty="0"/>
              <a:t>    Student s2 = new Student(222,"PQR");  </a:t>
            </a:r>
          </a:p>
          <a:p>
            <a:r>
              <a:rPr lang="en-IN" sz="1600" dirty="0"/>
              <a:t>    s1.display();  </a:t>
            </a:r>
          </a:p>
          <a:p>
            <a:r>
              <a:rPr lang="en-IN" sz="1600" dirty="0"/>
              <a:t>    s2.display();  </a:t>
            </a:r>
            <a:r>
              <a:rPr lang="en-IN" sz="1600" dirty="0" smtClean="0"/>
              <a:t>}  } </a:t>
            </a:r>
          </a:p>
          <a:p>
            <a:endParaRPr lang="en-IN" sz="1600" dirty="0"/>
          </a:p>
          <a:p>
            <a:r>
              <a:rPr lang="en-IN" sz="1600" dirty="0"/>
              <a:t>public class Calculate{  </a:t>
            </a:r>
          </a:p>
          <a:p>
            <a:r>
              <a:rPr lang="en-IN" sz="1600" dirty="0"/>
              <a:t>  static </a:t>
            </a:r>
            <a:r>
              <a:rPr lang="en-IN" sz="1600" dirty="0" err="1"/>
              <a:t>int</a:t>
            </a:r>
            <a:r>
              <a:rPr lang="en-IN" sz="1600" dirty="0"/>
              <a:t> cube(</a:t>
            </a:r>
            <a:r>
              <a:rPr lang="en-IN" sz="1600" dirty="0" err="1"/>
              <a:t>int</a:t>
            </a:r>
            <a:r>
              <a:rPr lang="en-IN" sz="1600" dirty="0"/>
              <a:t> x){  </a:t>
            </a:r>
          </a:p>
          <a:p>
            <a:r>
              <a:rPr lang="en-IN" sz="1600" dirty="0"/>
              <a:t>  return x*x*x;  </a:t>
            </a:r>
            <a:r>
              <a:rPr lang="en-IN" sz="1600" dirty="0" smtClean="0"/>
              <a:t> </a:t>
            </a:r>
            <a:r>
              <a:rPr lang="en-IN" sz="1600" dirty="0"/>
              <a:t>}  </a:t>
            </a:r>
          </a:p>
          <a:p>
            <a:r>
              <a:rPr lang="en-IN" sz="1600" dirty="0"/>
              <a:t>  </a:t>
            </a:r>
            <a:r>
              <a:rPr lang="en-IN" sz="1600" dirty="0" smtClean="0"/>
              <a:t>public </a:t>
            </a:r>
            <a:r>
              <a:rPr lang="en-IN" sz="1600" dirty="0"/>
              <a:t>static void main(String </a:t>
            </a:r>
            <a:r>
              <a:rPr lang="en-IN" sz="1600" dirty="0" err="1"/>
              <a:t>args</a:t>
            </a:r>
            <a:r>
              <a:rPr lang="en-IN" sz="1600" dirty="0"/>
              <a:t>[]){  </a:t>
            </a:r>
          </a:p>
          <a:p>
            <a:r>
              <a:rPr lang="en-IN" sz="1600" dirty="0"/>
              <a:t>  </a:t>
            </a:r>
            <a:r>
              <a:rPr lang="en-IN" sz="1600" dirty="0" err="1"/>
              <a:t>int</a:t>
            </a:r>
            <a:r>
              <a:rPr lang="en-IN" sz="1600" dirty="0"/>
              <a:t> result=</a:t>
            </a:r>
            <a:r>
              <a:rPr lang="en-IN" sz="1600" dirty="0" err="1"/>
              <a:t>Calculate.cube</a:t>
            </a:r>
            <a:r>
              <a:rPr lang="en-IN" sz="1600" dirty="0"/>
              <a:t>(5);  </a:t>
            </a:r>
          </a:p>
          <a:p>
            <a:r>
              <a:rPr lang="en-IN" sz="1600" dirty="0"/>
              <a:t>  </a:t>
            </a:r>
            <a:r>
              <a:rPr lang="en-IN" sz="1600" dirty="0" err="1"/>
              <a:t>System.out.println</a:t>
            </a:r>
            <a:r>
              <a:rPr lang="en-IN" sz="1600" dirty="0"/>
              <a:t>(result);  </a:t>
            </a:r>
          </a:p>
          <a:p>
            <a:r>
              <a:rPr lang="en-IN" sz="1600" dirty="0"/>
              <a:t>  }  </a:t>
            </a:r>
          </a:p>
          <a:p>
            <a:r>
              <a:rPr lang="en-IN" sz="1600" dirty="0"/>
              <a:t>} </a:t>
            </a:r>
            <a:endParaRPr lang="en-IN" sz="1600" dirty="0" smtClean="0"/>
          </a:p>
        </p:txBody>
      </p:sp>
      <p:pic>
        <p:nvPicPr>
          <p:cNvPr id="5" name="Picture 4"/>
          <p:cNvPicPr>
            <a:picLocks noChangeAspect="1"/>
          </p:cNvPicPr>
          <p:nvPr/>
        </p:nvPicPr>
        <p:blipFill>
          <a:blip r:embed="rId2"/>
          <a:stretch>
            <a:fillRect/>
          </a:stretch>
        </p:blipFill>
        <p:spPr>
          <a:xfrm>
            <a:off x="3729038" y="3893267"/>
            <a:ext cx="2705099" cy="1293096"/>
          </a:xfrm>
          <a:prstGeom prst="rect">
            <a:avLst/>
          </a:prstGeom>
        </p:spPr>
      </p:pic>
      <p:pic>
        <p:nvPicPr>
          <p:cNvPr id="6" name="Picture 5"/>
          <p:cNvPicPr>
            <a:picLocks noChangeAspect="1"/>
          </p:cNvPicPr>
          <p:nvPr/>
        </p:nvPicPr>
        <p:blipFill>
          <a:blip r:embed="rId3"/>
          <a:stretch>
            <a:fillRect/>
          </a:stretch>
        </p:blipFill>
        <p:spPr>
          <a:xfrm>
            <a:off x="9315450" y="6162675"/>
            <a:ext cx="2876550" cy="419100"/>
          </a:xfrm>
          <a:prstGeom prst="rect">
            <a:avLst/>
          </a:prstGeom>
        </p:spPr>
      </p:pic>
      <p:pic>
        <p:nvPicPr>
          <p:cNvPr id="7" name="Picture 6"/>
          <p:cNvPicPr>
            <a:picLocks noChangeAspect="1"/>
          </p:cNvPicPr>
          <p:nvPr/>
        </p:nvPicPr>
        <p:blipFill>
          <a:blip r:embed="rId4"/>
          <a:stretch>
            <a:fillRect/>
          </a:stretch>
        </p:blipFill>
        <p:spPr>
          <a:xfrm>
            <a:off x="8840666" y="1521240"/>
            <a:ext cx="3351334" cy="647700"/>
          </a:xfrm>
          <a:prstGeom prst="rect">
            <a:avLst/>
          </a:prstGeom>
        </p:spPr>
      </p:pic>
    </p:spTree>
    <p:extLst>
      <p:ext uri="{BB962C8B-B14F-4D97-AF65-F5344CB8AC3E}">
        <p14:creationId xmlns:p14="http://schemas.microsoft.com/office/powerpoint/2010/main" val="256997623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a:t>A supermarket application needs to </a:t>
            </a:r>
            <a:r>
              <a:rPr lang="en-US" sz="2000" b="1" dirty="0"/>
              <a:t>calculate the total bill</a:t>
            </a:r>
            <a:r>
              <a:rPr lang="en-US" sz="2000" dirty="0"/>
              <a:t> by applying </a:t>
            </a:r>
            <a:r>
              <a:rPr lang="en-US" sz="2000" b="1" dirty="0"/>
              <a:t>GST (Goods and Services Tax)</a:t>
            </a:r>
            <a:r>
              <a:rPr lang="en-US" sz="2000" dirty="0"/>
              <a:t> or other common charges </a:t>
            </a:r>
            <a:r>
              <a:rPr lang="en-US" sz="2000" b="1" dirty="0"/>
              <a:t>across all bills</a:t>
            </a:r>
            <a:r>
              <a:rPr lang="en-US" sz="2000" dirty="0"/>
              <a:t>, but the tax rate is fixed and the logic doesn't depend on any specific customer's data.</a:t>
            </a:r>
            <a:endParaRPr lang="en-IN" sz="2000" dirty="0"/>
          </a:p>
        </p:txBody>
      </p:sp>
      <p:sp>
        <p:nvSpPr>
          <p:cNvPr id="3" name="Content Placeholder 2"/>
          <p:cNvSpPr>
            <a:spLocks noGrp="1"/>
          </p:cNvSpPr>
          <p:nvPr>
            <p:ph sz="half" idx="1"/>
          </p:nvPr>
        </p:nvSpPr>
        <p:spPr/>
        <p:txBody>
          <a:bodyPr>
            <a:normAutofit fontScale="70000" lnSpcReduction="20000"/>
          </a:bodyPr>
          <a:lstStyle/>
          <a:p>
            <a:pPr marL="0" indent="0">
              <a:buNone/>
            </a:pPr>
            <a:r>
              <a:rPr lang="en-US" dirty="0"/>
              <a:t>class </a:t>
            </a:r>
            <a:r>
              <a:rPr lang="en-US" dirty="0" err="1"/>
              <a:t>BillingUtil</a:t>
            </a:r>
            <a:r>
              <a:rPr lang="en-US" dirty="0"/>
              <a:t> {</a:t>
            </a:r>
          </a:p>
          <a:p>
            <a:pPr marL="0" indent="0">
              <a:buNone/>
            </a:pPr>
            <a:r>
              <a:rPr lang="en-US" dirty="0"/>
              <a:t>    static double GST_RATE = 0.18; // 18% GST</a:t>
            </a:r>
          </a:p>
          <a:p>
            <a:pPr marL="0" indent="0">
              <a:buNone/>
            </a:pPr>
            <a:endParaRPr lang="en-US" dirty="0"/>
          </a:p>
          <a:p>
            <a:pPr marL="0" indent="0">
              <a:buNone/>
            </a:pPr>
            <a:r>
              <a:rPr lang="en-US" dirty="0"/>
              <a:t>    // Static method to calculate final amount after tax</a:t>
            </a:r>
          </a:p>
          <a:p>
            <a:pPr marL="0" indent="0">
              <a:buNone/>
            </a:pPr>
            <a:r>
              <a:rPr lang="en-US" dirty="0"/>
              <a:t>    public static double </a:t>
            </a:r>
            <a:r>
              <a:rPr lang="en-US" dirty="0" err="1"/>
              <a:t>calculateFinalAmount</a:t>
            </a:r>
            <a:r>
              <a:rPr lang="en-US" dirty="0"/>
              <a:t>(double amount) {</a:t>
            </a:r>
          </a:p>
          <a:p>
            <a:pPr marL="0" indent="0">
              <a:buNone/>
            </a:pPr>
            <a:r>
              <a:rPr lang="en-US" dirty="0"/>
              <a:t>        return amount + (amount * GST_RATE);</a:t>
            </a:r>
          </a:p>
          <a:p>
            <a:pPr marL="0" indent="0">
              <a:buNone/>
            </a:pPr>
            <a:r>
              <a:rPr lang="en-US" dirty="0"/>
              <a:t>    }</a:t>
            </a:r>
          </a:p>
          <a:p>
            <a:pPr marL="0" indent="0">
              <a:buNone/>
            </a:pPr>
            <a:r>
              <a:rPr lang="en-US" dirty="0"/>
              <a:t>}</a:t>
            </a:r>
          </a:p>
          <a:p>
            <a:pPr marL="0" indent="0">
              <a:buNone/>
            </a:pPr>
            <a:endParaRPr lang="en-IN" dirty="0"/>
          </a:p>
        </p:txBody>
      </p:sp>
      <p:sp>
        <p:nvSpPr>
          <p:cNvPr id="4" name="Content Placeholder 3"/>
          <p:cNvSpPr>
            <a:spLocks noGrp="1"/>
          </p:cNvSpPr>
          <p:nvPr>
            <p:ph sz="half" idx="2"/>
          </p:nvPr>
        </p:nvSpPr>
        <p:spPr/>
        <p:txBody>
          <a:bodyPr>
            <a:normAutofit fontScale="70000" lnSpcReduction="20000"/>
          </a:bodyPr>
          <a:lstStyle/>
          <a:p>
            <a:pPr marL="0" indent="0">
              <a:buNone/>
            </a:pPr>
            <a:r>
              <a:rPr lang="en-IN" dirty="0"/>
              <a:t>public class Supermarket {</a:t>
            </a:r>
          </a:p>
          <a:p>
            <a:pPr marL="0" indent="0">
              <a:buNone/>
            </a:pPr>
            <a:r>
              <a:rPr lang="en-IN" dirty="0"/>
              <a:t>    public static void main(String[] </a:t>
            </a:r>
            <a:r>
              <a:rPr lang="en-IN" dirty="0" err="1"/>
              <a:t>args</a:t>
            </a:r>
            <a:r>
              <a:rPr lang="en-IN" dirty="0"/>
              <a:t>) {</a:t>
            </a:r>
          </a:p>
          <a:p>
            <a:pPr marL="0" indent="0">
              <a:buNone/>
            </a:pPr>
            <a:r>
              <a:rPr lang="en-IN" dirty="0"/>
              <a:t>        double bill1 = 1000;</a:t>
            </a:r>
          </a:p>
          <a:p>
            <a:pPr marL="0" indent="0">
              <a:buNone/>
            </a:pPr>
            <a:r>
              <a:rPr lang="en-IN" dirty="0"/>
              <a:t>        double final1 = </a:t>
            </a:r>
            <a:r>
              <a:rPr lang="en-IN" dirty="0" err="1"/>
              <a:t>BillingUtil.calculateFinalAmount</a:t>
            </a:r>
            <a:r>
              <a:rPr lang="en-IN" dirty="0"/>
              <a:t>(bill1);</a:t>
            </a:r>
          </a:p>
          <a:p>
            <a:pPr marL="0" indent="0">
              <a:buNone/>
            </a:pPr>
            <a:r>
              <a:rPr lang="en-IN" dirty="0"/>
              <a:t>        </a:t>
            </a:r>
            <a:r>
              <a:rPr lang="en-IN" dirty="0" err="1"/>
              <a:t>System.out.println</a:t>
            </a:r>
            <a:r>
              <a:rPr lang="en-IN" dirty="0"/>
              <a:t>("Final bill: ₹" + final1);</a:t>
            </a:r>
          </a:p>
          <a:p>
            <a:pPr marL="0" indent="0">
              <a:buNone/>
            </a:pPr>
            <a:endParaRPr lang="en-IN" dirty="0"/>
          </a:p>
          <a:p>
            <a:pPr marL="0" indent="0">
              <a:buNone/>
            </a:pPr>
            <a:r>
              <a:rPr lang="en-IN" dirty="0"/>
              <a:t>        double bill2 = 500;</a:t>
            </a:r>
          </a:p>
          <a:p>
            <a:pPr marL="0" indent="0">
              <a:buNone/>
            </a:pPr>
            <a:r>
              <a:rPr lang="en-IN" dirty="0"/>
              <a:t>        double final2 = </a:t>
            </a:r>
            <a:r>
              <a:rPr lang="en-IN" dirty="0" err="1"/>
              <a:t>BillingUtil.calculateFinalAmount</a:t>
            </a:r>
            <a:r>
              <a:rPr lang="en-IN" dirty="0"/>
              <a:t>(bill2);</a:t>
            </a:r>
          </a:p>
          <a:p>
            <a:pPr marL="0" indent="0">
              <a:buNone/>
            </a:pPr>
            <a:r>
              <a:rPr lang="en-IN" dirty="0"/>
              <a:t>        </a:t>
            </a:r>
            <a:r>
              <a:rPr lang="en-IN" dirty="0" err="1"/>
              <a:t>System.out.println</a:t>
            </a:r>
            <a:r>
              <a:rPr lang="en-IN" dirty="0"/>
              <a:t>("Final bill: ₹" + final2);</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9398824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Java-Static Keyword</a:t>
            </a:r>
            <a:endParaRPr lang="en-US" dirty="0"/>
          </a:p>
        </p:txBody>
      </p:sp>
      <p:sp>
        <p:nvSpPr>
          <p:cNvPr id="3" name="Content Placeholder 2"/>
          <p:cNvSpPr>
            <a:spLocks noGrp="1"/>
          </p:cNvSpPr>
          <p:nvPr>
            <p:ph sz="half" idx="1"/>
          </p:nvPr>
        </p:nvSpPr>
        <p:spPr>
          <a:xfrm>
            <a:off x="134814" y="394529"/>
            <a:ext cx="6437436" cy="6343895"/>
          </a:xfrm>
        </p:spPr>
        <p:txBody>
          <a:bodyPr>
            <a:noAutofit/>
          </a:bodyPr>
          <a:lstStyle/>
          <a:p>
            <a:pPr marL="0" indent="0">
              <a:buNone/>
            </a:pPr>
            <a:r>
              <a:rPr lang="en-IN" sz="1800" b="1" dirty="0"/>
              <a:t>S</a:t>
            </a:r>
            <a:r>
              <a:rPr lang="en-IN" sz="1800" b="1" dirty="0" smtClean="0"/>
              <a:t>tatic </a:t>
            </a:r>
            <a:r>
              <a:rPr lang="en-IN" sz="1800" b="1" dirty="0"/>
              <a:t>block</a:t>
            </a:r>
          </a:p>
          <a:p>
            <a:r>
              <a:rPr lang="en-IN" sz="1800" dirty="0"/>
              <a:t>Is used to initialize the static data member.</a:t>
            </a:r>
          </a:p>
          <a:p>
            <a:r>
              <a:rPr lang="en-IN" sz="1800" dirty="0"/>
              <a:t>It is executed before the main method at the time of </a:t>
            </a:r>
            <a:r>
              <a:rPr lang="en-IN" sz="1800" dirty="0" err="1"/>
              <a:t>classloading</a:t>
            </a:r>
            <a:r>
              <a:rPr lang="en-IN" sz="1800" dirty="0" smtClean="0"/>
              <a:t>.</a:t>
            </a:r>
          </a:p>
          <a:p>
            <a:pPr marL="0" indent="0">
              <a:buNone/>
            </a:pPr>
            <a:endParaRPr lang="en-IN" sz="1800" dirty="0" smtClean="0"/>
          </a:p>
          <a:p>
            <a:pPr marL="0" indent="0">
              <a:spcBef>
                <a:spcPts val="0"/>
              </a:spcBef>
              <a:buNone/>
            </a:pPr>
            <a:r>
              <a:rPr lang="en-IN" sz="1800" dirty="0"/>
              <a:t>public class test{  </a:t>
            </a:r>
          </a:p>
          <a:p>
            <a:pPr marL="0" indent="0">
              <a:spcBef>
                <a:spcPts val="0"/>
              </a:spcBef>
              <a:buNone/>
            </a:pPr>
            <a:r>
              <a:rPr lang="en-IN" sz="1800" dirty="0"/>
              <a:t>  static{</a:t>
            </a:r>
            <a:r>
              <a:rPr lang="en-IN" sz="1800" dirty="0" err="1"/>
              <a:t>System.out.println</a:t>
            </a:r>
            <a:r>
              <a:rPr lang="en-IN" sz="1800" dirty="0"/>
              <a:t>("static block is invoked");}  </a:t>
            </a:r>
          </a:p>
          <a:p>
            <a:pPr marL="0" indent="0">
              <a:spcBef>
                <a:spcPts val="0"/>
              </a:spcBef>
              <a:buNone/>
            </a:pPr>
            <a:r>
              <a:rPr lang="en-IN" sz="1800" dirty="0"/>
              <a:t>  public static void main(String </a:t>
            </a:r>
            <a:r>
              <a:rPr lang="en-IN" sz="1800" dirty="0" err="1"/>
              <a:t>args</a:t>
            </a:r>
            <a:r>
              <a:rPr lang="en-IN" sz="1800" dirty="0"/>
              <a:t>[]){  </a:t>
            </a:r>
          </a:p>
          <a:p>
            <a:pPr marL="0" indent="0">
              <a:spcBef>
                <a:spcPts val="0"/>
              </a:spcBef>
              <a:buNone/>
            </a:pPr>
            <a:r>
              <a:rPr lang="en-IN" sz="1800" dirty="0"/>
              <a:t>   </a:t>
            </a:r>
            <a:r>
              <a:rPr lang="en-IN" sz="1800" dirty="0" err="1"/>
              <a:t>System.out.println</a:t>
            </a:r>
            <a:r>
              <a:rPr lang="en-IN" sz="1800" dirty="0"/>
              <a:t>("Main method is invoked");  </a:t>
            </a:r>
          </a:p>
          <a:p>
            <a:pPr marL="0" indent="0">
              <a:spcBef>
                <a:spcPts val="0"/>
              </a:spcBef>
              <a:buNone/>
            </a:pPr>
            <a:r>
              <a:rPr lang="en-IN" sz="1800" dirty="0"/>
              <a:t>  }  </a:t>
            </a:r>
          </a:p>
          <a:p>
            <a:pPr marL="0" indent="0">
              <a:spcBef>
                <a:spcPts val="0"/>
              </a:spcBef>
              <a:buNone/>
            </a:pPr>
            <a:r>
              <a:rPr lang="en-IN" sz="1800" dirty="0"/>
              <a:t>} </a:t>
            </a:r>
            <a:endParaRPr lang="en-IN" sz="1800" dirty="0" smtClean="0"/>
          </a:p>
          <a:p>
            <a:pPr marL="0" indent="0">
              <a:buNone/>
            </a:pPr>
            <a:r>
              <a:rPr lang="en-IN" sz="1800" dirty="0" smtClean="0"/>
              <a:t>In new versions of JDK, </a:t>
            </a:r>
            <a:r>
              <a:rPr lang="en-IN" sz="1800" dirty="0"/>
              <a:t>it is not possible to execute a Java class </a:t>
            </a:r>
            <a:r>
              <a:rPr lang="en-IN" sz="1800" dirty="0" smtClean="0"/>
              <a:t>without </a:t>
            </a:r>
            <a:r>
              <a:rPr lang="en-IN" sz="1800" dirty="0"/>
              <a:t>the main method</a:t>
            </a:r>
            <a:r>
              <a:rPr lang="en-IN" sz="1800" dirty="0" smtClean="0"/>
              <a:t>.</a:t>
            </a:r>
          </a:p>
          <a:p>
            <a:pPr marL="0" indent="0">
              <a:buNone/>
            </a:pPr>
            <a:endParaRPr lang="en-IN" sz="1800" dirty="0" smtClean="0"/>
          </a:p>
          <a:p>
            <a:pPr marL="0" indent="0">
              <a:spcBef>
                <a:spcPts val="0"/>
              </a:spcBef>
              <a:buNone/>
            </a:pPr>
            <a:r>
              <a:rPr lang="en-IN" sz="1800" dirty="0"/>
              <a:t>public class </a:t>
            </a:r>
            <a:r>
              <a:rPr lang="en-IN" sz="1800" dirty="0" smtClean="0"/>
              <a:t>test{  </a:t>
            </a:r>
            <a:endParaRPr lang="en-IN" sz="1800" dirty="0"/>
          </a:p>
          <a:p>
            <a:pPr marL="0" indent="0">
              <a:spcBef>
                <a:spcPts val="0"/>
              </a:spcBef>
              <a:buNone/>
            </a:pPr>
            <a:r>
              <a:rPr lang="en-IN" sz="1800" dirty="0"/>
              <a:t>  static{  </a:t>
            </a:r>
          </a:p>
          <a:p>
            <a:pPr marL="0" indent="0">
              <a:spcBef>
                <a:spcPts val="0"/>
              </a:spcBef>
              <a:buNone/>
            </a:pPr>
            <a:r>
              <a:rPr lang="en-IN" sz="1800" dirty="0"/>
              <a:t>  </a:t>
            </a:r>
            <a:r>
              <a:rPr lang="en-IN" sz="1800" dirty="0" err="1"/>
              <a:t>System.out.println</a:t>
            </a:r>
            <a:r>
              <a:rPr lang="en-IN" sz="1800" dirty="0"/>
              <a:t>("static block is invoked");  </a:t>
            </a:r>
          </a:p>
          <a:p>
            <a:pPr marL="0" indent="0">
              <a:spcBef>
                <a:spcPts val="0"/>
              </a:spcBef>
              <a:buNone/>
            </a:pPr>
            <a:r>
              <a:rPr lang="en-IN" sz="1800" dirty="0"/>
              <a:t>  </a:t>
            </a:r>
            <a:r>
              <a:rPr lang="en-IN" sz="1800" dirty="0" err="1"/>
              <a:t>System.exit</a:t>
            </a:r>
            <a:r>
              <a:rPr lang="en-IN" sz="1800" dirty="0"/>
              <a:t>(0);  </a:t>
            </a:r>
          </a:p>
          <a:p>
            <a:pPr marL="0" indent="0">
              <a:spcBef>
                <a:spcPts val="0"/>
              </a:spcBef>
              <a:buNone/>
            </a:pPr>
            <a:r>
              <a:rPr lang="en-IN" sz="1800" dirty="0"/>
              <a:t>  }  </a:t>
            </a:r>
          </a:p>
          <a:p>
            <a:pPr marL="0" indent="0">
              <a:spcBef>
                <a:spcPts val="0"/>
              </a:spcBef>
              <a:buNone/>
            </a:pPr>
            <a:r>
              <a:rPr lang="en-IN" sz="1800" dirty="0"/>
              <a:t>} </a:t>
            </a:r>
          </a:p>
        </p:txBody>
      </p:sp>
      <p:sp>
        <p:nvSpPr>
          <p:cNvPr id="4" name="TextBox 3"/>
          <p:cNvSpPr txBox="1"/>
          <p:nvPr/>
        </p:nvSpPr>
        <p:spPr>
          <a:xfrm>
            <a:off x="6157913" y="0"/>
            <a:ext cx="6034087" cy="5632311"/>
          </a:xfrm>
          <a:prstGeom prst="rect">
            <a:avLst/>
          </a:prstGeom>
          <a:noFill/>
        </p:spPr>
        <p:txBody>
          <a:bodyPr wrap="square" rtlCol="0">
            <a:spAutoFit/>
          </a:bodyPr>
          <a:lstStyle/>
          <a:p>
            <a:r>
              <a:rPr lang="en-IN" b="1" dirty="0" smtClean="0"/>
              <a:t>Method Overloading</a:t>
            </a:r>
            <a:r>
              <a:rPr lang="en-IN" dirty="0" smtClean="0"/>
              <a:t>-If a</a:t>
            </a:r>
            <a:r>
              <a:rPr lang="en-IN" dirty="0"/>
              <a:t> class has multiple methods having same name </a:t>
            </a:r>
            <a:r>
              <a:rPr lang="en-IN" dirty="0" smtClean="0"/>
              <a:t>but </a:t>
            </a:r>
            <a:r>
              <a:rPr lang="en-IN" dirty="0"/>
              <a:t>different in </a:t>
            </a:r>
            <a:r>
              <a:rPr lang="en-IN" dirty="0" smtClean="0"/>
              <a:t>parameters.</a:t>
            </a:r>
          </a:p>
          <a:p>
            <a:pPr marL="285750" indent="-285750" algn="just">
              <a:buFont typeface="Arial" panose="020B0604020202020204" pitchFamily="34" charset="0"/>
              <a:buChar char="•"/>
            </a:pPr>
            <a:r>
              <a:rPr lang="en-IN" dirty="0" smtClean="0"/>
              <a:t>If </a:t>
            </a:r>
            <a:r>
              <a:rPr lang="en-IN" dirty="0"/>
              <a:t>we </a:t>
            </a:r>
            <a:r>
              <a:rPr lang="en-IN" dirty="0" smtClean="0"/>
              <a:t>need </a:t>
            </a:r>
            <a:r>
              <a:rPr lang="en-IN" dirty="0"/>
              <a:t>to perform only one operation, having same name of the methods increases the readability of the program</a:t>
            </a:r>
            <a:r>
              <a:rPr lang="en-IN" dirty="0" smtClean="0"/>
              <a:t>.</a:t>
            </a:r>
          </a:p>
          <a:p>
            <a:pPr marL="285750" indent="-285750" algn="just">
              <a:buFont typeface="Arial" panose="020B0604020202020204" pitchFamily="34" charset="0"/>
              <a:buChar char="•"/>
            </a:pPr>
            <a:r>
              <a:rPr lang="en-IN" dirty="0" err="1" smtClean="0"/>
              <a:t>Eg</a:t>
            </a:r>
            <a:r>
              <a:rPr lang="en-IN" dirty="0" smtClean="0"/>
              <a:t>. </a:t>
            </a:r>
            <a:r>
              <a:rPr lang="en-IN" dirty="0"/>
              <a:t>T</a:t>
            </a:r>
            <a:r>
              <a:rPr lang="en-IN" dirty="0" smtClean="0"/>
              <a:t>o </a:t>
            </a:r>
            <a:r>
              <a:rPr lang="en-IN" dirty="0"/>
              <a:t>perform addition of the given numbers but there can be any number of </a:t>
            </a:r>
            <a:r>
              <a:rPr lang="en-IN" dirty="0" smtClean="0"/>
              <a:t>arguments.</a:t>
            </a:r>
          </a:p>
          <a:p>
            <a:pPr marL="285750" indent="-285750" algn="just">
              <a:buFont typeface="Arial" panose="020B0604020202020204" pitchFamily="34" charset="0"/>
              <a:buChar char="•"/>
            </a:pPr>
            <a:r>
              <a:rPr lang="en-IN" dirty="0" err="1" smtClean="0"/>
              <a:t>Eg</a:t>
            </a:r>
            <a:r>
              <a:rPr lang="en-IN" dirty="0" smtClean="0"/>
              <a:t>. a(</a:t>
            </a:r>
            <a:r>
              <a:rPr lang="en-IN" dirty="0" err="1" smtClean="0"/>
              <a:t>int,int</a:t>
            </a:r>
            <a:r>
              <a:rPr lang="en-IN" dirty="0"/>
              <a:t>) for two parameters, and b(</a:t>
            </a:r>
            <a:r>
              <a:rPr lang="en-IN" dirty="0" err="1"/>
              <a:t>int,int,int</a:t>
            </a:r>
            <a:r>
              <a:rPr lang="en-IN" dirty="0"/>
              <a:t>) for three parameters then it may be difficult </a:t>
            </a:r>
            <a:r>
              <a:rPr lang="en-IN" dirty="0" smtClean="0"/>
              <a:t>to </a:t>
            </a:r>
            <a:r>
              <a:rPr lang="en-IN" dirty="0"/>
              <a:t>understand the </a:t>
            </a:r>
            <a:r>
              <a:rPr lang="en-IN" dirty="0" err="1"/>
              <a:t>behavior</a:t>
            </a:r>
            <a:r>
              <a:rPr lang="en-IN" dirty="0"/>
              <a:t> of the method because its name differs</a:t>
            </a:r>
            <a:r>
              <a:rPr lang="en-IN" dirty="0" smtClean="0"/>
              <a:t>.</a:t>
            </a:r>
          </a:p>
          <a:p>
            <a:pPr marL="285750" indent="-285750" algn="just">
              <a:buFont typeface="Arial" panose="020B0604020202020204" pitchFamily="34" charset="0"/>
              <a:buChar char="•"/>
            </a:pPr>
            <a:r>
              <a:rPr lang="en-IN" dirty="0"/>
              <a:t>Method Overloading is not possible by changing the return type of the method only.</a:t>
            </a:r>
          </a:p>
          <a:p>
            <a:endParaRPr lang="en-IN" b="1" dirty="0"/>
          </a:p>
          <a:p>
            <a:r>
              <a:rPr lang="en-IN" b="1" dirty="0" smtClean="0"/>
              <a:t>Advantage </a:t>
            </a:r>
            <a:r>
              <a:rPr lang="en-IN" b="1" dirty="0"/>
              <a:t>of method overloading</a:t>
            </a:r>
          </a:p>
          <a:p>
            <a:r>
              <a:rPr lang="en-IN" dirty="0"/>
              <a:t>Method overloading </a:t>
            </a:r>
            <a:r>
              <a:rPr lang="en-IN" i="1" dirty="0"/>
              <a:t>increases the readability of the program</a:t>
            </a:r>
            <a:r>
              <a:rPr lang="en-IN" dirty="0" smtClean="0"/>
              <a:t>.</a:t>
            </a:r>
          </a:p>
          <a:p>
            <a:endParaRPr lang="en-IN" dirty="0"/>
          </a:p>
          <a:p>
            <a:r>
              <a:rPr lang="en-IN" dirty="0"/>
              <a:t>Different ways to overload the method</a:t>
            </a:r>
          </a:p>
          <a:p>
            <a:pPr marL="285750" indent="-285750">
              <a:buFont typeface="Arial" panose="020B0604020202020204" pitchFamily="34" charset="0"/>
              <a:buChar char="•"/>
            </a:pPr>
            <a:r>
              <a:rPr lang="en-IN" dirty="0" smtClean="0"/>
              <a:t>By </a:t>
            </a:r>
            <a:r>
              <a:rPr lang="en-IN" dirty="0"/>
              <a:t>changing number of arguments</a:t>
            </a:r>
          </a:p>
          <a:p>
            <a:pPr marL="285750" indent="-285750">
              <a:buFont typeface="Arial" panose="020B0604020202020204" pitchFamily="34" charset="0"/>
              <a:buChar char="•"/>
            </a:pPr>
            <a:r>
              <a:rPr lang="en-IN" dirty="0"/>
              <a:t>By changing the data type</a:t>
            </a:r>
          </a:p>
          <a:p>
            <a:endParaRPr lang="en-IN" dirty="0"/>
          </a:p>
        </p:txBody>
      </p:sp>
      <p:pic>
        <p:nvPicPr>
          <p:cNvPr id="5" name="Picture 4"/>
          <p:cNvPicPr>
            <a:picLocks noChangeAspect="1"/>
          </p:cNvPicPr>
          <p:nvPr/>
        </p:nvPicPr>
        <p:blipFill>
          <a:blip r:embed="rId2"/>
          <a:stretch>
            <a:fillRect/>
          </a:stretch>
        </p:blipFill>
        <p:spPr>
          <a:xfrm>
            <a:off x="3353532" y="3109912"/>
            <a:ext cx="2352675" cy="519979"/>
          </a:xfrm>
          <a:prstGeom prst="rect">
            <a:avLst/>
          </a:prstGeom>
        </p:spPr>
      </p:pic>
    </p:spTree>
    <p:extLst>
      <p:ext uri="{BB962C8B-B14F-4D97-AF65-F5344CB8AC3E}">
        <p14:creationId xmlns:p14="http://schemas.microsoft.com/office/powerpoint/2010/main" val="417176360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Java-Method Overloading</a:t>
            </a:r>
            <a:endParaRPr lang="en-US" dirty="0"/>
          </a:p>
        </p:txBody>
      </p:sp>
      <p:sp>
        <p:nvSpPr>
          <p:cNvPr id="3" name="Content Placeholder 2"/>
          <p:cNvSpPr>
            <a:spLocks noGrp="1"/>
          </p:cNvSpPr>
          <p:nvPr>
            <p:ph sz="half" idx="1"/>
          </p:nvPr>
        </p:nvSpPr>
        <p:spPr>
          <a:xfrm>
            <a:off x="134814" y="394529"/>
            <a:ext cx="6437436" cy="6343895"/>
          </a:xfrm>
        </p:spPr>
        <p:txBody>
          <a:bodyPr>
            <a:noAutofit/>
          </a:bodyPr>
          <a:lstStyle/>
          <a:p>
            <a:pPr marL="0" indent="0">
              <a:buNone/>
            </a:pPr>
            <a:r>
              <a:rPr lang="en-IN" sz="1800" b="1" dirty="0"/>
              <a:t>Method Overloading</a:t>
            </a:r>
            <a:r>
              <a:rPr lang="en-IN" sz="1800" dirty="0"/>
              <a:t>: changing no. of arguments</a:t>
            </a:r>
          </a:p>
          <a:p>
            <a:pPr marL="0" indent="0">
              <a:buNone/>
            </a:pPr>
            <a:r>
              <a:rPr lang="en-IN" sz="1800" dirty="0"/>
              <a:t>T</a:t>
            </a:r>
            <a:r>
              <a:rPr lang="en-IN" sz="1800" dirty="0" smtClean="0"/>
              <a:t>wo </a:t>
            </a:r>
            <a:r>
              <a:rPr lang="en-IN" sz="1800" dirty="0"/>
              <a:t>methods, first add() method performs addition of two numbers and second add method performs addition of three numbers</a:t>
            </a:r>
            <a:r>
              <a:rPr lang="en-IN" sz="1800" dirty="0" smtClean="0"/>
              <a:t>.</a:t>
            </a:r>
          </a:p>
          <a:p>
            <a:pPr marL="0" indent="0">
              <a:buNone/>
            </a:pPr>
            <a:r>
              <a:rPr lang="en-IN" sz="1800" dirty="0"/>
              <a:t>class Adder{  </a:t>
            </a:r>
          </a:p>
          <a:p>
            <a:pPr marL="0" indent="0">
              <a:buNone/>
            </a:pPr>
            <a:r>
              <a:rPr lang="en-IN" sz="1800" dirty="0" err="1"/>
              <a:t>int</a:t>
            </a:r>
            <a:r>
              <a:rPr lang="en-IN" sz="1800" dirty="0"/>
              <a:t> add(</a:t>
            </a:r>
            <a:r>
              <a:rPr lang="en-IN" sz="1800" dirty="0" err="1"/>
              <a:t>int</a:t>
            </a:r>
            <a:r>
              <a:rPr lang="en-IN" sz="1800" dirty="0"/>
              <a:t> </a:t>
            </a:r>
            <a:r>
              <a:rPr lang="en-IN" sz="1800" dirty="0" err="1"/>
              <a:t>a,int</a:t>
            </a:r>
            <a:r>
              <a:rPr lang="en-IN" sz="1800" dirty="0"/>
              <a:t> b){return </a:t>
            </a:r>
            <a:r>
              <a:rPr lang="en-IN" sz="1800" dirty="0" err="1"/>
              <a:t>a+b</a:t>
            </a:r>
            <a:r>
              <a:rPr lang="en-IN" sz="1800" dirty="0"/>
              <a:t>;}  </a:t>
            </a:r>
          </a:p>
          <a:p>
            <a:pPr marL="0" indent="0">
              <a:buNone/>
            </a:pPr>
            <a:r>
              <a:rPr lang="en-IN" sz="1800" dirty="0" err="1"/>
              <a:t>int</a:t>
            </a:r>
            <a:r>
              <a:rPr lang="en-IN" sz="1800" dirty="0"/>
              <a:t> add(</a:t>
            </a:r>
            <a:r>
              <a:rPr lang="en-IN" sz="1800" dirty="0" err="1"/>
              <a:t>int</a:t>
            </a:r>
            <a:r>
              <a:rPr lang="en-IN" sz="1800" dirty="0"/>
              <a:t> </a:t>
            </a:r>
            <a:r>
              <a:rPr lang="en-IN" sz="1800" dirty="0" err="1"/>
              <a:t>a,int</a:t>
            </a:r>
            <a:r>
              <a:rPr lang="en-IN" sz="1800" dirty="0"/>
              <a:t> </a:t>
            </a:r>
            <a:r>
              <a:rPr lang="en-IN" sz="1800" dirty="0" err="1"/>
              <a:t>b,int</a:t>
            </a:r>
            <a:r>
              <a:rPr lang="en-IN" sz="1800" dirty="0"/>
              <a:t> c){return </a:t>
            </a:r>
            <a:r>
              <a:rPr lang="en-IN" sz="1800" dirty="0" err="1"/>
              <a:t>a+b+c</a:t>
            </a:r>
            <a:r>
              <a:rPr lang="en-IN" sz="1800" dirty="0"/>
              <a:t>;}  </a:t>
            </a:r>
          </a:p>
          <a:p>
            <a:pPr marL="0" indent="0">
              <a:buNone/>
            </a:pPr>
            <a:r>
              <a:rPr lang="en-IN" sz="1800" dirty="0"/>
              <a:t>}  </a:t>
            </a:r>
          </a:p>
          <a:p>
            <a:pPr marL="0" indent="0">
              <a:buNone/>
            </a:pPr>
            <a:r>
              <a:rPr lang="en-IN" sz="1800" dirty="0"/>
              <a:t>public class TestOverloading1{  </a:t>
            </a:r>
          </a:p>
          <a:p>
            <a:pPr marL="0" indent="0">
              <a:buNone/>
            </a:pPr>
            <a:r>
              <a:rPr lang="en-IN" sz="1800" dirty="0"/>
              <a:t>public static void main(String[] </a:t>
            </a:r>
            <a:r>
              <a:rPr lang="en-IN" sz="1800" dirty="0" err="1"/>
              <a:t>args</a:t>
            </a:r>
            <a:r>
              <a:rPr lang="en-IN" sz="1800" dirty="0"/>
              <a:t>){  </a:t>
            </a:r>
          </a:p>
          <a:p>
            <a:pPr marL="0" indent="0">
              <a:buNone/>
            </a:pPr>
            <a:r>
              <a:rPr lang="en-IN" sz="1800" dirty="0"/>
              <a:t>    Adder a= new Adder();</a:t>
            </a:r>
          </a:p>
          <a:p>
            <a:pPr marL="0" indent="0">
              <a:buNone/>
            </a:pPr>
            <a:r>
              <a:rPr lang="en-IN" sz="1800" dirty="0" err="1"/>
              <a:t>System.out.println</a:t>
            </a:r>
            <a:r>
              <a:rPr lang="en-IN" sz="1800" dirty="0"/>
              <a:t>(</a:t>
            </a:r>
            <a:r>
              <a:rPr lang="en-IN" sz="1800" dirty="0" err="1"/>
              <a:t>a.add</a:t>
            </a:r>
            <a:r>
              <a:rPr lang="en-IN" sz="1800" dirty="0"/>
              <a:t>(11,11));  </a:t>
            </a:r>
          </a:p>
          <a:p>
            <a:pPr marL="0" indent="0">
              <a:buNone/>
            </a:pPr>
            <a:r>
              <a:rPr lang="en-IN" sz="1800" dirty="0" err="1"/>
              <a:t>System.out.println</a:t>
            </a:r>
            <a:r>
              <a:rPr lang="en-IN" sz="1800" dirty="0"/>
              <a:t>(</a:t>
            </a:r>
            <a:r>
              <a:rPr lang="en-IN" sz="1800" dirty="0" err="1"/>
              <a:t>a.add</a:t>
            </a:r>
            <a:r>
              <a:rPr lang="en-IN" sz="1800" dirty="0"/>
              <a:t>(11,11,11));  </a:t>
            </a:r>
          </a:p>
          <a:p>
            <a:pPr marL="0" indent="0">
              <a:buNone/>
            </a:pPr>
            <a:r>
              <a:rPr lang="en-IN" sz="1800" dirty="0"/>
              <a:t>}} </a:t>
            </a:r>
          </a:p>
        </p:txBody>
      </p:sp>
      <p:sp>
        <p:nvSpPr>
          <p:cNvPr id="4" name="TextBox 3"/>
          <p:cNvSpPr txBox="1"/>
          <p:nvPr/>
        </p:nvSpPr>
        <p:spPr>
          <a:xfrm>
            <a:off x="6157913" y="0"/>
            <a:ext cx="5770851" cy="5909310"/>
          </a:xfrm>
          <a:prstGeom prst="rect">
            <a:avLst/>
          </a:prstGeom>
          <a:noFill/>
        </p:spPr>
        <p:txBody>
          <a:bodyPr wrap="square" rtlCol="0">
            <a:spAutoFit/>
          </a:bodyPr>
          <a:lstStyle/>
          <a:p>
            <a:r>
              <a:rPr lang="en-IN" b="1" dirty="0" smtClean="0"/>
              <a:t>Method Overloading</a:t>
            </a:r>
            <a:r>
              <a:rPr lang="en-IN" dirty="0" smtClean="0"/>
              <a:t>- </a:t>
            </a:r>
            <a:r>
              <a:rPr lang="en-US" dirty="0"/>
              <a:t>changing data type of arguments</a:t>
            </a:r>
          </a:p>
          <a:p>
            <a:endParaRPr lang="en-US" dirty="0" smtClean="0"/>
          </a:p>
          <a:p>
            <a:r>
              <a:rPr lang="en-US" dirty="0" smtClean="0"/>
              <a:t>Two </a:t>
            </a:r>
            <a:r>
              <a:rPr lang="en-US" dirty="0"/>
              <a:t>methods that differs in data type. </a:t>
            </a:r>
            <a:endParaRPr lang="en-US" dirty="0" smtClean="0"/>
          </a:p>
          <a:p>
            <a:r>
              <a:rPr lang="en-US" dirty="0" smtClean="0"/>
              <a:t>The </a:t>
            </a:r>
            <a:r>
              <a:rPr lang="en-US" dirty="0"/>
              <a:t>first add method receives two integer arguments and second add method receives two double arguments</a:t>
            </a:r>
            <a:r>
              <a:rPr lang="en-US" dirty="0" smtClean="0"/>
              <a:t>.</a:t>
            </a:r>
          </a:p>
          <a:p>
            <a:endParaRPr lang="en-US" dirty="0" smtClean="0"/>
          </a:p>
          <a:p>
            <a:r>
              <a:rPr lang="en-IN" dirty="0"/>
              <a:t>class Adder{  </a:t>
            </a:r>
          </a:p>
          <a:p>
            <a:r>
              <a:rPr lang="en-IN" dirty="0"/>
              <a:t>//static </a:t>
            </a:r>
            <a:r>
              <a:rPr lang="en-IN" dirty="0" err="1"/>
              <a:t>int</a:t>
            </a:r>
            <a:r>
              <a:rPr lang="en-IN" dirty="0"/>
              <a:t> add(</a:t>
            </a:r>
            <a:r>
              <a:rPr lang="en-IN" dirty="0" err="1"/>
              <a:t>int</a:t>
            </a:r>
            <a:r>
              <a:rPr lang="en-IN" dirty="0"/>
              <a:t> a, </a:t>
            </a:r>
            <a:r>
              <a:rPr lang="en-IN" dirty="0" err="1"/>
              <a:t>int</a:t>
            </a:r>
            <a:r>
              <a:rPr lang="en-IN" dirty="0"/>
              <a:t> b){return </a:t>
            </a:r>
            <a:r>
              <a:rPr lang="en-IN" dirty="0" err="1"/>
              <a:t>a+b</a:t>
            </a:r>
            <a:r>
              <a:rPr lang="en-IN" dirty="0"/>
              <a:t>;}</a:t>
            </a:r>
          </a:p>
          <a:p>
            <a:r>
              <a:rPr lang="en-IN" dirty="0" err="1"/>
              <a:t>int</a:t>
            </a:r>
            <a:r>
              <a:rPr lang="en-IN" dirty="0"/>
              <a:t> add(</a:t>
            </a:r>
            <a:r>
              <a:rPr lang="en-IN" dirty="0" err="1"/>
              <a:t>int</a:t>
            </a:r>
            <a:r>
              <a:rPr lang="en-IN" dirty="0"/>
              <a:t> a, </a:t>
            </a:r>
            <a:r>
              <a:rPr lang="en-IN" dirty="0" err="1"/>
              <a:t>int</a:t>
            </a:r>
            <a:r>
              <a:rPr lang="en-IN" dirty="0"/>
              <a:t> b){return </a:t>
            </a:r>
            <a:r>
              <a:rPr lang="en-IN" dirty="0" err="1"/>
              <a:t>a+b</a:t>
            </a:r>
            <a:r>
              <a:rPr lang="en-IN" dirty="0"/>
              <a:t>;}  </a:t>
            </a:r>
          </a:p>
          <a:p>
            <a:r>
              <a:rPr lang="en-IN" dirty="0"/>
              <a:t>static double add(double a, double b</a:t>
            </a:r>
            <a:r>
              <a:rPr lang="en-IN" dirty="0" smtClean="0"/>
              <a:t>)</a:t>
            </a:r>
          </a:p>
          <a:p>
            <a:r>
              <a:rPr lang="en-IN" dirty="0" smtClean="0"/>
              <a:t>{</a:t>
            </a:r>
          </a:p>
          <a:p>
            <a:r>
              <a:rPr lang="en-IN" dirty="0" smtClean="0"/>
              <a:t>return </a:t>
            </a:r>
            <a:r>
              <a:rPr lang="en-IN" dirty="0" err="1"/>
              <a:t>a+b</a:t>
            </a:r>
            <a:r>
              <a:rPr lang="en-IN" dirty="0" smtClean="0"/>
              <a:t>;</a:t>
            </a:r>
          </a:p>
          <a:p>
            <a:r>
              <a:rPr lang="en-IN" dirty="0" smtClean="0"/>
              <a:t>}  </a:t>
            </a:r>
            <a:endParaRPr lang="en-IN" dirty="0"/>
          </a:p>
          <a:p>
            <a:r>
              <a:rPr lang="en-IN" dirty="0"/>
              <a:t>}  </a:t>
            </a:r>
          </a:p>
          <a:p>
            <a:r>
              <a:rPr lang="en-IN" dirty="0"/>
              <a:t>public class TestOverloading2{  </a:t>
            </a:r>
          </a:p>
          <a:p>
            <a:r>
              <a:rPr lang="en-IN" dirty="0"/>
              <a:t>public static void main(String[] </a:t>
            </a:r>
            <a:r>
              <a:rPr lang="en-IN" dirty="0" err="1"/>
              <a:t>args</a:t>
            </a:r>
            <a:r>
              <a:rPr lang="en-IN" dirty="0"/>
              <a:t>){  </a:t>
            </a:r>
          </a:p>
          <a:p>
            <a:r>
              <a:rPr lang="en-IN" dirty="0"/>
              <a:t>    Adder a = new Adder();</a:t>
            </a:r>
          </a:p>
          <a:p>
            <a:r>
              <a:rPr lang="en-IN" dirty="0" err="1"/>
              <a:t>System.out.println</a:t>
            </a:r>
            <a:r>
              <a:rPr lang="en-IN" dirty="0"/>
              <a:t>(</a:t>
            </a:r>
            <a:r>
              <a:rPr lang="en-IN" dirty="0" err="1"/>
              <a:t>a.add</a:t>
            </a:r>
            <a:r>
              <a:rPr lang="en-IN" dirty="0"/>
              <a:t>(11,11));  </a:t>
            </a:r>
          </a:p>
          <a:p>
            <a:r>
              <a:rPr lang="en-IN" dirty="0"/>
              <a:t>//</a:t>
            </a:r>
            <a:r>
              <a:rPr lang="en-IN" dirty="0" err="1"/>
              <a:t>System.out.println</a:t>
            </a:r>
            <a:r>
              <a:rPr lang="en-IN" dirty="0"/>
              <a:t>(</a:t>
            </a:r>
            <a:r>
              <a:rPr lang="en-IN" dirty="0" err="1"/>
              <a:t>Adder.add</a:t>
            </a:r>
            <a:r>
              <a:rPr lang="en-IN" dirty="0"/>
              <a:t>(11,11));  </a:t>
            </a:r>
          </a:p>
          <a:p>
            <a:r>
              <a:rPr lang="en-IN" dirty="0" err="1"/>
              <a:t>System.out.println</a:t>
            </a:r>
            <a:r>
              <a:rPr lang="en-IN" dirty="0"/>
              <a:t>(</a:t>
            </a:r>
            <a:r>
              <a:rPr lang="en-IN" dirty="0" err="1"/>
              <a:t>Adder.add</a:t>
            </a:r>
            <a:r>
              <a:rPr lang="en-IN" dirty="0"/>
              <a:t>(12.3,12.6));  </a:t>
            </a:r>
          </a:p>
          <a:p>
            <a:r>
              <a:rPr lang="en-IN" dirty="0"/>
              <a:t>}} </a:t>
            </a:r>
          </a:p>
        </p:txBody>
      </p:sp>
    </p:spTree>
    <p:extLst>
      <p:ext uri="{BB962C8B-B14F-4D97-AF65-F5344CB8AC3E}">
        <p14:creationId xmlns:p14="http://schemas.microsoft.com/office/powerpoint/2010/main" val="14224582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Java-Method Overloading</a:t>
            </a:r>
            <a:endParaRPr lang="en-US" dirty="0"/>
          </a:p>
        </p:txBody>
      </p:sp>
      <p:sp>
        <p:nvSpPr>
          <p:cNvPr id="3" name="Content Placeholder 2"/>
          <p:cNvSpPr>
            <a:spLocks noGrp="1"/>
          </p:cNvSpPr>
          <p:nvPr>
            <p:ph sz="half" idx="1"/>
          </p:nvPr>
        </p:nvSpPr>
        <p:spPr>
          <a:xfrm>
            <a:off x="134814" y="394529"/>
            <a:ext cx="6437436" cy="6343895"/>
          </a:xfrm>
        </p:spPr>
        <p:txBody>
          <a:bodyPr>
            <a:noAutofit/>
          </a:bodyPr>
          <a:lstStyle/>
          <a:p>
            <a:pPr marL="0" indent="0">
              <a:buNone/>
            </a:pPr>
            <a:r>
              <a:rPr lang="en-IN" sz="1800" b="1" dirty="0"/>
              <a:t>Method Overloading</a:t>
            </a:r>
            <a:r>
              <a:rPr lang="en-IN" sz="1800" dirty="0"/>
              <a:t>: </a:t>
            </a:r>
            <a:r>
              <a:rPr lang="en-US" sz="1800" dirty="0" smtClean="0"/>
              <a:t>It is </a:t>
            </a:r>
            <a:r>
              <a:rPr lang="en-US" sz="1800" dirty="0"/>
              <a:t>not possible by changing the return type of the method only because of ambiguity</a:t>
            </a:r>
            <a:r>
              <a:rPr lang="en-US" sz="1800" dirty="0" smtClean="0"/>
              <a:t>.</a:t>
            </a:r>
          </a:p>
          <a:p>
            <a:pPr marL="0" indent="0">
              <a:buNone/>
            </a:pPr>
            <a:r>
              <a:rPr lang="en-IN" sz="1800" dirty="0" smtClean="0"/>
              <a:t>class </a:t>
            </a:r>
            <a:r>
              <a:rPr lang="en-IN" sz="1800" dirty="0"/>
              <a:t>Adder{  </a:t>
            </a:r>
          </a:p>
          <a:p>
            <a:pPr marL="0" indent="0">
              <a:buNone/>
            </a:pPr>
            <a:r>
              <a:rPr lang="en-IN" sz="1800" dirty="0"/>
              <a:t>static </a:t>
            </a:r>
            <a:r>
              <a:rPr lang="en-IN" sz="1800" dirty="0" err="1"/>
              <a:t>int</a:t>
            </a:r>
            <a:r>
              <a:rPr lang="en-IN" sz="1800" dirty="0"/>
              <a:t> add(</a:t>
            </a:r>
            <a:r>
              <a:rPr lang="en-IN" sz="1800" dirty="0" err="1"/>
              <a:t>int</a:t>
            </a:r>
            <a:r>
              <a:rPr lang="en-IN" sz="1800" dirty="0"/>
              <a:t> </a:t>
            </a:r>
            <a:r>
              <a:rPr lang="en-IN" sz="1800" dirty="0" err="1"/>
              <a:t>a,int</a:t>
            </a:r>
            <a:r>
              <a:rPr lang="en-IN" sz="1800" dirty="0"/>
              <a:t> b){return </a:t>
            </a:r>
            <a:r>
              <a:rPr lang="en-IN" sz="1800" dirty="0" err="1"/>
              <a:t>a+b</a:t>
            </a:r>
            <a:r>
              <a:rPr lang="en-IN" sz="1800" dirty="0"/>
              <a:t>;}  </a:t>
            </a:r>
          </a:p>
          <a:p>
            <a:pPr marL="0" indent="0">
              <a:buNone/>
            </a:pPr>
            <a:r>
              <a:rPr lang="en-IN" sz="1800" dirty="0"/>
              <a:t>static double add(</a:t>
            </a:r>
            <a:r>
              <a:rPr lang="en-IN" sz="1800" dirty="0" err="1"/>
              <a:t>int</a:t>
            </a:r>
            <a:r>
              <a:rPr lang="en-IN" sz="1800" dirty="0"/>
              <a:t> </a:t>
            </a:r>
            <a:r>
              <a:rPr lang="en-IN" sz="1800" dirty="0" err="1"/>
              <a:t>a,int</a:t>
            </a:r>
            <a:r>
              <a:rPr lang="en-IN" sz="1800" dirty="0"/>
              <a:t> b){return </a:t>
            </a:r>
            <a:r>
              <a:rPr lang="en-IN" sz="1800" dirty="0" err="1"/>
              <a:t>a+b</a:t>
            </a:r>
            <a:r>
              <a:rPr lang="en-IN" sz="1800" dirty="0"/>
              <a:t>;}  </a:t>
            </a:r>
          </a:p>
          <a:p>
            <a:pPr marL="0" indent="0">
              <a:buNone/>
            </a:pPr>
            <a:r>
              <a:rPr lang="en-IN" sz="1800" dirty="0"/>
              <a:t>}  </a:t>
            </a:r>
          </a:p>
          <a:p>
            <a:pPr marL="0" indent="0">
              <a:buNone/>
            </a:pPr>
            <a:r>
              <a:rPr lang="en-IN" sz="1800" dirty="0"/>
              <a:t>public class </a:t>
            </a:r>
            <a:r>
              <a:rPr lang="en-IN" sz="1800" dirty="0" err="1"/>
              <a:t>TestOverloading</a:t>
            </a:r>
            <a:r>
              <a:rPr lang="en-IN" sz="1800" dirty="0"/>
              <a:t>{  </a:t>
            </a:r>
          </a:p>
          <a:p>
            <a:pPr marL="0" indent="0">
              <a:buNone/>
            </a:pPr>
            <a:r>
              <a:rPr lang="en-IN" sz="1800" dirty="0"/>
              <a:t>public static void main(String[] </a:t>
            </a:r>
            <a:r>
              <a:rPr lang="en-IN" sz="1800" dirty="0" err="1"/>
              <a:t>args</a:t>
            </a:r>
            <a:r>
              <a:rPr lang="en-IN" sz="1800" dirty="0"/>
              <a:t>){  </a:t>
            </a:r>
          </a:p>
          <a:p>
            <a:pPr marL="0" indent="0">
              <a:buNone/>
            </a:pPr>
            <a:r>
              <a:rPr lang="en-IN" sz="1800" dirty="0" err="1"/>
              <a:t>System.out.println</a:t>
            </a:r>
            <a:r>
              <a:rPr lang="en-IN" sz="1800" dirty="0"/>
              <a:t>(</a:t>
            </a:r>
            <a:r>
              <a:rPr lang="en-IN" sz="1800" dirty="0" err="1"/>
              <a:t>Adder.add</a:t>
            </a:r>
            <a:r>
              <a:rPr lang="en-IN" sz="1800" dirty="0"/>
              <a:t>(11,11));//ambiguity  </a:t>
            </a:r>
          </a:p>
          <a:p>
            <a:pPr marL="0" indent="0">
              <a:buNone/>
            </a:pPr>
            <a:r>
              <a:rPr lang="en-IN" sz="1800" dirty="0"/>
              <a:t>}} </a:t>
            </a:r>
          </a:p>
        </p:txBody>
      </p:sp>
      <p:sp>
        <p:nvSpPr>
          <p:cNvPr id="4" name="TextBox 3"/>
          <p:cNvSpPr txBox="1"/>
          <p:nvPr/>
        </p:nvSpPr>
        <p:spPr>
          <a:xfrm>
            <a:off x="6494319" y="197265"/>
            <a:ext cx="5697682" cy="6740307"/>
          </a:xfrm>
          <a:prstGeom prst="rect">
            <a:avLst/>
          </a:prstGeom>
          <a:noFill/>
        </p:spPr>
        <p:txBody>
          <a:bodyPr wrap="square" rtlCol="0">
            <a:spAutoFit/>
          </a:bodyPr>
          <a:lstStyle/>
          <a:p>
            <a:r>
              <a:rPr lang="en-IN" b="1" dirty="0" smtClean="0"/>
              <a:t>Method Overloading</a:t>
            </a:r>
            <a:r>
              <a:rPr lang="en-IN" dirty="0" smtClean="0"/>
              <a:t>- </a:t>
            </a:r>
            <a:r>
              <a:rPr lang="en-IN" dirty="0"/>
              <a:t>overload java main() </a:t>
            </a:r>
            <a:r>
              <a:rPr lang="en-IN" dirty="0" smtClean="0"/>
              <a:t>method?</a:t>
            </a:r>
            <a:endParaRPr lang="en-IN" dirty="0"/>
          </a:p>
          <a:p>
            <a:pPr marL="285750" indent="-285750">
              <a:buFont typeface="Arial" panose="020B0604020202020204" pitchFamily="34" charset="0"/>
              <a:buChar char="•"/>
            </a:pPr>
            <a:r>
              <a:rPr lang="en-US" dirty="0" smtClean="0"/>
              <a:t>can </a:t>
            </a:r>
            <a:r>
              <a:rPr lang="en-US" dirty="0"/>
              <a:t>have any number of main methods in a class by method overloading. </a:t>
            </a:r>
            <a:endParaRPr lang="en-US" dirty="0" smtClean="0"/>
          </a:p>
          <a:p>
            <a:pPr marL="285750" indent="-285750">
              <a:buFont typeface="Arial" panose="020B0604020202020204" pitchFamily="34" charset="0"/>
              <a:buChar char="•"/>
            </a:pPr>
            <a:r>
              <a:rPr lang="en-US" dirty="0" smtClean="0"/>
              <a:t>But</a:t>
            </a:r>
            <a:r>
              <a:rPr lang="en-US" dirty="0"/>
              <a:t> JVM calls main() method which receives string array as arguments only</a:t>
            </a:r>
            <a:r>
              <a:rPr lang="en-US" dirty="0" smtClean="0"/>
              <a:t>.</a:t>
            </a:r>
          </a:p>
          <a:p>
            <a:r>
              <a:rPr lang="en-US" dirty="0" smtClean="0"/>
              <a:t>public </a:t>
            </a:r>
            <a:r>
              <a:rPr lang="en-US" dirty="0"/>
              <a:t>class </a:t>
            </a:r>
            <a:r>
              <a:rPr lang="en-US" dirty="0" err="1"/>
              <a:t>TestOverloading</a:t>
            </a:r>
            <a:r>
              <a:rPr lang="en-US" dirty="0"/>
              <a:t> {  </a:t>
            </a:r>
          </a:p>
          <a:p>
            <a:r>
              <a:rPr lang="en-US" dirty="0"/>
              <a:t>    </a:t>
            </a:r>
          </a:p>
          <a:p>
            <a:r>
              <a:rPr lang="en-US" dirty="0"/>
              <a:t>public static void main(String[] </a:t>
            </a:r>
            <a:r>
              <a:rPr lang="en-US" dirty="0" err="1"/>
              <a:t>args</a:t>
            </a:r>
            <a:r>
              <a:rPr lang="en-US" dirty="0"/>
              <a:t>)</a:t>
            </a:r>
          </a:p>
          <a:p>
            <a:r>
              <a:rPr lang="en-US" dirty="0"/>
              <a:t>{</a:t>
            </a:r>
          </a:p>
          <a:p>
            <a:r>
              <a:rPr lang="en-US" dirty="0"/>
              <a:t>    </a:t>
            </a:r>
            <a:r>
              <a:rPr lang="en-US" dirty="0" err="1"/>
              <a:t>TestOverloading</a:t>
            </a:r>
            <a:r>
              <a:rPr lang="en-US" dirty="0"/>
              <a:t> t=new </a:t>
            </a:r>
            <a:r>
              <a:rPr lang="en-US" dirty="0" err="1"/>
              <a:t>TestOverloading</a:t>
            </a:r>
            <a:r>
              <a:rPr lang="en-US" dirty="0"/>
              <a:t>();</a:t>
            </a:r>
          </a:p>
          <a:p>
            <a:r>
              <a:rPr lang="en-US" dirty="0"/>
              <a:t>    </a:t>
            </a:r>
            <a:r>
              <a:rPr lang="en-US" dirty="0" err="1"/>
              <a:t>t.main</a:t>
            </a:r>
            <a:r>
              <a:rPr lang="en-US" dirty="0"/>
              <a:t>();</a:t>
            </a:r>
          </a:p>
          <a:p>
            <a:r>
              <a:rPr lang="en-US" dirty="0"/>
              <a:t>    </a:t>
            </a:r>
            <a:r>
              <a:rPr lang="en-US" dirty="0" err="1"/>
              <a:t>System.out.println</a:t>
            </a:r>
            <a:r>
              <a:rPr lang="en-US" dirty="0"/>
              <a:t>("main with String[]");</a:t>
            </a:r>
          </a:p>
          <a:p>
            <a:r>
              <a:rPr lang="en-US" dirty="0"/>
              <a:t>}  </a:t>
            </a:r>
          </a:p>
          <a:p>
            <a:r>
              <a:rPr lang="en-US" dirty="0"/>
              <a:t>public static void main(String </a:t>
            </a:r>
            <a:r>
              <a:rPr lang="en-US" dirty="0" err="1"/>
              <a:t>args</a:t>
            </a:r>
            <a:r>
              <a:rPr lang="en-US" dirty="0"/>
              <a:t>)</a:t>
            </a:r>
          </a:p>
          <a:p>
            <a:r>
              <a:rPr lang="en-US" dirty="0"/>
              <a:t>{</a:t>
            </a:r>
          </a:p>
          <a:p>
            <a:r>
              <a:rPr lang="en-US" dirty="0"/>
              <a:t>    </a:t>
            </a:r>
            <a:r>
              <a:rPr lang="en-US" dirty="0" err="1"/>
              <a:t>System.out.println</a:t>
            </a:r>
            <a:r>
              <a:rPr lang="en-US" dirty="0"/>
              <a:t>("main with String");</a:t>
            </a:r>
          </a:p>
          <a:p>
            <a:r>
              <a:rPr lang="en-US" dirty="0"/>
              <a:t>}  </a:t>
            </a:r>
          </a:p>
          <a:p>
            <a:r>
              <a:rPr lang="en-US" dirty="0"/>
              <a:t>/*public static void main()</a:t>
            </a:r>
          </a:p>
          <a:p>
            <a:r>
              <a:rPr lang="en-US" dirty="0"/>
              <a:t>{</a:t>
            </a:r>
          </a:p>
          <a:p>
            <a:r>
              <a:rPr lang="en-US" dirty="0"/>
              <a:t>    </a:t>
            </a:r>
            <a:r>
              <a:rPr lang="en-US" dirty="0" err="1"/>
              <a:t>System.out.println</a:t>
            </a:r>
            <a:r>
              <a:rPr lang="en-US" dirty="0"/>
              <a:t>("main without </a:t>
            </a:r>
            <a:r>
              <a:rPr lang="en-US" dirty="0" err="1"/>
              <a:t>args</a:t>
            </a:r>
            <a:r>
              <a:rPr lang="en-US" dirty="0"/>
              <a:t>");</a:t>
            </a:r>
          </a:p>
          <a:p>
            <a:r>
              <a:rPr lang="en-US" dirty="0"/>
              <a:t>}  */</a:t>
            </a:r>
          </a:p>
          <a:p>
            <a:r>
              <a:rPr lang="en-US" dirty="0"/>
              <a:t>public void main()</a:t>
            </a:r>
          </a:p>
          <a:p>
            <a:r>
              <a:rPr lang="en-US" dirty="0"/>
              <a:t>{</a:t>
            </a:r>
          </a:p>
          <a:p>
            <a:r>
              <a:rPr lang="en-US" dirty="0"/>
              <a:t>    </a:t>
            </a:r>
            <a:r>
              <a:rPr lang="en-US" dirty="0" err="1"/>
              <a:t>System.out.println</a:t>
            </a:r>
            <a:r>
              <a:rPr lang="en-US" dirty="0"/>
              <a:t>("Test</a:t>
            </a:r>
            <a:r>
              <a:rPr lang="en-US" dirty="0" smtClean="0"/>
              <a:t>");}} </a:t>
            </a:r>
          </a:p>
        </p:txBody>
      </p:sp>
    </p:spTree>
    <p:extLst>
      <p:ext uri="{BB962C8B-B14F-4D97-AF65-F5344CB8AC3E}">
        <p14:creationId xmlns:p14="http://schemas.microsoft.com/office/powerpoint/2010/main" val="337308083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Java-Method Overloading-</a:t>
            </a:r>
            <a:r>
              <a:rPr lang="en-IN" dirty="0"/>
              <a:t>Type </a:t>
            </a:r>
            <a:r>
              <a:rPr lang="en-IN" dirty="0" smtClean="0"/>
              <a:t>Promotion</a:t>
            </a:r>
            <a:endParaRPr lang="en-US" dirty="0"/>
          </a:p>
        </p:txBody>
      </p:sp>
      <p:sp>
        <p:nvSpPr>
          <p:cNvPr id="3" name="Content Placeholder 2"/>
          <p:cNvSpPr>
            <a:spLocks noGrp="1"/>
          </p:cNvSpPr>
          <p:nvPr>
            <p:ph sz="half" idx="1"/>
          </p:nvPr>
        </p:nvSpPr>
        <p:spPr>
          <a:xfrm>
            <a:off x="134814" y="394529"/>
            <a:ext cx="6437436" cy="6343895"/>
          </a:xfrm>
        </p:spPr>
        <p:txBody>
          <a:bodyPr>
            <a:noAutofit/>
          </a:bodyPr>
          <a:lstStyle/>
          <a:p>
            <a:pPr marL="0" indent="0" algn="just">
              <a:buNone/>
            </a:pPr>
            <a:r>
              <a:rPr lang="en-US" sz="1800" dirty="0"/>
              <a:t>One type is promoted to another implicitly </a:t>
            </a:r>
            <a:r>
              <a:rPr lang="en-US" sz="1800" b="1" dirty="0"/>
              <a:t>if no matching datatype</a:t>
            </a:r>
            <a:r>
              <a:rPr lang="en-US" sz="1800" dirty="0"/>
              <a:t> is found</a:t>
            </a:r>
            <a:r>
              <a:rPr lang="en-US" sz="1800" dirty="0" smtClean="0"/>
              <a:t>.</a:t>
            </a:r>
          </a:p>
          <a:p>
            <a:pPr marL="0" indent="0" algn="just">
              <a:buNone/>
            </a:pPr>
            <a:endParaRPr lang="en-US" sz="1800" dirty="0"/>
          </a:p>
          <a:p>
            <a:pPr marL="0" indent="0" algn="just">
              <a:buNone/>
            </a:pPr>
            <a:endParaRPr lang="en-US" sz="1800" dirty="0" smtClean="0"/>
          </a:p>
          <a:p>
            <a:pPr marL="0" indent="0" algn="just">
              <a:buNone/>
            </a:pPr>
            <a:endParaRPr lang="en-US" sz="1800" dirty="0"/>
          </a:p>
          <a:p>
            <a:pPr marL="0" indent="0" algn="just">
              <a:buNone/>
            </a:pPr>
            <a:endParaRPr lang="en-US" sz="1800" dirty="0" smtClean="0"/>
          </a:p>
          <a:p>
            <a:pPr marL="0" indent="0" algn="just">
              <a:buNone/>
            </a:pPr>
            <a:endParaRPr lang="en-US" sz="1800" dirty="0"/>
          </a:p>
          <a:p>
            <a:pPr marL="0" indent="0" algn="just">
              <a:buNone/>
            </a:pPr>
            <a:endParaRPr lang="en-US" sz="1800" dirty="0" smtClean="0"/>
          </a:p>
          <a:p>
            <a:pPr marL="0" indent="0" algn="just">
              <a:buNone/>
            </a:pPr>
            <a:endParaRPr lang="en-US" sz="1800" dirty="0"/>
          </a:p>
          <a:p>
            <a:pPr marL="0" indent="0" algn="just">
              <a:buNone/>
            </a:pPr>
            <a:r>
              <a:rPr lang="en-IN" sz="1800" dirty="0" smtClean="0"/>
              <a:t>public </a:t>
            </a:r>
            <a:r>
              <a:rPr lang="en-IN" sz="1800" dirty="0"/>
              <a:t>class </a:t>
            </a:r>
            <a:r>
              <a:rPr lang="en-IN" sz="1800" dirty="0" err="1"/>
              <a:t>OverloadingCalculation</a:t>
            </a:r>
            <a:r>
              <a:rPr lang="en-IN" sz="1800" dirty="0"/>
              <a:t>{  </a:t>
            </a:r>
          </a:p>
          <a:p>
            <a:pPr marL="0" indent="0" algn="just">
              <a:buNone/>
            </a:pPr>
            <a:r>
              <a:rPr lang="en-IN" sz="1800" dirty="0"/>
              <a:t>  void sum(</a:t>
            </a:r>
            <a:r>
              <a:rPr lang="en-IN" sz="1800" dirty="0" err="1"/>
              <a:t>int</a:t>
            </a:r>
            <a:r>
              <a:rPr lang="en-IN" sz="1800" dirty="0"/>
              <a:t> </a:t>
            </a:r>
            <a:r>
              <a:rPr lang="en-IN" sz="1800" dirty="0" err="1"/>
              <a:t>a,long</a:t>
            </a:r>
            <a:r>
              <a:rPr lang="en-IN" sz="1800" dirty="0"/>
              <a:t> b){</a:t>
            </a:r>
            <a:r>
              <a:rPr lang="en-IN" sz="1800" dirty="0" err="1"/>
              <a:t>System.out.println</a:t>
            </a:r>
            <a:r>
              <a:rPr lang="en-IN" sz="1800" dirty="0"/>
              <a:t>(</a:t>
            </a:r>
            <a:r>
              <a:rPr lang="en-IN" sz="1800" dirty="0" err="1"/>
              <a:t>a+b</a:t>
            </a:r>
            <a:r>
              <a:rPr lang="en-IN" sz="1800" dirty="0"/>
              <a:t>);}  </a:t>
            </a:r>
          </a:p>
          <a:p>
            <a:pPr marL="0" indent="0" algn="just">
              <a:buNone/>
            </a:pPr>
            <a:r>
              <a:rPr lang="en-IN" sz="1800" dirty="0"/>
              <a:t>  void sum(</a:t>
            </a:r>
            <a:r>
              <a:rPr lang="en-IN" sz="1800" dirty="0" err="1"/>
              <a:t>int</a:t>
            </a:r>
            <a:r>
              <a:rPr lang="en-IN" sz="1800" dirty="0"/>
              <a:t> </a:t>
            </a:r>
            <a:r>
              <a:rPr lang="en-IN" sz="1800" dirty="0" err="1"/>
              <a:t>a,int</a:t>
            </a:r>
            <a:r>
              <a:rPr lang="en-IN" sz="1800" dirty="0"/>
              <a:t> </a:t>
            </a:r>
            <a:r>
              <a:rPr lang="en-IN" sz="1800" dirty="0" err="1"/>
              <a:t>b,int</a:t>
            </a:r>
            <a:r>
              <a:rPr lang="en-IN" sz="1800" dirty="0"/>
              <a:t> c){</a:t>
            </a:r>
            <a:r>
              <a:rPr lang="en-IN" sz="1800" dirty="0" err="1"/>
              <a:t>System.out.println</a:t>
            </a:r>
            <a:r>
              <a:rPr lang="en-IN" sz="1800" dirty="0"/>
              <a:t>(</a:t>
            </a:r>
            <a:r>
              <a:rPr lang="en-IN" sz="1800" dirty="0" err="1"/>
              <a:t>a+b+c</a:t>
            </a:r>
            <a:r>
              <a:rPr lang="en-IN" sz="1800" dirty="0"/>
              <a:t>);}  </a:t>
            </a:r>
          </a:p>
          <a:p>
            <a:pPr marL="0" indent="0" algn="just">
              <a:buNone/>
            </a:pPr>
            <a:r>
              <a:rPr lang="en-IN" sz="1800" dirty="0"/>
              <a:t>  </a:t>
            </a:r>
            <a:r>
              <a:rPr lang="en-IN" sz="1800" dirty="0" smtClean="0"/>
              <a:t> </a:t>
            </a:r>
            <a:r>
              <a:rPr lang="en-IN" sz="1800" dirty="0"/>
              <a:t>public static void main(String </a:t>
            </a:r>
            <a:r>
              <a:rPr lang="en-IN" sz="1800" dirty="0" err="1"/>
              <a:t>args</a:t>
            </a:r>
            <a:r>
              <a:rPr lang="en-IN" sz="1800" dirty="0"/>
              <a:t>[]){  </a:t>
            </a:r>
          </a:p>
          <a:p>
            <a:pPr marL="0" indent="0" algn="just">
              <a:buNone/>
            </a:pPr>
            <a:r>
              <a:rPr lang="en-IN" sz="1800" dirty="0"/>
              <a:t>  </a:t>
            </a:r>
            <a:r>
              <a:rPr lang="en-IN" sz="1800" dirty="0" err="1"/>
              <a:t>OverloadingCalculation</a:t>
            </a:r>
            <a:r>
              <a:rPr lang="en-IN" sz="1800" dirty="0"/>
              <a:t> </a:t>
            </a:r>
            <a:r>
              <a:rPr lang="en-IN" sz="1800" dirty="0" err="1"/>
              <a:t>obj</a:t>
            </a:r>
            <a:r>
              <a:rPr lang="en-IN" sz="1800" dirty="0"/>
              <a:t>=new </a:t>
            </a:r>
            <a:r>
              <a:rPr lang="en-IN" sz="1800" dirty="0" err="1"/>
              <a:t>OverloadingCalculation</a:t>
            </a:r>
            <a:r>
              <a:rPr lang="en-IN" sz="1800" dirty="0"/>
              <a:t>();  </a:t>
            </a:r>
          </a:p>
          <a:p>
            <a:pPr marL="0" indent="0" algn="just">
              <a:buNone/>
            </a:pPr>
            <a:r>
              <a:rPr lang="en-IN" sz="1800" dirty="0"/>
              <a:t>  </a:t>
            </a:r>
            <a:r>
              <a:rPr lang="en-IN" sz="1800" dirty="0" err="1"/>
              <a:t>obj.sum</a:t>
            </a:r>
            <a:r>
              <a:rPr lang="en-IN" sz="1800" dirty="0"/>
              <a:t>(20,20);//now second </a:t>
            </a:r>
            <a:r>
              <a:rPr lang="en-IN" sz="1800" dirty="0" err="1"/>
              <a:t>int</a:t>
            </a:r>
            <a:r>
              <a:rPr lang="en-IN" sz="1800" dirty="0"/>
              <a:t> literal will be promoted to long  </a:t>
            </a:r>
          </a:p>
          <a:p>
            <a:pPr marL="0" indent="0" algn="just">
              <a:buNone/>
            </a:pPr>
            <a:r>
              <a:rPr lang="en-IN" sz="1800" dirty="0"/>
              <a:t>  </a:t>
            </a:r>
            <a:r>
              <a:rPr lang="en-IN" sz="1800" dirty="0" err="1"/>
              <a:t>obj.sum</a:t>
            </a:r>
            <a:r>
              <a:rPr lang="en-IN" sz="1800" dirty="0"/>
              <a:t>(20,20,20);  </a:t>
            </a:r>
          </a:p>
          <a:p>
            <a:pPr marL="0" indent="0" algn="just">
              <a:buNone/>
            </a:pPr>
            <a:r>
              <a:rPr lang="en-IN" sz="1800" dirty="0"/>
              <a:t>  </a:t>
            </a:r>
            <a:r>
              <a:rPr lang="en-IN" sz="1800" dirty="0" smtClean="0"/>
              <a:t>}  } </a:t>
            </a:r>
            <a:endParaRPr lang="en-IN" sz="1800" dirty="0"/>
          </a:p>
        </p:txBody>
      </p:sp>
      <p:sp>
        <p:nvSpPr>
          <p:cNvPr id="4" name="TextBox 3"/>
          <p:cNvSpPr txBox="1"/>
          <p:nvPr/>
        </p:nvSpPr>
        <p:spPr>
          <a:xfrm>
            <a:off x="6345382" y="768602"/>
            <a:ext cx="5846618" cy="5078313"/>
          </a:xfrm>
          <a:prstGeom prst="rect">
            <a:avLst/>
          </a:prstGeom>
          <a:noFill/>
        </p:spPr>
        <p:txBody>
          <a:bodyPr wrap="square" rtlCol="0">
            <a:spAutoFit/>
          </a:bodyPr>
          <a:lstStyle/>
          <a:p>
            <a:r>
              <a:rPr lang="en-US" b="1" dirty="0"/>
              <a:t>Type Promotion if matching found</a:t>
            </a:r>
          </a:p>
          <a:p>
            <a:r>
              <a:rPr lang="en-US" dirty="0"/>
              <a:t>If there are matching type arguments in the method, type promotion is not performed</a:t>
            </a:r>
            <a:r>
              <a:rPr lang="en-US" dirty="0" smtClean="0"/>
              <a:t>.</a:t>
            </a:r>
          </a:p>
          <a:p>
            <a:endParaRPr lang="en-US" dirty="0" smtClean="0"/>
          </a:p>
          <a:p>
            <a:r>
              <a:rPr lang="en-US" dirty="0"/>
              <a:t>public class </a:t>
            </a:r>
            <a:r>
              <a:rPr lang="en-US" dirty="0" err="1"/>
              <a:t>OverloadingCalculation</a:t>
            </a:r>
            <a:r>
              <a:rPr lang="en-US" dirty="0"/>
              <a:t>{  </a:t>
            </a:r>
          </a:p>
          <a:p>
            <a:r>
              <a:rPr lang="en-US" dirty="0"/>
              <a:t>  void sum(</a:t>
            </a:r>
            <a:r>
              <a:rPr lang="en-US" dirty="0" err="1"/>
              <a:t>int</a:t>
            </a:r>
            <a:r>
              <a:rPr lang="en-US" dirty="0"/>
              <a:t> </a:t>
            </a:r>
            <a:r>
              <a:rPr lang="en-US" dirty="0" err="1"/>
              <a:t>a,int</a:t>
            </a:r>
            <a:r>
              <a:rPr lang="en-US" dirty="0"/>
              <a:t> b){</a:t>
            </a:r>
            <a:r>
              <a:rPr lang="en-US" dirty="0" err="1"/>
              <a:t>System.out.println</a:t>
            </a:r>
            <a:r>
              <a:rPr lang="en-US" dirty="0"/>
              <a:t>("</a:t>
            </a:r>
            <a:r>
              <a:rPr lang="en-US" dirty="0" err="1"/>
              <a:t>int</a:t>
            </a:r>
            <a:r>
              <a:rPr lang="en-US" dirty="0"/>
              <a:t> </a:t>
            </a:r>
            <a:r>
              <a:rPr lang="en-US" dirty="0" err="1"/>
              <a:t>arg</a:t>
            </a:r>
            <a:r>
              <a:rPr lang="en-US" dirty="0"/>
              <a:t> method invoked");}  </a:t>
            </a:r>
          </a:p>
          <a:p>
            <a:r>
              <a:rPr lang="en-US" dirty="0"/>
              <a:t>  void sum(long </a:t>
            </a:r>
            <a:r>
              <a:rPr lang="en-US" dirty="0" err="1"/>
              <a:t>a,long</a:t>
            </a:r>
            <a:r>
              <a:rPr lang="en-US" dirty="0"/>
              <a:t> b){</a:t>
            </a:r>
            <a:r>
              <a:rPr lang="en-US" dirty="0" err="1"/>
              <a:t>System.out.println</a:t>
            </a:r>
            <a:r>
              <a:rPr lang="en-US" dirty="0"/>
              <a:t>("long </a:t>
            </a:r>
            <a:r>
              <a:rPr lang="en-US" dirty="0" err="1"/>
              <a:t>arg</a:t>
            </a:r>
            <a:r>
              <a:rPr lang="en-US" dirty="0"/>
              <a:t> method invoked");}  </a:t>
            </a:r>
          </a:p>
          <a:p>
            <a:r>
              <a:rPr lang="en-US" dirty="0"/>
              <a:t>  </a:t>
            </a:r>
          </a:p>
          <a:p>
            <a:r>
              <a:rPr lang="en-US" dirty="0"/>
              <a:t>  public static void main(String </a:t>
            </a:r>
            <a:r>
              <a:rPr lang="en-US" dirty="0" err="1"/>
              <a:t>args</a:t>
            </a:r>
            <a:r>
              <a:rPr lang="en-US" dirty="0"/>
              <a:t>[]){  </a:t>
            </a:r>
          </a:p>
          <a:p>
            <a:r>
              <a:rPr lang="en-US" dirty="0"/>
              <a:t>  </a:t>
            </a:r>
            <a:r>
              <a:rPr lang="en-US" dirty="0" err="1"/>
              <a:t>OverloadingCalculation</a:t>
            </a:r>
            <a:r>
              <a:rPr lang="en-US" dirty="0"/>
              <a:t> </a:t>
            </a:r>
            <a:r>
              <a:rPr lang="en-US" dirty="0" err="1"/>
              <a:t>obj</a:t>
            </a:r>
            <a:r>
              <a:rPr lang="en-US" dirty="0"/>
              <a:t>=new </a:t>
            </a:r>
            <a:r>
              <a:rPr lang="en-US" dirty="0" err="1"/>
              <a:t>OverloadingCalculation</a:t>
            </a:r>
            <a:r>
              <a:rPr lang="en-US" dirty="0"/>
              <a:t>();  </a:t>
            </a:r>
          </a:p>
          <a:p>
            <a:r>
              <a:rPr lang="en-US" dirty="0"/>
              <a:t>  </a:t>
            </a:r>
            <a:r>
              <a:rPr lang="en-US" dirty="0" err="1" smtClean="0"/>
              <a:t>obj.sum</a:t>
            </a:r>
            <a:r>
              <a:rPr lang="en-US" dirty="0" smtClean="0"/>
              <a:t>(20,20</a:t>
            </a:r>
            <a:r>
              <a:rPr lang="en-US" dirty="0"/>
              <a:t>);//now </a:t>
            </a:r>
            <a:r>
              <a:rPr lang="en-US" dirty="0" err="1"/>
              <a:t>int</a:t>
            </a:r>
            <a:r>
              <a:rPr lang="en-US" dirty="0"/>
              <a:t> </a:t>
            </a:r>
            <a:r>
              <a:rPr lang="en-US" dirty="0" err="1"/>
              <a:t>arg</a:t>
            </a:r>
            <a:r>
              <a:rPr lang="en-US" dirty="0"/>
              <a:t> sum() method gets invoked  </a:t>
            </a:r>
          </a:p>
          <a:p>
            <a:r>
              <a:rPr lang="en-US" dirty="0"/>
              <a:t>  </a:t>
            </a:r>
            <a:r>
              <a:rPr lang="en-US" dirty="0" err="1"/>
              <a:t>obj.sum</a:t>
            </a:r>
            <a:r>
              <a:rPr lang="en-US" dirty="0"/>
              <a:t>(20L,40L);</a:t>
            </a:r>
          </a:p>
          <a:p>
            <a:r>
              <a:rPr lang="en-US" dirty="0"/>
              <a:t>  }  </a:t>
            </a:r>
          </a:p>
          <a:p>
            <a:r>
              <a:rPr lang="en-US" dirty="0"/>
              <a:t>} </a:t>
            </a:r>
            <a:endParaRPr lang="en-US" dirty="0" smtClean="0"/>
          </a:p>
          <a:p>
            <a:endParaRPr lang="en-US" dirty="0"/>
          </a:p>
          <a:p>
            <a:endParaRPr lang="en-US" dirty="0" smtClean="0"/>
          </a:p>
        </p:txBody>
      </p:sp>
      <p:pic>
        <p:nvPicPr>
          <p:cNvPr id="1026" name="Picture 2" descr="Java Method Overloading with Type Promo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5393" y="949037"/>
            <a:ext cx="3294207" cy="2470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631757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Java-Method Overloading-</a:t>
            </a:r>
            <a:r>
              <a:rPr lang="en-IN" dirty="0"/>
              <a:t>Type </a:t>
            </a:r>
            <a:r>
              <a:rPr lang="en-IN" dirty="0" smtClean="0"/>
              <a:t>Promotion</a:t>
            </a:r>
            <a:endParaRPr lang="en-US" dirty="0"/>
          </a:p>
        </p:txBody>
      </p:sp>
      <p:sp>
        <p:nvSpPr>
          <p:cNvPr id="3" name="Content Placeholder 2"/>
          <p:cNvSpPr>
            <a:spLocks noGrp="1"/>
          </p:cNvSpPr>
          <p:nvPr>
            <p:ph sz="half" idx="1"/>
          </p:nvPr>
        </p:nvSpPr>
        <p:spPr>
          <a:xfrm>
            <a:off x="134813" y="394529"/>
            <a:ext cx="11309041" cy="6343895"/>
          </a:xfrm>
        </p:spPr>
        <p:txBody>
          <a:bodyPr>
            <a:noAutofit/>
          </a:bodyPr>
          <a:lstStyle/>
          <a:p>
            <a:pPr marL="0" indent="0" algn="just">
              <a:buNone/>
            </a:pPr>
            <a:r>
              <a:rPr lang="en-US" sz="1800" b="1" dirty="0"/>
              <a:t>Method Overloading with Type Promotion in case of ambiguity</a:t>
            </a:r>
          </a:p>
          <a:p>
            <a:pPr marL="0" indent="0" algn="just">
              <a:buNone/>
            </a:pPr>
            <a:r>
              <a:rPr lang="en-US" sz="1800" dirty="0"/>
              <a:t>If there are no matching type arguments in the method, and each method promotes similar number of arguments, there will be ambiguity.</a:t>
            </a:r>
          </a:p>
          <a:p>
            <a:pPr marL="0" indent="0" algn="just">
              <a:buNone/>
            </a:pPr>
            <a:r>
              <a:rPr lang="en-US" sz="1800" dirty="0"/>
              <a:t>One type is not de-promoted implicitly </a:t>
            </a:r>
            <a:r>
              <a:rPr lang="en-US" sz="1800" dirty="0" smtClean="0"/>
              <a:t>(</a:t>
            </a:r>
            <a:r>
              <a:rPr lang="en-US" sz="1800" dirty="0" err="1" smtClean="0"/>
              <a:t>eg</a:t>
            </a:r>
            <a:r>
              <a:rPr lang="en-US" sz="1800" dirty="0" smtClean="0"/>
              <a:t>., </a:t>
            </a:r>
            <a:r>
              <a:rPr lang="en-US" sz="1800" dirty="0"/>
              <a:t>double cannot be </a:t>
            </a:r>
            <a:r>
              <a:rPr lang="en-US" sz="1800" dirty="0" err="1"/>
              <a:t>depromoted</a:t>
            </a:r>
            <a:r>
              <a:rPr lang="en-US" sz="1800" dirty="0"/>
              <a:t> to any type </a:t>
            </a:r>
            <a:r>
              <a:rPr lang="en-US" sz="1800" dirty="0" smtClean="0"/>
              <a:t>implicitly).</a:t>
            </a:r>
          </a:p>
          <a:p>
            <a:pPr marL="0" indent="0" algn="just">
              <a:buNone/>
            </a:pPr>
            <a:endParaRPr lang="en-US" sz="1800" dirty="0"/>
          </a:p>
          <a:p>
            <a:pPr marL="0" indent="0" algn="just">
              <a:buNone/>
            </a:pPr>
            <a:r>
              <a:rPr lang="en-US" sz="1800" dirty="0"/>
              <a:t>public class </a:t>
            </a:r>
            <a:r>
              <a:rPr lang="en-US" sz="1800" dirty="0" err="1" smtClean="0"/>
              <a:t>OverloadingCalculation</a:t>
            </a:r>
            <a:r>
              <a:rPr lang="en-US" sz="1800" dirty="0" smtClean="0"/>
              <a:t>{  </a:t>
            </a:r>
            <a:endParaRPr lang="en-US" sz="1800" dirty="0"/>
          </a:p>
          <a:p>
            <a:pPr marL="0" indent="0" algn="just">
              <a:buNone/>
            </a:pPr>
            <a:r>
              <a:rPr lang="en-US" sz="1800" dirty="0"/>
              <a:t>  void sum(</a:t>
            </a:r>
            <a:r>
              <a:rPr lang="en-US" sz="1800" dirty="0" err="1"/>
              <a:t>int</a:t>
            </a:r>
            <a:r>
              <a:rPr lang="en-US" sz="1800" dirty="0"/>
              <a:t> </a:t>
            </a:r>
            <a:r>
              <a:rPr lang="en-US" sz="1800" dirty="0" err="1"/>
              <a:t>a,long</a:t>
            </a:r>
            <a:r>
              <a:rPr lang="en-US" sz="1800" dirty="0"/>
              <a:t> b){</a:t>
            </a:r>
            <a:r>
              <a:rPr lang="en-US" sz="1800" dirty="0" err="1"/>
              <a:t>System.out.println</a:t>
            </a:r>
            <a:r>
              <a:rPr lang="en-US" sz="1800" dirty="0"/>
              <a:t>("a method invoked");}  </a:t>
            </a:r>
          </a:p>
          <a:p>
            <a:pPr marL="0" indent="0" algn="just">
              <a:buNone/>
            </a:pPr>
            <a:r>
              <a:rPr lang="en-US" sz="1800" dirty="0"/>
              <a:t>  void sum(long </a:t>
            </a:r>
            <a:r>
              <a:rPr lang="en-US" sz="1800" dirty="0" err="1"/>
              <a:t>a,int</a:t>
            </a:r>
            <a:r>
              <a:rPr lang="en-US" sz="1800" dirty="0"/>
              <a:t> b){</a:t>
            </a:r>
            <a:r>
              <a:rPr lang="en-US" sz="1800" dirty="0" err="1"/>
              <a:t>System.out.println</a:t>
            </a:r>
            <a:r>
              <a:rPr lang="en-US" sz="1800" dirty="0"/>
              <a:t>("b method invoked");}  </a:t>
            </a:r>
          </a:p>
          <a:p>
            <a:pPr marL="0" indent="0" algn="just">
              <a:buNone/>
            </a:pPr>
            <a:r>
              <a:rPr lang="en-US" sz="1800" dirty="0"/>
              <a:t>  </a:t>
            </a:r>
          </a:p>
          <a:p>
            <a:pPr marL="0" indent="0" algn="just">
              <a:buNone/>
            </a:pPr>
            <a:r>
              <a:rPr lang="en-US" sz="1800" dirty="0"/>
              <a:t>  public static void main(String </a:t>
            </a:r>
            <a:r>
              <a:rPr lang="en-US" sz="1800" dirty="0" err="1"/>
              <a:t>args</a:t>
            </a:r>
            <a:r>
              <a:rPr lang="en-US" sz="1800" dirty="0"/>
              <a:t>[]){  </a:t>
            </a:r>
          </a:p>
          <a:p>
            <a:pPr marL="0" indent="0" algn="just">
              <a:buNone/>
            </a:pPr>
            <a:r>
              <a:rPr lang="en-US" sz="1800" dirty="0"/>
              <a:t>  </a:t>
            </a:r>
            <a:r>
              <a:rPr lang="en-US" sz="1800" dirty="0" err="1" smtClean="0"/>
              <a:t>OverloadingCalculation</a:t>
            </a:r>
            <a:r>
              <a:rPr lang="en-US" sz="1800" dirty="0" smtClean="0"/>
              <a:t> </a:t>
            </a:r>
            <a:r>
              <a:rPr lang="en-US" sz="1800" dirty="0" err="1"/>
              <a:t>obj</a:t>
            </a:r>
            <a:r>
              <a:rPr lang="en-US" sz="1800" dirty="0"/>
              <a:t>=new </a:t>
            </a:r>
            <a:r>
              <a:rPr lang="en-US" sz="1800" dirty="0" err="1" smtClean="0"/>
              <a:t>OverloadingCalculation</a:t>
            </a:r>
            <a:r>
              <a:rPr lang="en-US" sz="1800" dirty="0" smtClean="0"/>
              <a:t>();  </a:t>
            </a:r>
            <a:endParaRPr lang="en-US" sz="1800" dirty="0"/>
          </a:p>
          <a:p>
            <a:pPr marL="0" indent="0" algn="just">
              <a:buNone/>
            </a:pPr>
            <a:r>
              <a:rPr lang="en-US" sz="1800" dirty="0"/>
              <a:t>  </a:t>
            </a:r>
            <a:r>
              <a:rPr lang="en-US" sz="1800" dirty="0" err="1"/>
              <a:t>obj.sum</a:t>
            </a:r>
            <a:r>
              <a:rPr lang="en-US" sz="1800" dirty="0"/>
              <a:t>(20,20);//now ambiguity  </a:t>
            </a:r>
          </a:p>
          <a:p>
            <a:pPr marL="0" indent="0" algn="just">
              <a:buNone/>
            </a:pPr>
            <a:r>
              <a:rPr lang="en-US" sz="1800" dirty="0"/>
              <a:t>  }  </a:t>
            </a:r>
          </a:p>
          <a:p>
            <a:pPr marL="0" indent="0" algn="just">
              <a:buNone/>
            </a:pPr>
            <a:r>
              <a:rPr lang="en-US" sz="1800" dirty="0"/>
              <a:t>} </a:t>
            </a:r>
            <a:endParaRPr lang="en-US" sz="1800" dirty="0" smtClean="0"/>
          </a:p>
        </p:txBody>
      </p:sp>
      <p:pic>
        <p:nvPicPr>
          <p:cNvPr id="4" name="Picture 3"/>
          <p:cNvPicPr>
            <a:picLocks noChangeAspect="1"/>
          </p:cNvPicPr>
          <p:nvPr/>
        </p:nvPicPr>
        <p:blipFill>
          <a:blip r:embed="rId2"/>
          <a:stretch>
            <a:fillRect/>
          </a:stretch>
        </p:blipFill>
        <p:spPr>
          <a:xfrm>
            <a:off x="5392616" y="4729162"/>
            <a:ext cx="6191250" cy="1685925"/>
          </a:xfrm>
          <a:prstGeom prst="rect">
            <a:avLst/>
          </a:prstGeom>
        </p:spPr>
      </p:pic>
    </p:spTree>
    <p:extLst>
      <p:ext uri="{BB962C8B-B14F-4D97-AF65-F5344CB8AC3E}">
        <p14:creationId xmlns:p14="http://schemas.microsoft.com/office/powerpoint/2010/main" val="1701329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Java-String</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buNone/>
            </a:pPr>
            <a:r>
              <a:rPr lang="en-IN" sz="1800" dirty="0"/>
              <a:t>string is basically an object that represents sequence of char values.</a:t>
            </a:r>
            <a:br>
              <a:rPr lang="en-IN" sz="1800" dirty="0"/>
            </a:br>
            <a:r>
              <a:rPr lang="en-IN" sz="1800" dirty="0" smtClean="0"/>
              <a:t>An</a:t>
            </a:r>
            <a:r>
              <a:rPr lang="en-IN" sz="1800" dirty="0"/>
              <a:t> array of characters works same as Java string.</a:t>
            </a:r>
          </a:p>
          <a:p>
            <a:pPr marL="0" indent="0">
              <a:buNone/>
            </a:pPr>
            <a:r>
              <a:rPr lang="en-IN" sz="1800" dirty="0"/>
              <a:t>char[] </a:t>
            </a:r>
            <a:r>
              <a:rPr lang="en-IN" sz="1800" dirty="0" err="1"/>
              <a:t>ch</a:t>
            </a:r>
            <a:r>
              <a:rPr lang="en-IN" sz="1800" dirty="0" smtClean="0"/>
              <a:t>={‘</a:t>
            </a:r>
            <a:r>
              <a:rPr lang="en-IN" sz="1800" dirty="0" err="1" smtClean="0"/>
              <a:t>w',‘e',‘b',‘t',‘e',‘c',‘h</a:t>
            </a:r>
            <a:r>
              <a:rPr lang="en-IN" sz="1800" dirty="0" smtClean="0"/>
              <a:t>'};  </a:t>
            </a:r>
            <a:endParaRPr lang="en-IN" sz="1800" dirty="0"/>
          </a:p>
          <a:p>
            <a:pPr marL="0" indent="0">
              <a:buNone/>
            </a:pPr>
            <a:r>
              <a:rPr lang="en-IN" sz="1800" dirty="0"/>
              <a:t>String s=new String(</a:t>
            </a:r>
            <a:r>
              <a:rPr lang="en-IN" sz="1800" dirty="0" err="1"/>
              <a:t>ch</a:t>
            </a:r>
            <a:r>
              <a:rPr lang="en-IN" sz="1800" dirty="0"/>
              <a:t>); </a:t>
            </a:r>
          </a:p>
          <a:p>
            <a:pPr marL="0" indent="0">
              <a:buNone/>
            </a:pPr>
            <a:r>
              <a:rPr lang="en-IN" sz="1800" dirty="0" smtClean="0"/>
              <a:t>Or</a:t>
            </a:r>
          </a:p>
          <a:p>
            <a:pPr marL="0" indent="0">
              <a:buNone/>
            </a:pPr>
            <a:r>
              <a:rPr lang="en-IN" sz="1800" dirty="0" smtClean="0"/>
              <a:t>String s=‘</a:t>
            </a:r>
            <a:r>
              <a:rPr lang="en-IN" sz="1800" dirty="0" err="1" smtClean="0"/>
              <a:t>webtech</a:t>
            </a:r>
            <a:r>
              <a:rPr lang="en-IN" sz="1800" dirty="0" smtClean="0"/>
              <a:t>’; both cases are same</a:t>
            </a:r>
          </a:p>
          <a:p>
            <a:pPr marL="0" indent="0">
              <a:buNone/>
            </a:pPr>
            <a:r>
              <a:rPr lang="en-IN" sz="1800" dirty="0" smtClean="0"/>
              <a:t>inbuilt </a:t>
            </a:r>
            <a:r>
              <a:rPr lang="en-IN" sz="1800" dirty="0"/>
              <a:t>methods to perform operations on </a:t>
            </a:r>
            <a:r>
              <a:rPr lang="en-IN" sz="1800" dirty="0" smtClean="0"/>
              <a:t>strings: compare</a:t>
            </a:r>
            <a:r>
              <a:rPr lang="en-IN" sz="1800" dirty="0"/>
              <a:t>(), </a:t>
            </a:r>
            <a:r>
              <a:rPr lang="en-IN" sz="1800" dirty="0" err="1"/>
              <a:t>concat</a:t>
            </a:r>
            <a:r>
              <a:rPr lang="en-IN" sz="1800" dirty="0"/>
              <a:t>(), equals(), split(), length(), replace(), </a:t>
            </a:r>
            <a:r>
              <a:rPr lang="en-IN" sz="1800" dirty="0" err="1"/>
              <a:t>compareTo</a:t>
            </a:r>
            <a:r>
              <a:rPr lang="en-IN" sz="1800" dirty="0"/>
              <a:t>(), intern(), substring() </a:t>
            </a:r>
            <a:endParaRPr lang="en-IN" sz="1800" dirty="0" smtClean="0"/>
          </a:p>
          <a:p>
            <a:pPr marL="0" indent="0">
              <a:buNone/>
            </a:pPr>
            <a:r>
              <a:rPr lang="en-IN" sz="1800" dirty="0" smtClean="0"/>
              <a:t>create </a:t>
            </a:r>
            <a:r>
              <a:rPr lang="en-IN" sz="1800" dirty="0"/>
              <a:t>strings in Java by using these three </a:t>
            </a:r>
            <a:r>
              <a:rPr lang="en-IN" sz="1800" dirty="0" smtClean="0"/>
              <a:t>classes:</a:t>
            </a:r>
          </a:p>
          <a:p>
            <a:pPr marL="0" indent="0">
              <a:buNone/>
            </a:pPr>
            <a:r>
              <a:rPr lang="en-IN" sz="1800" b="1" dirty="0" smtClean="0"/>
              <a:t>String-immutable, </a:t>
            </a:r>
            <a:r>
              <a:rPr lang="en-IN" sz="1800" b="1" dirty="0" err="1"/>
              <a:t>StringBuffer</a:t>
            </a:r>
            <a:r>
              <a:rPr lang="en-IN" sz="1800" b="1" dirty="0"/>
              <a:t> and </a:t>
            </a:r>
            <a:r>
              <a:rPr lang="en-IN" sz="1800" b="1" dirty="0" err="1" smtClean="0"/>
              <a:t>StringBuilder</a:t>
            </a:r>
            <a:r>
              <a:rPr lang="en-IN" sz="1800" b="1" dirty="0" smtClean="0"/>
              <a:t>-mutable</a:t>
            </a:r>
          </a:p>
          <a:p>
            <a:pPr marL="0" indent="0">
              <a:buNone/>
            </a:pPr>
            <a:r>
              <a:rPr lang="en-IN" sz="1800" dirty="0"/>
              <a:t>String objects are stored in a special memory area known as the "string constant pool</a:t>
            </a:r>
            <a:r>
              <a:rPr lang="en-IN" sz="1800" dirty="0" smtClean="0"/>
              <a:t>".</a:t>
            </a:r>
          </a:p>
          <a:p>
            <a:pPr marL="0" indent="0">
              <a:buNone/>
            </a:pPr>
            <a:r>
              <a:rPr lang="en-IN" sz="1800" dirty="0" smtClean="0"/>
              <a:t>Two </a:t>
            </a:r>
            <a:r>
              <a:rPr lang="en-IN" sz="1800" dirty="0"/>
              <a:t>ways to create String object:</a:t>
            </a:r>
          </a:p>
          <a:p>
            <a:pPr lvl="1"/>
            <a:r>
              <a:rPr lang="en-IN" sz="1800" dirty="0" smtClean="0"/>
              <a:t>By </a:t>
            </a:r>
            <a:r>
              <a:rPr lang="en-IN" sz="1800" dirty="0"/>
              <a:t>string literal</a:t>
            </a:r>
          </a:p>
          <a:p>
            <a:pPr lvl="1"/>
            <a:r>
              <a:rPr lang="en-IN" sz="1800" dirty="0"/>
              <a:t>By new keyword</a:t>
            </a:r>
            <a:endParaRPr lang="en-IN" sz="1800" dirty="0" smtClean="0"/>
          </a:p>
          <a:p>
            <a:pPr marL="0" indent="0">
              <a:buNone/>
            </a:pPr>
            <a:r>
              <a:rPr lang="en-IN" sz="1800" dirty="0"/>
              <a:t/>
            </a:r>
            <a:br>
              <a:rPr lang="en-IN" sz="1800" dirty="0"/>
            </a:br>
            <a:endParaRPr lang="en-IN" sz="1800" dirty="0"/>
          </a:p>
        </p:txBody>
      </p:sp>
      <p:sp>
        <p:nvSpPr>
          <p:cNvPr id="4" name="TextBox 3"/>
          <p:cNvSpPr txBox="1"/>
          <p:nvPr/>
        </p:nvSpPr>
        <p:spPr>
          <a:xfrm>
            <a:off x="6157913" y="0"/>
            <a:ext cx="5895542" cy="6463308"/>
          </a:xfrm>
          <a:prstGeom prst="rect">
            <a:avLst/>
          </a:prstGeom>
          <a:noFill/>
        </p:spPr>
        <p:txBody>
          <a:bodyPr wrap="square" rtlCol="0">
            <a:spAutoFit/>
          </a:bodyPr>
          <a:lstStyle/>
          <a:p>
            <a:endParaRPr lang="en-US" dirty="0" smtClean="0"/>
          </a:p>
          <a:p>
            <a:r>
              <a:rPr lang="en-IN" dirty="0" smtClean="0"/>
              <a:t>By String </a:t>
            </a:r>
            <a:r>
              <a:rPr lang="en-IN" dirty="0"/>
              <a:t>literal </a:t>
            </a:r>
            <a:r>
              <a:rPr lang="en-IN" dirty="0" smtClean="0"/>
              <a:t>: It is </a:t>
            </a:r>
            <a:r>
              <a:rPr lang="en-IN" dirty="0"/>
              <a:t>created by using double quotes. For </a:t>
            </a:r>
            <a:r>
              <a:rPr lang="en-IN" dirty="0" smtClean="0"/>
              <a:t>Example: String </a:t>
            </a:r>
            <a:r>
              <a:rPr lang="en-IN" dirty="0"/>
              <a:t>s</a:t>
            </a:r>
            <a:r>
              <a:rPr lang="en-IN" dirty="0" smtClean="0"/>
              <a:t>=“</a:t>
            </a:r>
            <a:r>
              <a:rPr lang="en-IN" dirty="0" err="1" smtClean="0"/>
              <a:t>InformationTechnology</a:t>
            </a:r>
            <a:r>
              <a:rPr lang="en-IN" dirty="0" smtClean="0"/>
              <a:t>"; </a:t>
            </a:r>
          </a:p>
          <a:p>
            <a:endParaRPr lang="en-IN" dirty="0" smtClean="0"/>
          </a:p>
          <a:p>
            <a:r>
              <a:rPr lang="en-IN" dirty="0"/>
              <a:t>Each time you create a string literal, the JVM checks the "string constant pool" first. </a:t>
            </a:r>
            <a:endParaRPr lang="en-IN" dirty="0" smtClean="0"/>
          </a:p>
          <a:p>
            <a:endParaRPr lang="en-IN" dirty="0" smtClean="0"/>
          </a:p>
          <a:p>
            <a:r>
              <a:rPr lang="en-IN" dirty="0" smtClean="0"/>
              <a:t>If </a:t>
            </a:r>
            <a:r>
              <a:rPr lang="en-IN" dirty="0"/>
              <a:t>the string already exists in the </a:t>
            </a:r>
            <a:r>
              <a:rPr lang="en-IN" dirty="0" smtClean="0"/>
              <a:t>pool</a:t>
            </a:r>
            <a:r>
              <a:rPr lang="en-IN" dirty="0" smtClean="0">
                <a:sym typeface="Wingdings" panose="05000000000000000000" pitchFamily="2" charset="2"/>
              </a:rPr>
              <a:t></a:t>
            </a:r>
            <a:r>
              <a:rPr lang="en-IN" dirty="0" smtClean="0"/>
              <a:t> </a:t>
            </a:r>
            <a:r>
              <a:rPr lang="en-IN" dirty="0"/>
              <a:t>a reference to the pooled instance is returned. </a:t>
            </a:r>
            <a:endParaRPr lang="en-IN" dirty="0" smtClean="0"/>
          </a:p>
          <a:p>
            <a:r>
              <a:rPr lang="en-IN" dirty="0" smtClean="0"/>
              <a:t>If </a:t>
            </a:r>
            <a:r>
              <a:rPr lang="en-IN" dirty="0"/>
              <a:t>the string doesn't exist in the </a:t>
            </a:r>
            <a:r>
              <a:rPr lang="en-IN" dirty="0" smtClean="0"/>
              <a:t>pool</a:t>
            </a:r>
            <a:r>
              <a:rPr lang="en-IN" dirty="0" smtClean="0">
                <a:sym typeface="Wingdings" panose="05000000000000000000" pitchFamily="2" charset="2"/>
              </a:rPr>
              <a:t></a:t>
            </a:r>
            <a:r>
              <a:rPr lang="en-IN" dirty="0" smtClean="0"/>
              <a:t> </a:t>
            </a:r>
            <a:r>
              <a:rPr lang="en-IN" dirty="0"/>
              <a:t>a new string instance is created and placed in the pool. </a:t>
            </a:r>
            <a:endParaRPr lang="en-IN" dirty="0" smtClean="0"/>
          </a:p>
          <a:p>
            <a:endParaRPr lang="en-IN" dirty="0"/>
          </a:p>
          <a:p>
            <a:r>
              <a:rPr lang="en-IN" dirty="0" smtClean="0"/>
              <a:t>Advantage: </a:t>
            </a:r>
            <a:r>
              <a:rPr lang="en-IN" dirty="0"/>
              <a:t>To make Java more memory efficient (because no new objects are created if it exists already in the string constant pool</a:t>
            </a:r>
            <a:r>
              <a:rPr lang="en-IN" dirty="0" smtClean="0"/>
              <a:t>).</a:t>
            </a:r>
          </a:p>
          <a:p>
            <a:endParaRPr lang="en-IN" dirty="0"/>
          </a:p>
          <a:p>
            <a:r>
              <a:rPr lang="en-IN" dirty="0"/>
              <a:t>By new keyword</a:t>
            </a:r>
          </a:p>
          <a:p>
            <a:r>
              <a:rPr lang="en-IN" dirty="0"/>
              <a:t>String s=new String</a:t>
            </a:r>
            <a:r>
              <a:rPr lang="en-IN" dirty="0" smtClean="0"/>
              <a:t>(“</a:t>
            </a:r>
            <a:r>
              <a:rPr lang="en-IN" dirty="0" err="1" smtClean="0"/>
              <a:t>InformationTechnology</a:t>
            </a:r>
            <a:r>
              <a:rPr lang="en-IN" dirty="0" smtClean="0"/>
              <a:t>");</a:t>
            </a:r>
          </a:p>
          <a:p>
            <a:endParaRPr lang="en-IN" dirty="0" smtClean="0"/>
          </a:p>
          <a:p>
            <a:r>
              <a:rPr lang="en-IN" dirty="0" smtClean="0"/>
              <a:t>JVM </a:t>
            </a:r>
            <a:r>
              <a:rPr lang="en-IN" dirty="0"/>
              <a:t>will create a new string object in normal (non-pool) heap </a:t>
            </a:r>
            <a:r>
              <a:rPr lang="en-IN" dirty="0" smtClean="0"/>
              <a:t>memory</a:t>
            </a:r>
          </a:p>
          <a:p>
            <a:endParaRPr lang="en-IN" dirty="0" smtClean="0"/>
          </a:p>
          <a:p>
            <a:r>
              <a:rPr lang="en-IN" dirty="0" smtClean="0"/>
              <a:t>variable </a:t>
            </a:r>
            <a:r>
              <a:rPr lang="en-IN" dirty="0"/>
              <a:t>s will refer to the object in a heap (non-pool).</a:t>
            </a:r>
          </a:p>
        </p:txBody>
      </p:sp>
    </p:spTree>
    <p:extLst>
      <p:ext uri="{BB962C8B-B14F-4D97-AF65-F5344CB8AC3E}">
        <p14:creationId xmlns:p14="http://schemas.microsoft.com/office/powerpoint/2010/main" val="6110308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Java-String</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buNone/>
            </a:pPr>
            <a:r>
              <a:rPr lang="en-IN" sz="1800" dirty="0"/>
              <a:t>public class </a:t>
            </a:r>
            <a:r>
              <a:rPr lang="en-IN" sz="1800" dirty="0" err="1"/>
              <a:t>StringExample</a:t>
            </a:r>
            <a:r>
              <a:rPr lang="en-IN" sz="1800" dirty="0"/>
              <a:t>{    </a:t>
            </a:r>
          </a:p>
          <a:p>
            <a:pPr marL="0" indent="0">
              <a:buNone/>
            </a:pPr>
            <a:r>
              <a:rPr lang="en-IN" sz="1800" dirty="0"/>
              <a:t>public static void main(String </a:t>
            </a:r>
            <a:r>
              <a:rPr lang="en-IN" sz="1800" dirty="0" err="1"/>
              <a:t>args</a:t>
            </a:r>
            <a:r>
              <a:rPr lang="en-IN" sz="1800" dirty="0"/>
              <a:t>[]){    </a:t>
            </a:r>
          </a:p>
          <a:p>
            <a:pPr marL="0" indent="0">
              <a:buNone/>
            </a:pPr>
            <a:r>
              <a:rPr lang="en-IN" sz="1800" dirty="0"/>
              <a:t>String s1="java";    </a:t>
            </a:r>
          </a:p>
          <a:p>
            <a:pPr marL="0" indent="0">
              <a:buNone/>
            </a:pPr>
            <a:r>
              <a:rPr lang="en-IN" sz="1800" dirty="0"/>
              <a:t>char </a:t>
            </a:r>
            <a:r>
              <a:rPr lang="en-IN" sz="1800" dirty="0" err="1"/>
              <a:t>ch</a:t>
            </a:r>
            <a:r>
              <a:rPr lang="en-IN" sz="1800" dirty="0"/>
              <a:t>[]={'</a:t>
            </a:r>
            <a:r>
              <a:rPr lang="en-IN" sz="1800" dirty="0" err="1"/>
              <a:t>w','e','l','c','o','m','e</a:t>
            </a:r>
            <a:r>
              <a:rPr lang="en-IN" sz="1800" dirty="0"/>
              <a:t>'};    </a:t>
            </a:r>
          </a:p>
          <a:p>
            <a:pPr marL="0" indent="0">
              <a:buNone/>
            </a:pPr>
            <a:r>
              <a:rPr lang="en-IN" sz="1800" dirty="0"/>
              <a:t>String s2=new String(</a:t>
            </a:r>
            <a:r>
              <a:rPr lang="en-IN" sz="1800" dirty="0" err="1"/>
              <a:t>ch</a:t>
            </a:r>
            <a:r>
              <a:rPr lang="en-IN" sz="1800" dirty="0"/>
              <a:t>);   </a:t>
            </a:r>
          </a:p>
          <a:p>
            <a:pPr marL="0" indent="0">
              <a:buNone/>
            </a:pPr>
            <a:r>
              <a:rPr lang="en-IN" sz="1800" dirty="0"/>
              <a:t>String s3=new String("example");</a:t>
            </a:r>
          </a:p>
          <a:p>
            <a:pPr marL="0" indent="0">
              <a:buNone/>
            </a:pPr>
            <a:r>
              <a:rPr lang="en-IN" sz="1800" dirty="0" err="1"/>
              <a:t>System.out.println</a:t>
            </a:r>
            <a:r>
              <a:rPr lang="en-IN" sz="1800" dirty="0"/>
              <a:t>(s1);    </a:t>
            </a:r>
          </a:p>
          <a:p>
            <a:pPr marL="0" indent="0">
              <a:buNone/>
            </a:pPr>
            <a:r>
              <a:rPr lang="en-IN" sz="1800" dirty="0" err="1"/>
              <a:t>System.out.println</a:t>
            </a:r>
            <a:r>
              <a:rPr lang="en-IN" sz="1800" dirty="0"/>
              <a:t>(s2);    </a:t>
            </a:r>
          </a:p>
          <a:p>
            <a:pPr marL="0" indent="0">
              <a:buNone/>
            </a:pPr>
            <a:r>
              <a:rPr lang="en-IN" sz="1800" dirty="0" err="1"/>
              <a:t>System.out.println</a:t>
            </a:r>
            <a:r>
              <a:rPr lang="en-IN" sz="1800" dirty="0"/>
              <a:t>(s3);    </a:t>
            </a:r>
          </a:p>
          <a:p>
            <a:pPr marL="0" indent="0">
              <a:buNone/>
            </a:pPr>
            <a:r>
              <a:rPr lang="en-IN" sz="1800" dirty="0"/>
              <a:t>}} </a:t>
            </a:r>
            <a:br>
              <a:rPr lang="en-IN" sz="1800" dirty="0"/>
            </a:br>
            <a:endParaRPr lang="en-IN" sz="1800" dirty="0"/>
          </a:p>
        </p:txBody>
      </p:sp>
      <p:sp>
        <p:nvSpPr>
          <p:cNvPr id="4" name="TextBox 3"/>
          <p:cNvSpPr txBox="1"/>
          <p:nvPr/>
        </p:nvSpPr>
        <p:spPr>
          <a:xfrm>
            <a:off x="4171950" y="0"/>
            <a:ext cx="7881505" cy="5909310"/>
          </a:xfrm>
          <a:prstGeom prst="rect">
            <a:avLst/>
          </a:prstGeom>
          <a:noFill/>
        </p:spPr>
        <p:txBody>
          <a:bodyPr wrap="square" rtlCol="0">
            <a:spAutoFit/>
          </a:bodyPr>
          <a:lstStyle/>
          <a:p>
            <a:endParaRPr lang="en-US" dirty="0" smtClean="0"/>
          </a:p>
          <a:p>
            <a:r>
              <a:rPr lang="en-IN" b="1" dirty="0"/>
              <a:t>String class </a:t>
            </a:r>
            <a:r>
              <a:rPr lang="en-IN" b="1" dirty="0" smtClean="0"/>
              <a:t>methods:</a:t>
            </a:r>
          </a:p>
          <a:p>
            <a:pPr marL="285750" indent="-285750">
              <a:buFont typeface="Arial" panose="020B0604020202020204" pitchFamily="34" charset="0"/>
              <a:buChar char="•"/>
            </a:pPr>
            <a:r>
              <a:rPr lang="en-IN" dirty="0"/>
              <a:t>char </a:t>
            </a:r>
            <a:r>
              <a:rPr lang="en-IN" dirty="0" err="1"/>
              <a:t>charAt</a:t>
            </a:r>
            <a:r>
              <a:rPr lang="en-IN" dirty="0"/>
              <a:t>(</a:t>
            </a:r>
            <a:r>
              <a:rPr lang="en-IN" dirty="0" err="1"/>
              <a:t>int</a:t>
            </a:r>
            <a:r>
              <a:rPr lang="en-IN" dirty="0"/>
              <a:t> index</a:t>
            </a:r>
            <a:r>
              <a:rPr lang="en-IN" dirty="0" smtClean="0"/>
              <a:t>)-</a:t>
            </a:r>
            <a:r>
              <a:rPr lang="en-IN" dirty="0"/>
              <a:t>It returns char value for the particular </a:t>
            </a:r>
            <a:r>
              <a:rPr lang="en-IN" dirty="0" smtClean="0"/>
              <a:t>index</a:t>
            </a:r>
          </a:p>
          <a:p>
            <a:pPr marL="285750" indent="-285750">
              <a:buFont typeface="Arial" panose="020B0604020202020204" pitchFamily="34" charset="0"/>
              <a:buChar char="•"/>
            </a:pPr>
            <a:r>
              <a:rPr lang="en-IN" dirty="0" err="1"/>
              <a:t>int</a:t>
            </a:r>
            <a:r>
              <a:rPr lang="en-IN" dirty="0"/>
              <a:t> length</a:t>
            </a:r>
            <a:r>
              <a:rPr lang="en-IN" dirty="0" smtClean="0"/>
              <a:t>()- returns string length</a:t>
            </a:r>
          </a:p>
          <a:p>
            <a:pPr marL="285750" indent="-285750">
              <a:buFont typeface="Arial" panose="020B0604020202020204" pitchFamily="34" charset="0"/>
              <a:buChar char="•"/>
            </a:pPr>
            <a:r>
              <a:rPr lang="en-IN" dirty="0"/>
              <a:t>String substring(</a:t>
            </a:r>
            <a:r>
              <a:rPr lang="en-IN" dirty="0" err="1"/>
              <a:t>int</a:t>
            </a:r>
            <a:r>
              <a:rPr lang="en-IN" dirty="0"/>
              <a:t> </a:t>
            </a:r>
            <a:r>
              <a:rPr lang="en-IN" dirty="0" err="1"/>
              <a:t>beginIndex</a:t>
            </a:r>
            <a:r>
              <a:rPr lang="en-IN" dirty="0" smtClean="0"/>
              <a:t>)-</a:t>
            </a:r>
            <a:r>
              <a:rPr lang="en-IN" dirty="0"/>
              <a:t>It returns substring for given begin index</a:t>
            </a:r>
            <a:r>
              <a:rPr lang="en-IN" dirty="0" smtClean="0"/>
              <a:t>.</a:t>
            </a:r>
          </a:p>
          <a:p>
            <a:pPr marL="285750" indent="-285750">
              <a:buFont typeface="Arial" panose="020B0604020202020204" pitchFamily="34" charset="0"/>
              <a:buChar char="•"/>
            </a:pPr>
            <a:r>
              <a:rPr lang="en-IN" dirty="0"/>
              <a:t>String substring(</a:t>
            </a:r>
            <a:r>
              <a:rPr lang="en-IN" dirty="0" err="1"/>
              <a:t>int</a:t>
            </a:r>
            <a:r>
              <a:rPr lang="en-IN" dirty="0"/>
              <a:t> </a:t>
            </a:r>
            <a:r>
              <a:rPr lang="en-IN" dirty="0" err="1"/>
              <a:t>beginIndex</a:t>
            </a:r>
            <a:r>
              <a:rPr lang="en-IN" dirty="0"/>
              <a:t>, </a:t>
            </a:r>
            <a:r>
              <a:rPr lang="en-IN" dirty="0" err="1"/>
              <a:t>int</a:t>
            </a:r>
            <a:r>
              <a:rPr lang="en-IN" dirty="0"/>
              <a:t> </a:t>
            </a:r>
            <a:r>
              <a:rPr lang="en-IN" dirty="0" err="1"/>
              <a:t>endIndex</a:t>
            </a:r>
            <a:r>
              <a:rPr lang="en-IN" dirty="0" smtClean="0"/>
              <a:t>)- </a:t>
            </a:r>
            <a:r>
              <a:rPr lang="en-IN" dirty="0"/>
              <a:t>It returns substring for given begin index and end index</a:t>
            </a:r>
            <a:r>
              <a:rPr lang="en-IN" dirty="0" smtClean="0"/>
              <a:t>.</a:t>
            </a:r>
          </a:p>
          <a:p>
            <a:pPr marL="285750" indent="-285750">
              <a:buFont typeface="Arial" panose="020B0604020202020204" pitchFamily="34" charset="0"/>
              <a:buChar char="•"/>
            </a:pPr>
            <a:r>
              <a:rPr lang="en-IN" dirty="0" err="1"/>
              <a:t>boolean</a:t>
            </a:r>
            <a:r>
              <a:rPr lang="en-IN" dirty="0"/>
              <a:t> contains(</a:t>
            </a:r>
            <a:r>
              <a:rPr lang="en-IN" dirty="0" err="1"/>
              <a:t>CharSequence</a:t>
            </a:r>
            <a:r>
              <a:rPr lang="en-IN" dirty="0"/>
              <a:t> s</a:t>
            </a:r>
            <a:r>
              <a:rPr lang="en-IN" dirty="0" smtClean="0"/>
              <a:t>)-</a:t>
            </a:r>
            <a:r>
              <a:rPr lang="en-IN" dirty="0"/>
              <a:t>It returns true or false after matching the sequence of char value</a:t>
            </a:r>
            <a:r>
              <a:rPr lang="en-IN" dirty="0" smtClean="0"/>
              <a:t>.</a:t>
            </a:r>
          </a:p>
          <a:p>
            <a:pPr marL="285750" indent="-285750">
              <a:buFont typeface="Arial" panose="020B0604020202020204" pitchFamily="34" charset="0"/>
              <a:buChar char="•"/>
            </a:pPr>
            <a:r>
              <a:rPr lang="en-IN" dirty="0" smtClean="0"/>
              <a:t>static </a:t>
            </a:r>
            <a:r>
              <a:rPr lang="en-IN" dirty="0"/>
              <a:t>String join(</a:t>
            </a:r>
            <a:r>
              <a:rPr lang="en-IN" dirty="0" err="1"/>
              <a:t>CharSequence</a:t>
            </a:r>
            <a:r>
              <a:rPr lang="en-IN" dirty="0"/>
              <a:t> delimiter, </a:t>
            </a:r>
            <a:r>
              <a:rPr lang="en-IN" dirty="0" err="1"/>
              <a:t>CharSequence</a:t>
            </a:r>
            <a:r>
              <a:rPr lang="en-IN" dirty="0"/>
              <a:t>... elements</a:t>
            </a:r>
            <a:r>
              <a:rPr lang="en-IN" dirty="0" smtClean="0"/>
              <a:t>)-</a:t>
            </a:r>
            <a:r>
              <a:rPr lang="en-IN" dirty="0"/>
              <a:t>It returns a joined string</a:t>
            </a:r>
            <a:r>
              <a:rPr lang="en-IN" dirty="0" smtClean="0"/>
              <a:t>.</a:t>
            </a:r>
          </a:p>
          <a:p>
            <a:pPr marL="285750" indent="-285750">
              <a:buFont typeface="Arial" panose="020B0604020202020204" pitchFamily="34" charset="0"/>
              <a:buChar char="•"/>
            </a:pPr>
            <a:r>
              <a:rPr lang="en-IN" dirty="0"/>
              <a:t>String </a:t>
            </a:r>
            <a:r>
              <a:rPr lang="en-IN" dirty="0" err="1"/>
              <a:t>concat</a:t>
            </a:r>
            <a:r>
              <a:rPr lang="en-IN" dirty="0"/>
              <a:t>(String </a:t>
            </a:r>
            <a:r>
              <a:rPr lang="en-IN" dirty="0" err="1"/>
              <a:t>str</a:t>
            </a:r>
            <a:r>
              <a:rPr lang="en-IN" dirty="0" smtClean="0"/>
              <a:t>)-</a:t>
            </a:r>
            <a:r>
              <a:rPr lang="en-IN" dirty="0"/>
              <a:t>It concatenates the specified string</a:t>
            </a:r>
            <a:r>
              <a:rPr lang="en-IN" dirty="0" smtClean="0"/>
              <a:t>.</a:t>
            </a:r>
          </a:p>
          <a:p>
            <a:pPr marL="285750" indent="-285750">
              <a:buFont typeface="Arial" panose="020B0604020202020204" pitchFamily="34" charset="0"/>
              <a:buChar char="•"/>
            </a:pPr>
            <a:r>
              <a:rPr lang="en-IN" dirty="0"/>
              <a:t>String replace(char old, char new</a:t>
            </a:r>
            <a:r>
              <a:rPr lang="en-IN" dirty="0" smtClean="0"/>
              <a:t>)-</a:t>
            </a:r>
            <a:r>
              <a:rPr lang="en-IN" dirty="0"/>
              <a:t>It replaces all occurrences of the specified char value</a:t>
            </a:r>
            <a:r>
              <a:rPr lang="en-IN" dirty="0" smtClean="0"/>
              <a:t>.</a:t>
            </a:r>
          </a:p>
          <a:p>
            <a:pPr marL="285750" indent="-285750">
              <a:buFont typeface="Arial" panose="020B0604020202020204" pitchFamily="34" charset="0"/>
              <a:buChar char="•"/>
            </a:pPr>
            <a:r>
              <a:rPr lang="en-IN" dirty="0"/>
              <a:t>String[] split(String regex</a:t>
            </a:r>
            <a:r>
              <a:rPr lang="en-IN" dirty="0" smtClean="0"/>
              <a:t>)-</a:t>
            </a:r>
            <a:r>
              <a:rPr lang="en-IN" dirty="0"/>
              <a:t>It returns a split string matching regex</a:t>
            </a:r>
            <a:r>
              <a:rPr lang="en-IN" dirty="0" smtClean="0"/>
              <a:t>.</a:t>
            </a:r>
          </a:p>
          <a:p>
            <a:pPr marL="285750" indent="-285750">
              <a:buFont typeface="Arial" panose="020B0604020202020204" pitchFamily="34" charset="0"/>
              <a:buChar char="•"/>
            </a:pPr>
            <a:r>
              <a:rPr lang="en-IN" dirty="0" err="1"/>
              <a:t>int</a:t>
            </a:r>
            <a:r>
              <a:rPr lang="en-IN" dirty="0"/>
              <a:t> </a:t>
            </a:r>
            <a:r>
              <a:rPr lang="en-IN" dirty="0" err="1"/>
              <a:t>indexOf</a:t>
            </a:r>
            <a:r>
              <a:rPr lang="en-IN" dirty="0"/>
              <a:t>(</a:t>
            </a:r>
            <a:r>
              <a:rPr lang="en-IN" dirty="0" err="1"/>
              <a:t>int</a:t>
            </a:r>
            <a:r>
              <a:rPr lang="en-IN" dirty="0"/>
              <a:t> </a:t>
            </a:r>
            <a:r>
              <a:rPr lang="en-IN" dirty="0" err="1"/>
              <a:t>ch</a:t>
            </a:r>
            <a:r>
              <a:rPr lang="en-IN" dirty="0"/>
              <a:t>, </a:t>
            </a:r>
            <a:r>
              <a:rPr lang="en-IN" dirty="0" err="1"/>
              <a:t>int</a:t>
            </a:r>
            <a:r>
              <a:rPr lang="en-IN" dirty="0"/>
              <a:t> </a:t>
            </a:r>
            <a:r>
              <a:rPr lang="en-IN" dirty="0" err="1"/>
              <a:t>fromIndex</a:t>
            </a:r>
            <a:r>
              <a:rPr lang="en-IN" dirty="0" smtClean="0"/>
              <a:t>)-</a:t>
            </a:r>
            <a:r>
              <a:rPr lang="en-IN" dirty="0"/>
              <a:t>It returns the specified char value index starting with given index</a:t>
            </a:r>
            <a:r>
              <a:rPr lang="en-IN" dirty="0" smtClean="0"/>
              <a:t>.</a:t>
            </a:r>
          </a:p>
          <a:p>
            <a:pPr marL="285750" indent="-285750">
              <a:buFont typeface="Arial" panose="020B0604020202020204" pitchFamily="34" charset="0"/>
              <a:buChar char="•"/>
            </a:pPr>
            <a:r>
              <a:rPr lang="en-IN" dirty="0" smtClean="0"/>
              <a:t>String </a:t>
            </a:r>
            <a:r>
              <a:rPr lang="en-IN" dirty="0" err="1"/>
              <a:t>toLowerCase</a:t>
            </a:r>
            <a:r>
              <a:rPr lang="en-IN" dirty="0" smtClean="0"/>
              <a:t>()-</a:t>
            </a:r>
            <a:r>
              <a:rPr lang="en-IN" dirty="0"/>
              <a:t>It returns a string in lowercase</a:t>
            </a:r>
            <a:r>
              <a:rPr lang="en-IN" dirty="0" smtClean="0"/>
              <a:t>.</a:t>
            </a:r>
          </a:p>
          <a:p>
            <a:pPr marL="285750" indent="-285750">
              <a:buFont typeface="Arial" panose="020B0604020202020204" pitchFamily="34" charset="0"/>
              <a:buChar char="•"/>
            </a:pPr>
            <a:r>
              <a:rPr lang="en-IN" dirty="0"/>
              <a:t>String </a:t>
            </a:r>
            <a:r>
              <a:rPr lang="en-IN" dirty="0" err="1"/>
              <a:t>toUpperCase</a:t>
            </a:r>
            <a:r>
              <a:rPr lang="en-IN" dirty="0" smtClean="0"/>
              <a:t>()-It </a:t>
            </a:r>
            <a:r>
              <a:rPr lang="en-IN" dirty="0"/>
              <a:t>returns a string in uppercase</a:t>
            </a:r>
            <a:r>
              <a:rPr lang="en-IN" dirty="0" smtClean="0"/>
              <a:t>.</a:t>
            </a:r>
          </a:p>
          <a:p>
            <a:pPr marL="285750" indent="-285750">
              <a:buFont typeface="Arial" panose="020B0604020202020204" pitchFamily="34" charset="0"/>
              <a:buChar char="•"/>
            </a:pPr>
            <a:r>
              <a:rPr lang="en-IN" dirty="0" smtClean="0"/>
              <a:t>static </a:t>
            </a:r>
            <a:r>
              <a:rPr lang="en-IN" dirty="0"/>
              <a:t>String </a:t>
            </a:r>
            <a:r>
              <a:rPr lang="en-IN" dirty="0" err="1"/>
              <a:t>valueOf</a:t>
            </a:r>
            <a:r>
              <a:rPr lang="en-IN" dirty="0"/>
              <a:t>(</a:t>
            </a:r>
            <a:r>
              <a:rPr lang="en-IN" dirty="0" err="1"/>
              <a:t>int</a:t>
            </a:r>
            <a:r>
              <a:rPr lang="en-IN" dirty="0"/>
              <a:t> value</a:t>
            </a:r>
            <a:r>
              <a:rPr lang="en-IN" dirty="0" smtClean="0"/>
              <a:t>)-</a:t>
            </a:r>
            <a:r>
              <a:rPr lang="en-IN" dirty="0"/>
              <a:t>It converts given type into string. It is an overloaded method.</a:t>
            </a:r>
          </a:p>
        </p:txBody>
      </p:sp>
    </p:spTree>
    <p:extLst>
      <p:ext uri="{BB962C8B-B14F-4D97-AF65-F5344CB8AC3E}">
        <p14:creationId xmlns:p14="http://schemas.microsoft.com/office/powerpoint/2010/main" val="151508632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Java-String</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buNone/>
            </a:pPr>
            <a:r>
              <a:rPr lang="en-IN" sz="1800" dirty="0"/>
              <a:t>String objects are </a:t>
            </a:r>
            <a:r>
              <a:rPr lang="en-IN" sz="1800" dirty="0" smtClean="0"/>
              <a:t>immutable(or) unmodifiable (or) unchangeable.</a:t>
            </a:r>
          </a:p>
          <a:p>
            <a:pPr marL="0" indent="0">
              <a:buNone/>
            </a:pPr>
            <a:r>
              <a:rPr lang="en-IN" sz="1800" dirty="0"/>
              <a:t>Once String object is created its data or state can't be changed but a new String object is created</a:t>
            </a:r>
            <a:r>
              <a:rPr lang="en-IN" sz="1800" dirty="0" smtClean="0"/>
              <a:t>.</a:t>
            </a:r>
          </a:p>
          <a:p>
            <a:pPr marL="0" indent="0">
              <a:buNone/>
            </a:pPr>
            <a:endParaRPr lang="en-IN" sz="1800" dirty="0"/>
          </a:p>
          <a:p>
            <a:pPr marL="0" indent="0">
              <a:spcBef>
                <a:spcPts val="0"/>
              </a:spcBef>
              <a:buNone/>
            </a:pPr>
            <a:r>
              <a:rPr lang="en-IN" sz="1800" dirty="0"/>
              <a:t>public class </a:t>
            </a:r>
            <a:r>
              <a:rPr lang="en-IN" sz="1800" dirty="0" err="1"/>
              <a:t>Testimmutablestring</a:t>
            </a:r>
            <a:r>
              <a:rPr lang="en-IN" sz="1800" dirty="0"/>
              <a:t>{  </a:t>
            </a:r>
          </a:p>
          <a:p>
            <a:pPr marL="0" indent="0">
              <a:spcBef>
                <a:spcPts val="0"/>
              </a:spcBef>
              <a:buNone/>
            </a:pPr>
            <a:r>
              <a:rPr lang="en-IN" sz="1800" dirty="0"/>
              <a:t> public static void main(String </a:t>
            </a:r>
            <a:r>
              <a:rPr lang="en-IN" sz="1800" dirty="0" err="1"/>
              <a:t>args</a:t>
            </a:r>
            <a:r>
              <a:rPr lang="en-IN" sz="1800" dirty="0"/>
              <a:t>[]){  </a:t>
            </a:r>
          </a:p>
          <a:p>
            <a:pPr marL="0" indent="0">
              <a:spcBef>
                <a:spcPts val="0"/>
              </a:spcBef>
              <a:buNone/>
            </a:pPr>
            <a:r>
              <a:rPr lang="en-IN" sz="1800" dirty="0"/>
              <a:t>   </a:t>
            </a:r>
            <a:r>
              <a:rPr lang="en-IN" sz="1800" b="1" dirty="0"/>
              <a:t>String s="IPL";  </a:t>
            </a:r>
          </a:p>
          <a:p>
            <a:pPr marL="0" indent="0">
              <a:spcBef>
                <a:spcPts val="0"/>
              </a:spcBef>
              <a:buNone/>
            </a:pPr>
            <a:r>
              <a:rPr lang="en-IN" sz="1800" b="1" dirty="0"/>
              <a:t>   </a:t>
            </a:r>
            <a:r>
              <a:rPr lang="en-IN" sz="1800" b="1" dirty="0" err="1"/>
              <a:t>s.concat</a:t>
            </a:r>
            <a:r>
              <a:rPr lang="en-IN" sz="1800" b="1" dirty="0"/>
              <a:t>(" 2021");/</a:t>
            </a:r>
            <a:r>
              <a:rPr lang="en-IN" sz="1800" dirty="0"/>
              <a:t>/</a:t>
            </a:r>
            <a:r>
              <a:rPr lang="en-IN" sz="1800" dirty="0" err="1"/>
              <a:t>concat</a:t>
            </a:r>
            <a:r>
              <a:rPr lang="en-IN" sz="1800" dirty="0"/>
              <a:t>() method appends the string at the end  </a:t>
            </a:r>
          </a:p>
          <a:p>
            <a:pPr marL="0" indent="0">
              <a:spcBef>
                <a:spcPts val="0"/>
              </a:spcBef>
              <a:buNone/>
            </a:pPr>
            <a:r>
              <a:rPr lang="en-IN" sz="1800" dirty="0"/>
              <a:t>   </a:t>
            </a:r>
            <a:r>
              <a:rPr lang="en-IN" sz="1800" dirty="0" err="1"/>
              <a:t>System.out.println</a:t>
            </a:r>
            <a:r>
              <a:rPr lang="en-IN" sz="1800" dirty="0"/>
              <a:t>(s);//will print IPL because strings are immutable objects  </a:t>
            </a:r>
          </a:p>
          <a:p>
            <a:pPr marL="0" indent="0">
              <a:spcBef>
                <a:spcPts val="0"/>
              </a:spcBef>
              <a:buNone/>
            </a:pPr>
            <a:r>
              <a:rPr lang="en-IN" sz="1800" dirty="0"/>
              <a:t> }  </a:t>
            </a:r>
          </a:p>
          <a:p>
            <a:pPr marL="0" indent="0">
              <a:spcBef>
                <a:spcPts val="0"/>
              </a:spcBef>
              <a:buNone/>
            </a:pPr>
            <a:r>
              <a:rPr lang="en-IN" sz="1800" dirty="0"/>
              <a:t>} </a:t>
            </a:r>
            <a:endParaRPr lang="en-IN" sz="1800" dirty="0" smtClean="0"/>
          </a:p>
          <a:p>
            <a:pPr marL="0" indent="0">
              <a:spcBef>
                <a:spcPts val="0"/>
              </a:spcBef>
              <a:buNone/>
            </a:pPr>
            <a:endParaRPr lang="en-IN" sz="1800" dirty="0"/>
          </a:p>
          <a:p>
            <a:pPr marL="0" indent="0">
              <a:spcBef>
                <a:spcPts val="0"/>
              </a:spcBef>
              <a:buNone/>
            </a:pPr>
            <a:r>
              <a:rPr lang="en-IN" sz="1800" dirty="0"/>
              <a:t>Here </a:t>
            </a:r>
            <a:r>
              <a:rPr lang="en-IN" sz="1800" dirty="0" smtClean="0"/>
              <a:t>IPL </a:t>
            </a:r>
            <a:r>
              <a:rPr lang="en-IN" sz="1800" dirty="0"/>
              <a:t>is not changed but a new object is created with </a:t>
            </a:r>
            <a:r>
              <a:rPr lang="en-IN" sz="1800" dirty="0" smtClean="0"/>
              <a:t>IPL 2021. (immutable String)</a:t>
            </a:r>
          </a:p>
          <a:p>
            <a:pPr marL="0" indent="0">
              <a:spcBef>
                <a:spcPts val="0"/>
              </a:spcBef>
              <a:buNone/>
            </a:pPr>
            <a:endParaRPr lang="en-IN" sz="1800" dirty="0"/>
          </a:p>
          <a:p>
            <a:pPr marL="0" indent="0">
              <a:spcBef>
                <a:spcPts val="0"/>
              </a:spcBef>
              <a:buNone/>
            </a:pPr>
            <a:r>
              <a:rPr lang="en-IN" sz="1800" dirty="0" smtClean="0"/>
              <a:t>Two </a:t>
            </a:r>
            <a:r>
              <a:rPr lang="en-IN" sz="1800" dirty="0"/>
              <a:t>objects are created but s reference variable still refers to </a:t>
            </a:r>
            <a:r>
              <a:rPr lang="en-IN" sz="1800" dirty="0" smtClean="0"/>
              <a:t>“IPL" </a:t>
            </a:r>
            <a:r>
              <a:rPr lang="en-IN" sz="1800" dirty="0"/>
              <a:t>not to </a:t>
            </a:r>
            <a:r>
              <a:rPr lang="en-IN" sz="1800" dirty="0" smtClean="0"/>
              <a:t>“IPL 2021".</a:t>
            </a:r>
          </a:p>
          <a:p>
            <a:pPr marL="0" indent="0">
              <a:spcBef>
                <a:spcPts val="0"/>
              </a:spcBef>
              <a:buNone/>
            </a:pPr>
            <a:endParaRPr lang="en-IN" sz="1800" dirty="0"/>
          </a:p>
          <a:p>
            <a:pPr marL="0" indent="0">
              <a:spcBef>
                <a:spcPts val="0"/>
              </a:spcBef>
              <a:buNone/>
            </a:pPr>
            <a:r>
              <a:rPr lang="en-IN" sz="1800" dirty="0"/>
              <a:t> if we explicitly assign it to the reference variable, it will refer to </a:t>
            </a:r>
            <a:r>
              <a:rPr lang="en-IN" sz="1800" dirty="0" smtClean="0"/>
              <a:t>“IPL 2021" </a:t>
            </a:r>
            <a:r>
              <a:rPr lang="en-IN" sz="1800" dirty="0"/>
              <a:t>object.</a:t>
            </a:r>
          </a:p>
        </p:txBody>
      </p:sp>
      <p:sp>
        <p:nvSpPr>
          <p:cNvPr id="4" name="TextBox 3"/>
          <p:cNvSpPr txBox="1"/>
          <p:nvPr/>
        </p:nvSpPr>
        <p:spPr>
          <a:xfrm>
            <a:off x="6157915" y="0"/>
            <a:ext cx="6024130" cy="7294305"/>
          </a:xfrm>
          <a:prstGeom prst="rect">
            <a:avLst/>
          </a:prstGeom>
          <a:noFill/>
        </p:spPr>
        <p:txBody>
          <a:bodyPr wrap="square" rtlCol="0">
            <a:spAutoFit/>
          </a:bodyPr>
          <a:lstStyle/>
          <a:p>
            <a:endParaRPr lang="en-US" dirty="0" smtClean="0"/>
          </a:p>
          <a:p>
            <a:r>
              <a:rPr lang="en-IN" dirty="0"/>
              <a:t>public class </a:t>
            </a:r>
            <a:r>
              <a:rPr lang="en-IN" dirty="0" err="1"/>
              <a:t>Testimmutablestring</a:t>
            </a:r>
            <a:r>
              <a:rPr lang="en-IN" dirty="0"/>
              <a:t>{  </a:t>
            </a:r>
          </a:p>
          <a:p>
            <a:r>
              <a:rPr lang="en-IN" dirty="0"/>
              <a:t> public static void main(String </a:t>
            </a:r>
            <a:r>
              <a:rPr lang="en-IN" dirty="0" err="1"/>
              <a:t>args</a:t>
            </a:r>
            <a:r>
              <a:rPr lang="en-IN" dirty="0"/>
              <a:t>[]){  </a:t>
            </a:r>
          </a:p>
          <a:p>
            <a:r>
              <a:rPr lang="en-IN" b="1" dirty="0"/>
              <a:t>   String s="IPL";  </a:t>
            </a:r>
          </a:p>
          <a:p>
            <a:r>
              <a:rPr lang="en-IN" b="1" dirty="0"/>
              <a:t>   s=</a:t>
            </a:r>
            <a:r>
              <a:rPr lang="en-IN" b="1" dirty="0" err="1"/>
              <a:t>s.concat</a:t>
            </a:r>
            <a:r>
              <a:rPr lang="en-IN" b="1" dirty="0"/>
              <a:t>(" 2021");  </a:t>
            </a:r>
          </a:p>
          <a:p>
            <a:r>
              <a:rPr lang="en-IN" dirty="0"/>
              <a:t>   </a:t>
            </a:r>
            <a:r>
              <a:rPr lang="en-IN" dirty="0" err="1"/>
              <a:t>System.out.println</a:t>
            </a:r>
            <a:r>
              <a:rPr lang="en-IN" dirty="0"/>
              <a:t>(s);  </a:t>
            </a:r>
          </a:p>
          <a:p>
            <a:r>
              <a:rPr lang="en-IN" dirty="0"/>
              <a:t> }  </a:t>
            </a:r>
          </a:p>
          <a:p>
            <a:r>
              <a:rPr lang="en-IN" dirty="0"/>
              <a:t>} </a:t>
            </a:r>
            <a:endParaRPr lang="en-IN" dirty="0" smtClean="0"/>
          </a:p>
          <a:p>
            <a:endParaRPr lang="en-IN" dirty="0"/>
          </a:p>
          <a:p>
            <a:r>
              <a:rPr lang="en-IN" dirty="0"/>
              <a:t>s points to the </a:t>
            </a:r>
            <a:r>
              <a:rPr lang="en-IN" dirty="0" smtClean="0"/>
              <a:t>“IPL 2021“, still IPL </a:t>
            </a:r>
            <a:r>
              <a:rPr lang="en-IN" dirty="0"/>
              <a:t>object is not modified</a:t>
            </a:r>
            <a:r>
              <a:rPr lang="en-IN" dirty="0" smtClean="0"/>
              <a:t>.</a:t>
            </a:r>
          </a:p>
          <a:p>
            <a:endParaRPr lang="en-IN" dirty="0" smtClean="0"/>
          </a:p>
          <a:p>
            <a:r>
              <a:rPr lang="en-IN" dirty="0" smtClean="0"/>
              <a:t>Why immutable?</a:t>
            </a:r>
          </a:p>
          <a:p>
            <a:r>
              <a:rPr lang="en-US" b="1" dirty="0" smtClean="0"/>
              <a:t>1. Security:</a:t>
            </a:r>
          </a:p>
          <a:p>
            <a:r>
              <a:rPr lang="en-US" b="1" dirty="0" smtClean="0"/>
              <a:t>Strings are often used in file paths, URLs, Database credentials, Network sockets.</a:t>
            </a:r>
            <a:endParaRPr lang="en-IN" b="1" dirty="0" smtClean="0"/>
          </a:p>
          <a:p>
            <a:r>
              <a:rPr lang="en-US" dirty="0" smtClean="0"/>
              <a:t>If a string were mutable, someone could change the value after its used causing serious security risks.</a:t>
            </a:r>
          </a:p>
          <a:p>
            <a:r>
              <a:rPr lang="en-US" dirty="0" smtClean="0"/>
              <a:t>2. </a:t>
            </a:r>
            <a:r>
              <a:rPr lang="en-US" b="1" dirty="0" smtClean="0"/>
              <a:t>Thread safety</a:t>
            </a:r>
          </a:p>
          <a:p>
            <a:r>
              <a:rPr lang="en-US" dirty="0" smtClean="0"/>
              <a:t>Since strings can’t change, they are inherently thread safe. Multiple threads can safely share the same string without synchronization.</a:t>
            </a:r>
          </a:p>
          <a:p>
            <a:pPr marL="342900" indent="-342900">
              <a:buAutoNum type="arabicPeriod" startAt="3"/>
            </a:pPr>
            <a:r>
              <a:rPr lang="en-US" dirty="0" smtClean="0"/>
              <a:t>String pooling for Memory efficiency</a:t>
            </a:r>
          </a:p>
          <a:p>
            <a:r>
              <a:rPr lang="en-US" dirty="0" smtClean="0"/>
              <a:t>String s1=“hello”;</a:t>
            </a:r>
          </a:p>
          <a:p>
            <a:r>
              <a:rPr lang="en-US" dirty="0" smtClean="0"/>
              <a:t>String S2= “hello”;  Both refer to the same object in pool/</a:t>
            </a:r>
          </a:p>
          <a:p>
            <a:pPr marL="342900" indent="-342900">
              <a:buAutoNum type="arabicPeriod" startAt="3"/>
            </a:pPr>
            <a:endParaRPr lang="en-IN" dirty="0"/>
          </a:p>
          <a:p>
            <a:endParaRPr lang="en-IN" dirty="0"/>
          </a:p>
        </p:txBody>
      </p:sp>
    </p:spTree>
    <p:extLst>
      <p:ext uri="{BB962C8B-B14F-4D97-AF65-F5344CB8AC3E}">
        <p14:creationId xmlns:p14="http://schemas.microsoft.com/office/powerpoint/2010/main" val="36225206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a:t>
            </a:r>
            <a:r>
              <a:rPr lang="en-US" dirty="0" err="1" smtClean="0"/>
              <a:t>StringBuffer</a:t>
            </a:r>
            <a:r>
              <a:rPr lang="en-US" dirty="0" smtClean="0"/>
              <a:t> Class</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buNone/>
            </a:pPr>
            <a:r>
              <a:rPr lang="en-IN" sz="1800" dirty="0" err="1"/>
              <a:t>StringBuffer</a:t>
            </a:r>
            <a:r>
              <a:rPr lang="en-IN" sz="1800" dirty="0"/>
              <a:t> class is used to create mutable (modifiable) String objects. </a:t>
            </a:r>
            <a:endParaRPr lang="en-IN" sz="1800" dirty="0" smtClean="0"/>
          </a:p>
          <a:p>
            <a:pPr marL="0" indent="0">
              <a:buNone/>
            </a:pPr>
            <a:r>
              <a:rPr lang="en-IN" sz="1800" dirty="0" smtClean="0"/>
              <a:t>The </a:t>
            </a:r>
            <a:r>
              <a:rPr lang="en-IN" sz="1800" dirty="0" err="1"/>
              <a:t>StringBuffer</a:t>
            </a:r>
            <a:r>
              <a:rPr lang="en-IN" sz="1800" dirty="0"/>
              <a:t> class in Java is the same as String class except it is </a:t>
            </a:r>
            <a:r>
              <a:rPr lang="en-IN" sz="1800" dirty="0" smtClean="0"/>
              <a:t>mutable.</a:t>
            </a:r>
          </a:p>
          <a:p>
            <a:pPr marL="0" indent="0">
              <a:buNone/>
            </a:pPr>
            <a:r>
              <a:rPr lang="en-IN" sz="1800" b="1" dirty="0" smtClean="0"/>
              <a:t>Constructors: </a:t>
            </a:r>
          </a:p>
          <a:p>
            <a:pPr marL="0" indent="0">
              <a:buNone/>
            </a:pPr>
            <a:r>
              <a:rPr lang="en-IN" sz="1800" dirty="0" err="1"/>
              <a:t>StringBuffer</a:t>
            </a:r>
            <a:r>
              <a:rPr lang="en-IN" sz="1800" dirty="0" smtClean="0"/>
              <a:t>()</a:t>
            </a:r>
            <a:r>
              <a:rPr lang="en-IN" sz="1800" dirty="0" smtClean="0">
                <a:sym typeface="Wingdings" panose="05000000000000000000" pitchFamily="2" charset="2"/>
              </a:rPr>
              <a:t></a:t>
            </a:r>
            <a:r>
              <a:rPr lang="en-IN" sz="1800" dirty="0" smtClean="0"/>
              <a:t>It </a:t>
            </a:r>
            <a:r>
              <a:rPr lang="en-IN" sz="1800" dirty="0"/>
              <a:t>creates an empty String buffer with the initial capacity of 16.</a:t>
            </a:r>
          </a:p>
          <a:p>
            <a:pPr marL="0" indent="0">
              <a:buNone/>
            </a:pPr>
            <a:r>
              <a:rPr lang="en-IN" sz="1800" dirty="0" err="1"/>
              <a:t>StringBuffer</a:t>
            </a:r>
            <a:r>
              <a:rPr lang="en-IN" sz="1800" dirty="0"/>
              <a:t>(String </a:t>
            </a:r>
            <a:r>
              <a:rPr lang="en-IN" sz="1800" dirty="0" err="1" smtClean="0"/>
              <a:t>str</a:t>
            </a:r>
            <a:r>
              <a:rPr lang="en-IN" sz="1800" dirty="0" smtClean="0"/>
              <a:t>)</a:t>
            </a:r>
            <a:r>
              <a:rPr lang="en-IN" sz="1800" dirty="0" smtClean="0">
                <a:sym typeface="Wingdings" panose="05000000000000000000" pitchFamily="2" charset="2"/>
              </a:rPr>
              <a:t></a:t>
            </a:r>
            <a:r>
              <a:rPr lang="en-IN" sz="1800" dirty="0" smtClean="0"/>
              <a:t>It </a:t>
            </a:r>
            <a:r>
              <a:rPr lang="en-IN" sz="1800" dirty="0"/>
              <a:t>creates a String buffer with the specified string..</a:t>
            </a:r>
          </a:p>
          <a:p>
            <a:pPr marL="0" indent="0">
              <a:buNone/>
            </a:pPr>
            <a:r>
              <a:rPr lang="en-IN" sz="1800" dirty="0" err="1"/>
              <a:t>StringBuffer</a:t>
            </a:r>
            <a:r>
              <a:rPr lang="en-IN" sz="1800" dirty="0"/>
              <a:t>(</a:t>
            </a:r>
            <a:r>
              <a:rPr lang="en-IN" sz="1800" dirty="0" err="1"/>
              <a:t>int</a:t>
            </a:r>
            <a:r>
              <a:rPr lang="en-IN" sz="1800" dirty="0"/>
              <a:t> </a:t>
            </a:r>
            <a:r>
              <a:rPr lang="en-IN" sz="1800" dirty="0" smtClean="0"/>
              <a:t>capacity)</a:t>
            </a:r>
            <a:r>
              <a:rPr lang="en-IN" sz="1800" dirty="0" smtClean="0">
                <a:sym typeface="Wingdings" panose="05000000000000000000" pitchFamily="2" charset="2"/>
              </a:rPr>
              <a:t></a:t>
            </a:r>
            <a:r>
              <a:rPr lang="en-IN" sz="1800" dirty="0" smtClean="0"/>
              <a:t>It </a:t>
            </a:r>
            <a:r>
              <a:rPr lang="en-IN" sz="1800" dirty="0"/>
              <a:t>creates an empty String buffer with the specified </a:t>
            </a:r>
            <a:r>
              <a:rPr lang="en-IN" sz="1800" dirty="0" smtClean="0"/>
              <a:t>capacity </a:t>
            </a:r>
            <a:r>
              <a:rPr lang="en-IN" sz="1800" dirty="0"/>
              <a:t>as length</a:t>
            </a:r>
            <a:r>
              <a:rPr lang="en-IN" sz="1800" dirty="0" smtClean="0"/>
              <a:t>.</a:t>
            </a:r>
          </a:p>
          <a:p>
            <a:pPr marL="0" indent="0">
              <a:buNone/>
            </a:pPr>
            <a:endParaRPr lang="en-IN" sz="1800" dirty="0"/>
          </a:p>
          <a:p>
            <a:pPr marL="0" indent="0">
              <a:buNone/>
            </a:pPr>
            <a:r>
              <a:rPr lang="en-IN" sz="1800" dirty="0"/>
              <a:t>public class </a:t>
            </a:r>
            <a:r>
              <a:rPr lang="en-IN" sz="1800" dirty="0" err="1"/>
              <a:t>StringBufferExample</a:t>
            </a:r>
            <a:r>
              <a:rPr lang="en-IN" sz="1800" dirty="0"/>
              <a:t>{  </a:t>
            </a:r>
          </a:p>
          <a:p>
            <a:pPr marL="0" indent="0">
              <a:buNone/>
            </a:pPr>
            <a:r>
              <a:rPr lang="en-IN" sz="1800" dirty="0"/>
              <a:t>public static void main(String </a:t>
            </a:r>
            <a:r>
              <a:rPr lang="en-IN" sz="1800" dirty="0" err="1"/>
              <a:t>args</a:t>
            </a:r>
            <a:r>
              <a:rPr lang="en-IN" sz="1800" dirty="0"/>
              <a:t>[]){  </a:t>
            </a:r>
          </a:p>
          <a:p>
            <a:pPr marL="0" indent="0">
              <a:buNone/>
            </a:pPr>
            <a:r>
              <a:rPr lang="en-IN" sz="1800" dirty="0" err="1"/>
              <a:t>StringBuffer</a:t>
            </a:r>
            <a:r>
              <a:rPr lang="en-IN" sz="1800" dirty="0"/>
              <a:t> </a:t>
            </a:r>
            <a:r>
              <a:rPr lang="en-IN" sz="1800" dirty="0" err="1"/>
              <a:t>sb</a:t>
            </a:r>
            <a:r>
              <a:rPr lang="en-IN" sz="1800" dirty="0"/>
              <a:t>=new </a:t>
            </a:r>
            <a:r>
              <a:rPr lang="en-IN" sz="1800" dirty="0" err="1"/>
              <a:t>StringBuffer</a:t>
            </a:r>
            <a:r>
              <a:rPr lang="en-IN" sz="1800" dirty="0"/>
              <a:t>("Hello ");  </a:t>
            </a:r>
          </a:p>
          <a:p>
            <a:pPr marL="0" indent="0">
              <a:buNone/>
            </a:pPr>
            <a:r>
              <a:rPr lang="en-IN" sz="1800" dirty="0" err="1"/>
              <a:t>sb.append</a:t>
            </a:r>
            <a:r>
              <a:rPr lang="en-IN" sz="1800" dirty="0"/>
              <a:t>("Welcome back to </a:t>
            </a:r>
            <a:r>
              <a:rPr lang="en-IN" sz="1800" dirty="0" err="1"/>
              <a:t>dept</a:t>
            </a:r>
            <a:r>
              <a:rPr lang="en-IN" sz="1800" dirty="0"/>
              <a:t>");//now original string is changed  </a:t>
            </a:r>
          </a:p>
          <a:p>
            <a:pPr marL="0" indent="0">
              <a:buNone/>
            </a:pPr>
            <a:r>
              <a:rPr lang="en-IN" sz="1800" dirty="0" err="1"/>
              <a:t>System.out.println</a:t>
            </a:r>
            <a:r>
              <a:rPr lang="en-IN" sz="1800" dirty="0"/>
              <a:t>(</a:t>
            </a:r>
            <a:r>
              <a:rPr lang="en-IN" sz="1800" dirty="0" err="1"/>
              <a:t>sb</a:t>
            </a:r>
            <a:r>
              <a:rPr lang="en-IN" sz="1800" dirty="0"/>
              <a:t>); </a:t>
            </a:r>
          </a:p>
          <a:p>
            <a:pPr marL="0" indent="0">
              <a:buNone/>
            </a:pPr>
            <a:r>
              <a:rPr lang="en-IN" sz="1800" dirty="0"/>
              <a:t>}  </a:t>
            </a:r>
            <a:r>
              <a:rPr lang="en-IN" sz="1800" dirty="0" smtClean="0"/>
              <a:t>} </a:t>
            </a:r>
            <a:endParaRPr lang="en-IN" sz="1800" dirty="0"/>
          </a:p>
        </p:txBody>
      </p:sp>
      <p:sp>
        <p:nvSpPr>
          <p:cNvPr id="4" name="TextBox 3"/>
          <p:cNvSpPr txBox="1"/>
          <p:nvPr/>
        </p:nvSpPr>
        <p:spPr>
          <a:xfrm>
            <a:off x="6157915" y="0"/>
            <a:ext cx="6024130" cy="6463308"/>
          </a:xfrm>
          <a:prstGeom prst="rect">
            <a:avLst/>
          </a:prstGeom>
          <a:noFill/>
        </p:spPr>
        <p:txBody>
          <a:bodyPr wrap="square" rtlCol="0">
            <a:spAutoFit/>
          </a:bodyPr>
          <a:lstStyle/>
          <a:p>
            <a:endParaRPr lang="en-US" dirty="0" smtClean="0"/>
          </a:p>
          <a:p>
            <a:r>
              <a:rPr lang="en-IN" dirty="0" smtClean="0"/>
              <a:t>Methods:</a:t>
            </a:r>
          </a:p>
          <a:p>
            <a:endParaRPr lang="en-IN" dirty="0"/>
          </a:p>
          <a:p>
            <a:r>
              <a:rPr lang="en-IN" dirty="0"/>
              <a:t>append(String </a:t>
            </a:r>
            <a:r>
              <a:rPr lang="en-IN" dirty="0" smtClean="0"/>
              <a:t>s)</a:t>
            </a:r>
            <a:r>
              <a:rPr lang="en-IN" dirty="0" smtClean="0">
                <a:sym typeface="Wingdings" panose="05000000000000000000" pitchFamily="2" charset="2"/>
              </a:rPr>
              <a:t></a:t>
            </a:r>
            <a:r>
              <a:rPr lang="en-IN" dirty="0" smtClean="0"/>
              <a:t>It </a:t>
            </a:r>
            <a:r>
              <a:rPr lang="en-IN" dirty="0"/>
              <a:t>is used to append the specified string with this </a:t>
            </a:r>
            <a:r>
              <a:rPr lang="en-IN" dirty="0" smtClean="0"/>
              <a:t>string.</a:t>
            </a:r>
          </a:p>
          <a:p>
            <a:endParaRPr lang="en-IN" dirty="0"/>
          </a:p>
          <a:p>
            <a:r>
              <a:rPr lang="en-IN" dirty="0"/>
              <a:t>insert(</a:t>
            </a:r>
            <a:r>
              <a:rPr lang="en-IN" dirty="0" err="1"/>
              <a:t>int</a:t>
            </a:r>
            <a:r>
              <a:rPr lang="en-IN" dirty="0"/>
              <a:t> offset, String </a:t>
            </a:r>
            <a:r>
              <a:rPr lang="en-IN" dirty="0" smtClean="0"/>
              <a:t>s)</a:t>
            </a:r>
            <a:r>
              <a:rPr lang="en-IN" dirty="0" smtClean="0">
                <a:sym typeface="Wingdings" panose="05000000000000000000" pitchFamily="2" charset="2"/>
              </a:rPr>
              <a:t></a:t>
            </a:r>
            <a:r>
              <a:rPr lang="en-IN" dirty="0" smtClean="0"/>
              <a:t>It </a:t>
            </a:r>
            <a:r>
              <a:rPr lang="en-IN" dirty="0"/>
              <a:t>is used to insert the specified string with this string at the specified position. </a:t>
            </a:r>
            <a:endParaRPr lang="en-IN" dirty="0" smtClean="0"/>
          </a:p>
          <a:p>
            <a:endParaRPr lang="en-IN" dirty="0"/>
          </a:p>
          <a:p>
            <a:r>
              <a:rPr lang="en-IN" dirty="0"/>
              <a:t>replace(</a:t>
            </a:r>
            <a:r>
              <a:rPr lang="en-IN" dirty="0" err="1"/>
              <a:t>int</a:t>
            </a:r>
            <a:r>
              <a:rPr lang="en-IN" dirty="0"/>
              <a:t> </a:t>
            </a:r>
            <a:r>
              <a:rPr lang="en-IN" dirty="0" err="1"/>
              <a:t>startIndex</a:t>
            </a:r>
            <a:r>
              <a:rPr lang="en-IN" dirty="0"/>
              <a:t>, </a:t>
            </a:r>
            <a:r>
              <a:rPr lang="en-IN" dirty="0" err="1"/>
              <a:t>int</a:t>
            </a:r>
            <a:r>
              <a:rPr lang="en-IN" dirty="0"/>
              <a:t> </a:t>
            </a:r>
            <a:r>
              <a:rPr lang="en-IN" dirty="0" err="1"/>
              <a:t>endIndex</a:t>
            </a:r>
            <a:r>
              <a:rPr lang="en-IN" dirty="0"/>
              <a:t>, String </a:t>
            </a:r>
            <a:r>
              <a:rPr lang="en-IN" dirty="0" err="1" smtClean="0"/>
              <a:t>str</a:t>
            </a:r>
            <a:r>
              <a:rPr lang="en-IN" dirty="0" smtClean="0"/>
              <a:t>)</a:t>
            </a:r>
            <a:r>
              <a:rPr lang="en-IN" dirty="0" smtClean="0">
                <a:sym typeface="Wingdings" panose="05000000000000000000" pitchFamily="2" charset="2"/>
              </a:rPr>
              <a:t></a:t>
            </a:r>
            <a:r>
              <a:rPr lang="en-IN" dirty="0" smtClean="0"/>
              <a:t>It </a:t>
            </a:r>
            <a:r>
              <a:rPr lang="en-IN" dirty="0"/>
              <a:t>is used to replace the string from specified </a:t>
            </a:r>
            <a:r>
              <a:rPr lang="en-IN" dirty="0" err="1"/>
              <a:t>startIndex</a:t>
            </a:r>
            <a:r>
              <a:rPr lang="en-IN" dirty="0"/>
              <a:t> and </a:t>
            </a:r>
            <a:r>
              <a:rPr lang="en-IN" dirty="0" err="1"/>
              <a:t>endIndex</a:t>
            </a:r>
            <a:r>
              <a:rPr lang="en-IN" dirty="0" smtClean="0"/>
              <a:t>.</a:t>
            </a:r>
          </a:p>
          <a:p>
            <a:endParaRPr lang="en-IN" dirty="0" smtClean="0"/>
          </a:p>
          <a:p>
            <a:r>
              <a:rPr lang="en-IN" dirty="0"/>
              <a:t>reverse</a:t>
            </a:r>
            <a:r>
              <a:rPr lang="en-IN" dirty="0" smtClean="0"/>
              <a:t>()</a:t>
            </a:r>
            <a:r>
              <a:rPr lang="en-IN" dirty="0" smtClean="0">
                <a:sym typeface="Wingdings" panose="05000000000000000000" pitchFamily="2" charset="2"/>
              </a:rPr>
              <a:t></a:t>
            </a:r>
            <a:r>
              <a:rPr lang="en-IN" dirty="0" smtClean="0"/>
              <a:t>is </a:t>
            </a:r>
            <a:r>
              <a:rPr lang="en-IN" dirty="0"/>
              <a:t>used to reverse the string.</a:t>
            </a:r>
          </a:p>
          <a:p>
            <a:endParaRPr lang="en-IN" dirty="0"/>
          </a:p>
          <a:p>
            <a:r>
              <a:rPr lang="en-IN" dirty="0"/>
              <a:t>capacity</a:t>
            </a:r>
            <a:r>
              <a:rPr lang="en-IN" dirty="0" smtClean="0"/>
              <a:t>()</a:t>
            </a:r>
            <a:r>
              <a:rPr lang="en-IN" dirty="0" smtClean="0">
                <a:sym typeface="Wingdings" panose="05000000000000000000" pitchFamily="2" charset="2"/>
              </a:rPr>
              <a:t></a:t>
            </a:r>
            <a:r>
              <a:rPr lang="en-IN" dirty="0" smtClean="0"/>
              <a:t>It </a:t>
            </a:r>
            <a:r>
              <a:rPr lang="en-IN" dirty="0"/>
              <a:t>is used to return the current capacity</a:t>
            </a:r>
            <a:r>
              <a:rPr lang="en-IN" dirty="0" smtClean="0"/>
              <a:t>.</a:t>
            </a:r>
          </a:p>
          <a:p>
            <a:endParaRPr lang="en-IN" dirty="0"/>
          </a:p>
          <a:p>
            <a:r>
              <a:rPr lang="en-IN" dirty="0" err="1"/>
              <a:t>charAt</a:t>
            </a:r>
            <a:r>
              <a:rPr lang="en-IN" dirty="0"/>
              <a:t>(</a:t>
            </a:r>
            <a:r>
              <a:rPr lang="en-IN" dirty="0" err="1"/>
              <a:t>int</a:t>
            </a:r>
            <a:r>
              <a:rPr lang="en-IN" dirty="0"/>
              <a:t> </a:t>
            </a:r>
            <a:r>
              <a:rPr lang="en-IN" dirty="0" smtClean="0"/>
              <a:t>index)</a:t>
            </a:r>
            <a:r>
              <a:rPr lang="en-IN" dirty="0" smtClean="0">
                <a:sym typeface="Wingdings" panose="05000000000000000000" pitchFamily="2" charset="2"/>
              </a:rPr>
              <a:t></a:t>
            </a:r>
            <a:r>
              <a:rPr lang="en-IN" dirty="0" smtClean="0"/>
              <a:t>It </a:t>
            </a:r>
            <a:r>
              <a:rPr lang="en-IN" dirty="0"/>
              <a:t>is used to return the character at the specified position</a:t>
            </a:r>
            <a:r>
              <a:rPr lang="en-IN" dirty="0" smtClean="0"/>
              <a:t>.</a:t>
            </a:r>
          </a:p>
          <a:p>
            <a:endParaRPr lang="en-IN" dirty="0"/>
          </a:p>
          <a:p>
            <a:r>
              <a:rPr lang="en-IN" dirty="0"/>
              <a:t>length</a:t>
            </a:r>
            <a:r>
              <a:rPr lang="en-IN" dirty="0" smtClean="0"/>
              <a:t>()</a:t>
            </a:r>
            <a:r>
              <a:rPr lang="en-IN" dirty="0" smtClean="0">
                <a:sym typeface="Wingdings" panose="05000000000000000000" pitchFamily="2" charset="2"/>
              </a:rPr>
              <a:t></a:t>
            </a:r>
            <a:r>
              <a:rPr lang="en-IN" dirty="0" smtClean="0"/>
              <a:t>It </a:t>
            </a:r>
            <a:r>
              <a:rPr lang="en-IN" dirty="0"/>
              <a:t>is used to return the length of the string i.e. total number of characters</a:t>
            </a:r>
            <a:r>
              <a:rPr lang="en-IN" dirty="0" smtClean="0"/>
              <a:t>.</a:t>
            </a:r>
          </a:p>
          <a:p>
            <a:endParaRPr lang="en-IN" dirty="0"/>
          </a:p>
          <a:p>
            <a:endParaRPr lang="en-IN" dirty="0"/>
          </a:p>
        </p:txBody>
      </p:sp>
    </p:spTree>
    <p:extLst>
      <p:ext uri="{BB962C8B-B14F-4D97-AF65-F5344CB8AC3E}">
        <p14:creationId xmlns:p14="http://schemas.microsoft.com/office/powerpoint/2010/main" val="375160104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a:t>
            </a:r>
            <a:r>
              <a:rPr lang="en-US" dirty="0" err="1" smtClean="0"/>
              <a:t>StringBuilder</a:t>
            </a:r>
            <a:r>
              <a:rPr lang="en-US" dirty="0" smtClean="0"/>
              <a:t> Class</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buNone/>
            </a:pPr>
            <a:r>
              <a:rPr lang="en-IN" sz="1800" dirty="0" err="1"/>
              <a:t>StringBuilder</a:t>
            </a:r>
            <a:r>
              <a:rPr lang="en-IN" sz="1800" dirty="0"/>
              <a:t> class is used to create mutable (modifiable) String. </a:t>
            </a:r>
            <a:endParaRPr lang="en-IN" sz="1800" dirty="0" smtClean="0"/>
          </a:p>
          <a:p>
            <a:pPr marL="0" indent="0">
              <a:buNone/>
            </a:pPr>
            <a:r>
              <a:rPr lang="en-IN" sz="1800" dirty="0" smtClean="0"/>
              <a:t>The </a:t>
            </a:r>
            <a:r>
              <a:rPr lang="en-IN" sz="1800" dirty="0"/>
              <a:t>Java </a:t>
            </a:r>
            <a:r>
              <a:rPr lang="en-IN" sz="1800" dirty="0" err="1"/>
              <a:t>StringBuilder</a:t>
            </a:r>
            <a:r>
              <a:rPr lang="en-IN" sz="1800" dirty="0"/>
              <a:t> class is same as </a:t>
            </a:r>
            <a:r>
              <a:rPr lang="en-IN" sz="1800" dirty="0" err="1"/>
              <a:t>StringBuffer</a:t>
            </a:r>
            <a:r>
              <a:rPr lang="en-IN" sz="1800" dirty="0"/>
              <a:t> </a:t>
            </a:r>
            <a:r>
              <a:rPr lang="en-IN" sz="1800" dirty="0" smtClean="0"/>
              <a:t>class</a:t>
            </a:r>
          </a:p>
          <a:p>
            <a:pPr marL="0" indent="0">
              <a:buNone/>
            </a:pPr>
            <a:r>
              <a:rPr lang="en-IN" sz="1800" dirty="0" smtClean="0"/>
              <a:t>Difference between </a:t>
            </a:r>
            <a:r>
              <a:rPr lang="en-IN" sz="1800" dirty="0" err="1" smtClean="0"/>
              <a:t>StringBuffer</a:t>
            </a:r>
            <a:r>
              <a:rPr lang="en-IN" sz="1800" dirty="0" smtClean="0"/>
              <a:t> and String</a:t>
            </a:r>
          </a:p>
          <a:p>
            <a:pPr marL="0" indent="0">
              <a:buNone/>
            </a:pPr>
            <a:endParaRPr lang="en-IN" sz="1800" dirty="0"/>
          </a:p>
        </p:txBody>
      </p:sp>
      <p:sp>
        <p:nvSpPr>
          <p:cNvPr id="4" name="TextBox 3"/>
          <p:cNvSpPr txBox="1"/>
          <p:nvPr/>
        </p:nvSpPr>
        <p:spPr>
          <a:xfrm>
            <a:off x="6157915" y="0"/>
            <a:ext cx="6024130" cy="1477328"/>
          </a:xfrm>
          <a:prstGeom prst="rect">
            <a:avLst/>
          </a:prstGeom>
          <a:noFill/>
        </p:spPr>
        <p:txBody>
          <a:bodyPr wrap="square" rtlCol="0">
            <a:spAutoFit/>
          </a:bodyPr>
          <a:lstStyle/>
          <a:p>
            <a:endParaRPr lang="en-US" dirty="0" smtClean="0"/>
          </a:p>
          <a:p>
            <a:r>
              <a:rPr lang="en-IN" dirty="0" err="1" smtClean="0"/>
              <a:t>StringBuffer</a:t>
            </a:r>
            <a:r>
              <a:rPr lang="en-IN" dirty="0" smtClean="0"/>
              <a:t> vs </a:t>
            </a:r>
            <a:r>
              <a:rPr lang="en-IN" dirty="0" err="1" smtClean="0"/>
              <a:t>StringBuilder</a:t>
            </a:r>
            <a:endParaRPr lang="en-IN" dirty="0" smtClean="0"/>
          </a:p>
          <a:p>
            <a:endParaRPr lang="en-IN" dirty="0"/>
          </a:p>
          <a:p>
            <a:endParaRPr lang="en-IN" dirty="0"/>
          </a:p>
          <a:p>
            <a:endParaRPr lang="en-IN" dirty="0"/>
          </a:p>
        </p:txBody>
      </p:sp>
      <p:pic>
        <p:nvPicPr>
          <p:cNvPr id="2050" name="Picture 2" descr="String vs StringBuff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816" y="1957388"/>
            <a:ext cx="6056693" cy="42719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extLst>
              <p:ext uri="{D42A27DB-BD31-4B8C-83A1-F6EECF244321}">
                <p14:modId xmlns:p14="http://schemas.microsoft.com/office/powerpoint/2010/main" val="1652097065"/>
              </p:ext>
            </p:extLst>
          </p:nvPr>
        </p:nvGraphicFramePr>
        <p:xfrm>
          <a:off x="6347502" y="1114424"/>
          <a:ext cx="5268236" cy="4560734"/>
        </p:xfrm>
        <a:graphic>
          <a:graphicData uri="http://schemas.openxmlformats.org/drawingml/2006/table">
            <a:tbl>
              <a:tblPr>
                <a:tableStyleId>{5940675A-B579-460E-94D1-54222C63F5DA}</a:tableStyleId>
              </a:tblPr>
              <a:tblGrid>
                <a:gridCol w="681948">
                  <a:extLst>
                    <a:ext uri="{9D8B030D-6E8A-4147-A177-3AD203B41FA5}">
                      <a16:colId xmlns:a16="http://schemas.microsoft.com/office/drawing/2014/main" val="20000"/>
                    </a:ext>
                  </a:extLst>
                </a:gridCol>
                <a:gridCol w="1823157">
                  <a:extLst>
                    <a:ext uri="{9D8B030D-6E8A-4147-A177-3AD203B41FA5}">
                      <a16:colId xmlns:a16="http://schemas.microsoft.com/office/drawing/2014/main" val="20001"/>
                    </a:ext>
                  </a:extLst>
                </a:gridCol>
                <a:gridCol w="2763131">
                  <a:extLst>
                    <a:ext uri="{9D8B030D-6E8A-4147-A177-3AD203B41FA5}">
                      <a16:colId xmlns:a16="http://schemas.microsoft.com/office/drawing/2014/main" val="20002"/>
                    </a:ext>
                  </a:extLst>
                </a:gridCol>
              </a:tblGrid>
              <a:tr h="458826">
                <a:tc>
                  <a:txBody>
                    <a:bodyPr/>
                    <a:lstStyle/>
                    <a:p>
                      <a:r>
                        <a:rPr lang="en-IN" dirty="0" err="1" smtClean="0"/>
                        <a:t>S.No</a:t>
                      </a:r>
                      <a:endParaRPr lang="en-IN" dirty="0">
                        <a:solidFill>
                          <a:schemeClr val="tx1"/>
                        </a:solidFill>
                        <a:latin typeface="+mn-lt"/>
                      </a:endParaRPr>
                    </a:p>
                  </a:txBody>
                  <a:tcPr marL="109882" marR="109882" marT="109882" marB="109882"/>
                </a:tc>
                <a:tc>
                  <a:txBody>
                    <a:bodyPr/>
                    <a:lstStyle/>
                    <a:p>
                      <a:pPr algn="l" fontAlgn="t"/>
                      <a:r>
                        <a:rPr lang="en-IN" sz="1700" dirty="0" err="1">
                          <a:effectLst/>
                        </a:rPr>
                        <a:t>StringBuffer</a:t>
                      </a:r>
                      <a:endParaRPr lang="en-IN" sz="1700" dirty="0">
                        <a:solidFill>
                          <a:schemeClr val="tx1"/>
                        </a:solidFill>
                        <a:effectLst/>
                        <a:latin typeface="+mn-lt"/>
                      </a:endParaRPr>
                    </a:p>
                  </a:txBody>
                  <a:tcPr marL="109882" marR="109882" marT="109882" marB="109882"/>
                </a:tc>
                <a:tc>
                  <a:txBody>
                    <a:bodyPr/>
                    <a:lstStyle/>
                    <a:p>
                      <a:pPr algn="l" fontAlgn="t"/>
                      <a:r>
                        <a:rPr lang="en-IN" sz="1700" dirty="0" err="1">
                          <a:effectLst/>
                        </a:rPr>
                        <a:t>StringBuilder</a:t>
                      </a:r>
                      <a:endParaRPr lang="en-IN" sz="1700" dirty="0">
                        <a:solidFill>
                          <a:schemeClr val="tx1"/>
                        </a:solidFill>
                        <a:effectLst/>
                        <a:latin typeface="+mn-lt"/>
                      </a:endParaRPr>
                    </a:p>
                  </a:txBody>
                  <a:tcPr marL="109882" marR="109882" marT="109882" marB="109882"/>
                </a:tc>
                <a:extLst>
                  <a:ext uri="{0D108BD9-81ED-4DB2-BD59-A6C34878D82A}">
                    <a16:rowId xmlns:a16="http://schemas.microsoft.com/office/drawing/2014/main" val="10000"/>
                  </a:ext>
                </a:extLst>
              </a:tr>
              <a:tr h="1850343">
                <a:tc>
                  <a:txBody>
                    <a:bodyPr/>
                    <a:lstStyle/>
                    <a:p>
                      <a:pPr algn="just" fontAlgn="t"/>
                      <a:r>
                        <a:rPr lang="en-IN" sz="1700" dirty="0">
                          <a:effectLst/>
                        </a:rPr>
                        <a:t>1)</a:t>
                      </a:r>
                      <a:endParaRPr lang="en-IN" sz="1700" dirty="0">
                        <a:solidFill>
                          <a:schemeClr val="tx1"/>
                        </a:solidFill>
                        <a:effectLst/>
                        <a:latin typeface="+mn-lt"/>
                      </a:endParaRPr>
                    </a:p>
                  </a:txBody>
                  <a:tcPr marL="73255" marR="73255" marT="73255" marB="73255"/>
                </a:tc>
                <a:tc>
                  <a:txBody>
                    <a:bodyPr/>
                    <a:lstStyle/>
                    <a:p>
                      <a:pPr algn="just" fontAlgn="t"/>
                      <a:r>
                        <a:rPr lang="en-IN" sz="1700" dirty="0" err="1">
                          <a:effectLst/>
                        </a:rPr>
                        <a:t>StringBuffer</a:t>
                      </a:r>
                      <a:r>
                        <a:rPr lang="en-IN" sz="1700" dirty="0">
                          <a:effectLst/>
                        </a:rPr>
                        <a:t> is synchronized i.e. thread safe. It means two threads can't call the methods of </a:t>
                      </a:r>
                      <a:r>
                        <a:rPr lang="en-IN" sz="1700" dirty="0" err="1">
                          <a:effectLst/>
                        </a:rPr>
                        <a:t>StringBuffer</a:t>
                      </a:r>
                      <a:r>
                        <a:rPr lang="en-IN" sz="1700" dirty="0">
                          <a:effectLst/>
                        </a:rPr>
                        <a:t> simultaneously.</a:t>
                      </a:r>
                      <a:endParaRPr lang="en-IN" sz="1700" dirty="0">
                        <a:solidFill>
                          <a:schemeClr val="tx1"/>
                        </a:solidFill>
                        <a:effectLst/>
                        <a:latin typeface="+mn-lt"/>
                      </a:endParaRPr>
                    </a:p>
                  </a:txBody>
                  <a:tcPr marL="73255" marR="73255" marT="73255" marB="73255"/>
                </a:tc>
                <a:tc>
                  <a:txBody>
                    <a:bodyPr/>
                    <a:lstStyle/>
                    <a:p>
                      <a:pPr algn="just" fontAlgn="t"/>
                      <a:r>
                        <a:rPr lang="en-IN" sz="1700" dirty="0" err="1">
                          <a:effectLst/>
                        </a:rPr>
                        <a:t>StringBuilder</a:t>
                      </a:r>
                      <a:r>
                        <a:rPr lang="en-IN" sz="1700" dirty="0">
                          <a:effectLst/>
                        </a:rPr>
                        <a:t> is non-synchronized i.e. </a:t>
                      </a:r>
                      <a:r>
                        <a:rPr lang="en-IN" sz="1700" b="1" dirty="0">
                          <a:effectLst/>
                        </a:rPr>
                        <a:t>not thread </a:t>
                      </a:r>
                      <a:r>
                        <a:rPr lang="en-IN" sz="1700" b="1" dirty="0" smtClean="0">
                          <a:effectLst/>
                        </a:rPr>
                        <a:t>safe </a:t>
                      </a:r>
                      <a:r>
                        <a:rPr lang="en-IN" sz="1700" b="1" dirty="0" err="1" smtClean="0">
                          <a:effectLst/>
                        </a:rPr>
                        <a:t>i.e</a:t>
                      </a:r>
                      <a:r>
                        <a:rPr lang="en-IN" sz="1700" b="1" dirty="0" smtClean="0">
                          <a:effectLst/>
                        </a:rPr>
                        <a:t> suitable for single threaded environment.</a:t>
                      </a:r>
                      <a:r>
                        <a:rPr lang="en-IN" sz="1700" dirty="0" smtClean="0">
                          <a:effectLst/>
                        </a:rPr>
                        <a:t> </a:t>
                      </a:r>
                      <a:r>
                        <a:rPr lang="en-IN" sz="1700" dirty="0">
                          <a:effectLst/>
                        </a:rPr>
                        <a:t>It means two threads can call the methods of </a:t>
                      </a:r>
                      <a:r>
                        <a:rPr lang="en-IN" sz="1700" dirty="0" err="1">
                          <a:effectLst/>
                        </a:rPr>
                        <a:t>StringBuilder</a:t>
                      </a:r>
                      <a:r>
                        <a:rPr lang="en-IN" sz="1700" dirty="0">
                          <a:effectLst/>
                        </a:rPr>
                        <a:t> simultaneously.</a:t>
                      </a:r>
                      <a:endParaRPr lang="en-IN" sz="1700" dirty="0">
                        <a:solidFill>
                          <a:schemeClr val="tx1"/>
                        </a:solidFill>
                        <a:effectLst/>
                        <a:latin typeface="+mn-lt"/>
                      </a:endParaRPr>
                    </a:p>
                  </a:txBody>
                  <a:tcPr marL="73255" marR="73255" marT="73255" marB="73255"/>
                </a:tc>
                <a:extLst>
                  <a:ext uri="{0D108BD9-81ED-4DB2-BD59-A6C34878D82A}">
                    <a16:rowId xmlns:a16="http://schemas.microsoft.com/office/drawing/2014/main" val="10001"/>
                  </a:ext>
                </a:extLst>
              </a:tr>
              <a:tr h="870749">
                <a:tc>
                  <a:txBody>
                    <a:bodyPr/>
                    <a:lstStyle/>
                    <a:p>
                      <a:pPr algn="just" fontAlgn="t"/>
                      <a:r>
                        <a:rPr lang="en-IN" sz="1700">
                          <a:effectLst/>
                        </a:rPr>
                        <a:t>2)</a:t>
                      </a:r>
                      <a:endParaRPr lang="en-IN" sz="1700">
                        <a:solidFill>
                          <a:schemeClr val="tx1"/>
                        </a:solidFill>
                        <a:effectLst/>
                        <a:latin typeface="+mn-lt"/>
                      </a:endParaRPr>
                    </a:p>
                  </a:txBody>
                  <a:tcPr marL="73255" marR="73255" marT="73255" marB="73255"/>
                </a:tc>
                <a:tc>
                  <a:txBody>
                    <a:bodyPr/>
                    <a:lstStyle/>
                    <a:p>
                      <a:pPr algn="just" fontAlgn="t"/>
                      <a:r>
                        <a:rPr lang="en-IN" sz="1700" dirty="0" err="1">
                          <a:effectLst/>
                        </a:rPr>
                        <a:t>StringBuffer</a:t>
                      </a:r>
                      <a:r>
                        <a:rPr lang="en-IN" sz="1700" dirty="0">
                          <a:effectLst/>
                        </a:rPr>
                        <a:t> is less efficient than </a:t>
                      </a:r>
                      <a:r>
                        <a:rPr lang="en-IN" sz="1700" dirty="0" err="1">
                          <a:effectLst/>
                        </a:rPr>
                        <a:t>StringBuilder</a:t>
                      </a:r>
                      <a:r>
                        <a:rPr lang="en-IN" sz="1700" dirty="0">
                          <a:effectLst/>
                        </a:rPr>
                        <a:t>.</a:t>
                      </a:r>
                      <a:endParaRPr lang="en-IN" sz="1700" dirty="0">
                        <a:solidFill>
                          <a:schemeClr val="tx1"/>
                        </a:solidFill>
                        <a:effectLst/>
                        <a:latin typeface="+mn-lt"/>
                      </a:endParaRPr>
                    </a:p>
                  </a:txBody>
                  <a:tcPr marL="73255" marR="73255" marT="73255" marB="73255"/>
                </a:tc>
                <a:tc>
                  <a:txBody>
                    <a:bodyPr/>
                    <a:lstStyle/>
                    <a:p>
                      <a:pPr algn="just" fontAlgn="t"/>
                      <a:r>
                        <a:rPr lang="en-IN" sz="1700" dirty="0" err="1">
                          <a:effectLst/>
                        </a:rPr>
                        <a:t>StringBuilder</a:t>
                      </a:r>
                      <a:r>
                        <a:rPr lang="en-IN" sz="1700" dirty="0">
                          <a:effectLst/>
                        </a:rPr>
                        <a:t> is more efficient than </a:t>
                      </a:r>
                      <a:r>
                        <a:rPr lang="en-IN" sz="1700" dirty="0" err="1">
                          <a:effectLst/>
                        </a:rPr>
                        <a:t>StringBuffer</a:t>
                      </a:r>
                      <a:r>
                        <a:rPr lang="en-IN" sz="1700" dirty="0">
                          <a:effectLst/>
                        </a:rPr>
                        <a:t>.</a:t>
                      </a:r>
                      <a:endParaRPr lang="en-IN" sz="1700" dirty="0">
                        <a:solidFill>
                          <a:schemeClr val="tx1"/>
                        </a:solidFill>
                        <a:effectLst/>
                        <a:latin typeface="+mn-lt"/>
                      </a:endParaRPr>
                    </a:p>
                  </a:txBody>
                  <a:tcPr marL="73255" marR="73255" marT="73255" marB="73255"/>
                </a:tc>
                <a:extLst>
                  <a:ext uri="{0D108BD9-81ED-4DB2-BD59-A6C34878D82A}">
                    <a16:rowId xmlns:a16="http://schemas.microsoft.com/office/drawing/2014/main" val="10002"/>
                  </a:ext>
                </a:extLst>
              </a:tr>
              <a:tr h="870749">
                <a:tc>
                  <a:txBody>
                    <a:bodyPr/>
                    <a:lstStyle/>
                    <a:p>
                      <a:pPr algn="just" fontAlgn="t"/>
                      <a:r>
                        <a:rPr lang="en-IN" sz="1700">
                          <a:effectLst/>
                        </a:rPr>
                        <a:t>3)</a:t>
                      </a:r>
                      <a:endParaRPr lang="en-IN" sz="1700">
                        <a:solidFill>
                          <a:schemeClr val="tx1"/>
                        </a:solidFill>
                        <a:effectLst/>
                        <a:latin typeface="+mn-lt"/>
                      </a:endParaRPr>
                    </a:p>
                  </a:txBody>
                  <a:tcPr marL="73255" marR="73255" marT="73255" marB="73255"/>
                </a:tc>
                <a:tc>
                  <a:txBody>
                    <a:bodyPr/>
                    <a:lstStyle/>
                    <a:p>
                      <a:pPr algn="just" fontAlgn="t"/>
                      <a:r>
                        <a:rPr lang="en-IN" sz="1700">
                          <a:effectLst/>
                        </a:rPr>
                        <a:t>StringBuffer was introduced in Java 1.0</a:t>
                      </a:r>
                      <a:endParaRPr lang="en-IN" sz="1700">
                        <a:solidFill>
                          <a:schemeClr val="tx1"/>
                        </a:solidFill>
                        <a:effectLst/>
                        <a:latin typeface="+mn-lt"/>
                      </a:endParaRPr>
                    </a:p>
                  </a:txBody>
                  <a:tcPr marL="73255" marR="73255" marT="73255" marB="73255"/>
                </a:tc>
                <a:tc>
                  <a:txBody>
                    <a:bodyPr/>
                    <a:lstStyle/>
                    <a:p>
                      <a:pPr algn="just" fontAlgn="t"/>
                      <a:r>
                        <a:rPr lang="en-IN" sz="1700" dirty="0" err="1">
                          <a:effectLst/>
                        </a:rPr>
                        <a:t>StringBuilder</a:t>
                      </a:r>
                      <a:r>
                        <a:rPr lang="en-IN" sz="1700" dirty="0">
                          <a:effectLst/>
                        </a:rPr>
                        <a:t> was introduced in Java 1.5</a:t>
                      </a:r>
                      <a:endParaRPr lang="en-IN" sz="1700" dirty="0">
                        <a:solidFill>
                          <a:schemeClr val="tx1"/>
                        </a:solidFill>
                        <a:effectLst/>
                        <a:latin typeface="+mn-lt"/>
                      </a:endParaRPr>
                    </a:p>
                  </a:txBody>
                  <a:tcPr marL="73255" marR="73255" marT="73255" marB="73255"/>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6415274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Java-Collections</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r>
              <a:rPr lang="en-IN" sz="1800" dirty="0"/>
              <a:t>F</a:t>
            </a:r>
            <a:r>
              <a:rPr lang="en-IN" sz="1800" dirty="0" smtClean="0"/>
              <a:t>ramework </a:t>
            </a:r>
            <a:r>
              <a:rPr lang="en-IN" sz="1800" dirty="0"/>
              <a:t>that provides an architecture to store and manipulate the group of objects.</a:t>
            </a:r>
          </a:p>
          <a:p>
            <a:r>
              <a:rPr lang="en-IN" sz="1800" dirty="0"/>
              <a:t>C</a:t>
            </a:r>
            <a:r>
              <a:rPr lang="en-IN" sz="1800" dirty="0" smtClean="0"/>
              <a:t>an </a:t>
            </a:r>
            <a:r>
              <a:rPr lang="en-IN" sz="1800" dirty="0"/>
              <a:t>achieve all the operations that you perform on a data such as searching, sorting, insertion, manipulation, and deletion.</a:t>
            </a:r>
          </a:p>
          <a:p>
            <a:r>
              <a:rPr lang="en-IN" sz="1800" dirty="0"/>
              <a:t>Java Collection means a single unit of objects. </a:t>
            </a:r>
            <a:endParaRPr lang="en-IN" sz="1800" dirty="0" smtClean="0"/>
          </a:p>
          <a:p>
            <a:pPr marL="0" indent="0">
              <a:buNone/>
            </a:pPr>
            <a:r>
              <a:rPr lang="en-IN" sz="1800" dirty="0" smtClean="0"/>
              <a:t>Java </a:t>
            </a:r>
            <a:r>
              <a:rPr lang="en-IN" sz="1800" dirty="0"/>
              <a:t>Collection framework provides many interfaces (Set, List, Queue, </a:t>
            </a:r>
            <a:r>
              <a:rPr lang="en-IN" sz="1800" dirty="0" err="1"/>
              <a:t>Deque</a:t>
            </a:r>
            <a:r>
              <a:rPr lang="en-IN" sz="1800" dirty="0"/>
              <a:t>) </a:t>
            </a:r>
          </a:p>
          <a:p>
            <a:pPr marL="0" indent="0">
              <a:buNone/>
            </a:pPr>
            <a:r>
              <a:rPr lang="en-IN" sz="1800" dirty="0" smtClean="0"/>
              <a:t>classes (ArrayList, </a:t>
            </a:r>
            <a:r>
              <a:rPr lang="en-IN" sz="1800" dirty="0"/>
              <a:t>Vector, LinkedList, PriorityQueue, </a:t>
            </a:r>
            <a:r>
              <a:rPr lang="en-IN" sz="1800" dirty="0" err="1"/>
              <a:t>HashSet</a:t>
            </a:r>
            <a:r>
              <a:rPr lang="en-IN" sz="1800" dirty="0"/>
              <a:t>, </a:t>
            </a:r>
            <a:r>
              <a:rPr lang="en-IN" sz="1800" dirty="0" err="1"/>
              <a:t>LinkedHashSet</a:t>
            </a:r>
            <a:r>
              <a:rPr lang="en-IN" sz="1800" dirty="0"/>
              <a:t>, </a:t>
            </a:r>
            <a:r>
              <a:rPr lang="en-IN" sz="1800" dirty="0" err="1"/>
              <a:t>TreeSet</a:t>
            </a:r>
            <a:r>
              <a:rPr lang="en-IN" sz="1800" dirty="0" smtClean="0"/>
              <a:t>)</a:t>
            </a:r>
          </a:p>
          <a:p>
            <a:pPr marL="0" indent="0">
              <a:buNone/>
            </a:pPr>
            <a:r>
              <a:rPr lang="en-IN" sz="1800" dirty="0" smtClean="0"/>
              <a:t>Framework </a:t>
            </a:r>
            <a:r>
              <a:rPr lang="en-IN" sz="1800" dirty="0"/>
              <a:t>in Java</a:t>
            </a:r>
          </a:p>
          <a:p>
            <a:pPr lvl="1"/>
            <a:r>
              <a:rPr lang="en-IN" sz="1800" dirty="0"/>
              <a:t>It provides readymade architecture.</a:t>
            </a:r>
          </a:p>
          <a:p>
            <a:pPr lvl="1"/>
            <a:r>
              <a:rPr lang="en-IN" sz="1800" dirty="0"/>
              <a:t>It represents a set of classes and interfaces.</a:t>
            </a:r>
          </a:p>
          <a:p>
            <a:pPr lvl="1"/>
            <a:r>
              <a:rPr lang="en-IN" sz="1800" dirty="0"/>
              <a:t>It is optional</a:t>
            </a:r>
            <a:r>
              <a:rPr lang="en-IN" sz="1800" dirty="0" smtClean="0"/>
              <a:t>.</a:t>
            </a:r>
            <a:endParaRPr lang="en-IN" sz="1800" dirty="0"/>
          </a:p>
          <a:p>
            <a:pPr marL="0" indent="0">
              <a:buNone/>
            </a:pPr>
            <a:r>
              <a:rPr lang="en-IN" sz="1800" dirty="0" err="1" smtClean="0"/>
              <a:t>java.util</a:t>
            </a:r>
            <a:r>
              <a:rPr lang="en-IN" sz="1800" dirty="0" smtClean="0"/>
              <a:t> </a:t>
            </a:r>
            <a:r>
              <a:rPr lang="en-IN" sz="1800" dirty="0"/>
              <a:t>package contains all the classes and interfaces for the Collection framework.</a:t>
            </a:r>
            <a:endParaRPr lang="en-IN" sz="1800" dirty="0" smtClean="0"/>
          </a:p>
        </p:txBody>
      </p:sp>
      <p:sp>
        <p:nvSpPr>
          <p:cNvPr id="4" name="TextBox 3"/>
          <p:cNvSpPr txBox="1"/>
          <p:nvPr/>
        </p:nvSpPr>
        <p:spPr>
          <a:xfrm>
            <a:off x="6157915" y="0"/>
            <a:ext cx="6024130" cy="923330"/>
          </a:xfrm>
          <a:prstGeom prst="rect">
            <a:avLst/>
          </a:prstGeom>
          <a:noFill/>
        </p:spPr>
        <p:txBody>
          <a:bodyPr wrap="square" rtlCol="0">
            <a:spAutoFit/>
          </a:bodyPr>
          <a:lstStyle/>
          <a:p>
            <a:endParaRPr lang="en-US" dirty="0" smtClean="0"/>
          </a:p>
          <a:p>
            <a:endParaRPr lang="en-IN" dirty="0"/>
          </a:p>
          <a:p>
            <a:endParaRPr lang="en-IN" dirty="0"/>
          </a:p>
        </p:txBody>
      </p:sp>
      <p:pic>
        <p:nvPicPr>
          <p:cNvPr id="5" name="Picture 4"/>
          <p:cNvPicPr>
            <a:picLocks noChangeAspect="1"/>
          </p:cNvPicPr>
          <p:nvPr/>
        </p:nvPicPr>
        <p:blipFill>
          <a:blip r:embed="rId2"/>
          <a:stretch>
            <a:fillRect/>
          </a:stretch>
        </p:blipFill>
        <p:spPr>
          <a:xfrm>
            <a:off x="6103877" y="394530"/>
            <a:ext cx="2300288" cy="5900239"/>
          </a:xfrm>
          <a:prstGeom prst="rect">
            <a:avLst/>
          </a:prstGeom>
        </p:spPr>
      </p:pic>
      <p:sp>
        <p:nvSpPr>
          <p:cNvPr id="6" name="TextBox 5"/>
          <p:cNvSpPr txBox="1"/>
          <p:nvPr/>
        </p:nvSpPr>
        <p:spPr>
          <a:xfrm>
            <a:off x="8404165" y="461665"/>
            <a:ext cx="3722811" cy="5909310"/>
          </a:xfrm>
          <a:prstGeom prst="rect">
            <a:avLst/>
          </a:prstGeom>
          <a:noFill/>
        </p:spPr>
        <p:txBody>
          <a:bodyPr wrap="square" rtlCol="0">
            <a:spAutoFit/>
          </a:bodyPr>
          <a:lstStyle/>
          <a:p>
            <a:r>
              <a:rPr lang="en-IN" dirty="0" smtClean="0"/>
              <a:t>Few Methods in Collection:</a:t>
            </a:r>
          </a:p>
          <a:p>
            <a:r>
              <a:rPr lang="en-IN" dirty="0" err="1" smtClean="0"/>
              <a:t>boolean</a:t>
            </a:r>
            <a:r>
              <a:rPr lang="en-IN" dirty="0" smtClean="0"/>
              <a:t> </a:t>
            </a:r>
            <a:r>
              <a:rPr lang="en-IN" dirty="0"/>
              <a:t>add(E e</a:t>
            </a:r>
            <a:r>
              <a:rPr lang="en-IN" dirty="0" smtClean="0"/>
              <a:t>)</a:t>
            </a:r>
          </a:p>
          <a:p>
            <a:r>
              <a:rPr lang="en-IN" dirty="0" err="1" smtClean="0"/>
              <a:t>boolean</a:t>
            </a:r>
            <a:r>
              <a:rPr lang="en-IN" dirty="0" smtClean="0"/>
              <a:t> </a:t>
            </a:r>
            <a:r>
              <a:rPr lang="en-IN" dirty="0" err="1"/>
              <a:t>addAll</a:t>
            </a:r>
            <a:r>
              <a:rPr lang="en-IN" dirty="0"/>
              <a:t>(Collection&lt;? extends E&gt; c</a:t>
            </a:r>
            <a:r>
              <a:rPr lang="en-IN" dirty="0" smtClean="0"/>
              <a:t>)</a:t>
            </a:r>
          </a:p>
          <a:p>
            <a:r>
              <a:rPr lang="en-IN" dirty="0" err="1"/>
              <a:t>boolean</a:t>
            </a:r>
            <a:r>
              <a:rPr lang="en-IN" dirty="0"/>
              <a:t> remove(Object element</a:t>
            </a:r>
            <a:r>
              <a:rPr lang="en-IN" dirty="0" smtClean="0"/>
              <a:t>)</a:t>
            </a:r>
          </a:p>
          <a:p>
            <a:r>
              <a:rPr lang="en-IN" dirty="0" err="1"/>
              <a:t>boolean</a:t>
            </a:r>
            <a:r>
              <a:rPr lang="en-IN" dirty="0"/>
              <a:t> </a:t>
            </a:r>
            <a:r>
              <a:rPr lang="en-IN" dirty="0" err="1"/>
              <a:t>removeAll</a:t>
            </a:r>
            <a:r>
              <a:rPr lang="en-IN" dirty="0"/>
              <a:t>(Collection&lt;?&gt; c</a:t>
            </a:r>
            <a:r>
              <a:rPr lang="en-IN" dirty="0" smtClean="0"/>
              <a:t>)</a:t>
            </a:r>
          </a:p>
          <a:p>
            <a:r>
              <a:rPr lang="en-IN" dirty="0" err="1"/>
              <a:t>int</a:t>
            </a:r>
            <a:r>
              <a:rPr lang="en-IN" dirty="0"/>
              <a:t> size</a:t>
            </a:r>
            <a:r>
              <a:rPr lang="en-IN" dirty="0" smtClean="0"/>
              <a:t>()</a:t>
            </a:r>
          </a:p>
          <a:p>
            <a:r>
              <a:rPr lang="en-IN" dirty="0"/>
              <a:t>void clear</a:t>
            </a:r>
            <a:r>
              <a:rPr lang="en-IN" dirty="0" smtClean="0"/>
              <a:t>()</a:t>
            </a:r>
          </a:p>
          <a:p>
            <a:r>
              <a:rPr lang="en-IN" dirty="0" err="1"/>
              <a:t>boolean</a:t>
            </a:r>
            <a:r>
              <a:rPr lang="en-IN" dirty="0"/>
              <a:t> contains(Object element</a:t>
            </a:r>
            <a:r>
              <a:rPr lang="en-IN" dirty="0" smtClean="0"/>
              <a:t>)</a:t>
            </a:r>
          </a:p>
          <a:p>
            <a:r>
              <a:rPr lang="en-IN" dirty="0"/>
              <a:t>Object[] </a:t>
            </a:r>
            <a:r>
              <a:rPr lang="en-IN" dirty="0" err="1"/>
              <a:t>toArray</a:t>
            </a:r>
            <a:r>
              <a:rPr lang="en-IN" dirty="0" smtClean="0"/>
              <a:t>()</a:t>
            </a:r>
          </a:p>
          <a:p>
            <a:r>
              <a:rPr lang="en-IN" dirty="0" err="1"/>
              <a:t>boolean</a:t>
            </a:r>
            <a:r>
              <a:rPr lang="en-IN" dirty="0"/>
              <a:t> </a:t>
            </a:r>
            <a:r>
              <a:rPr lang="en-IN" dirty="0" err="1"/>
              <a:t>isEmpty</a:t>
            </a:r>
            <a:r>
              <a:rPr lang="en-IN" dirty="0" smtClean="0"/>
              <a:t>()</a:t>
            </a:r>
          </a:p>
          <a:p>
            <a:r>
              <a:rPr lang="en-IN" dirty="0" err="1"/>
              <a:t>boolean</a:t>
            </a:r>
            <a:r>
              <a:rPr lang="en-IN" dirty="0"/>
              <a:t> equals(Object element</a:t>
            </a:r>
            <a:r>
              <a:rPr lang="en-IN" dirty="0" smtClean="0"/>
              <a:t>)</a:t>
            </a:r>
          </a:p>
          <a:p>
            <a:endParaRPr lang="en-IN" dirty="0"/>
          </a:p>
          <a:p>
            <a:r>
              <a:rPr lang="en-IN" dirty="0" smtClean="0"/>
              <a:t>Methods in Iterator:</a:t>
            </a:r>
          </a:p>
          <a:p>
            <a:r>
              <a:rPr lang="en-IN" dirty="0"/>
              <a:t>Iterator interface provides the facility of iterating the elements in a forward direction only</a:t>
            </a:r>
            <a:r>
              <a:rPr lang="en-IN" dirty="0" smtClean="0"/>
              <a:t>.</a:t>
            </a:r>
          </a:p>
          <a:p>
            <a:endParaRPr lang="en-IN" dirty="0"/>
          </a:p>
          <a:p>
            <a:r>
              <a:rPr lang="en-IN" dirty="0" err="1"/>
              <a:t>boolean</a:t>
            </a:r>
            <a:r>
              <a:rPr lang="en-IN" dirty="0"/>
              <a:t> </a:t>
            </a:r>
            <a:r>
              <a:rPr lang="en-IN" dirty="0" err="1"/>
              <a:t>hasNext</a:t>
            </a:r>
            <a:r>
              <a:rPr lang="en-IN" dirty="0" smtClean="0"/>
              <a:t>()</a:t>
            </a:r>
          </a:p>
          <a:p>
            <a:r>
              <a:rPr lang="en-IN" dirty="0"/>
              <a:t>Object next</a:t>
            </a:r>
            <a:r>
              <a:rPr lang="en-IN" dirty="0" smtClean="0"/>
              <a:t>()</a:t>
            </a:r>
          </a:p>
          <a:p>
            <a:r>
              <a:rPr lang="en-IN" dirty="0"/>
              <a:t>void remove()</a:t>
            </a:r>
          </a:p>
        </p:txBody>
      </p:sp>
    </p:spTree>
    <p:extLst>
      <p:ext uri="{BB962C8B-B14F-4D97-AF65-F5344CB8AC3E}">
        <p14:creationId xmlns:p14="http://schemas.microsoft.com/office/powerpoint/2010/main" val="94515612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Java-Collections</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buNone/>
            </a:pPr>
            <a:r>
              <a:rPr lang="en-IN" sz="1800" dirty="0"/>
              <a:t>List Interface</a:t>
            </a:r>
          </a:p>
          <a:p>
            <a:r>
              <a:rPr lang="en-IN" sz="1800" dirty="0" smtClean="0"/>
              <a:t>child </a:t>
            </a:r>
            <a:r>
              <a:rPr lang="en-IN" sz="1800" dirty="0"/>
              <a:t>interface of Collection interface. </a:t>
            </a:r>
            <a:endParaRPr lang="en-IN" sz="1800" dirty="0" smtClean="0"/>
          </a:p>
          <a:p>
            <a:r>
              <a:rPr lang="en-IN" sz="1800" dirty="0" smtClean="0"/>
              <a:t>It </a:t>
            </a:r>
            <a:r>
              <a:rPr lang="en-IN" sz="1800" dirty="0"/>
              <a:t>inhibits a list type data structure in which we can store the ordered collection of objects</a:t>
            </a:r>
            <a:r>
              <a:rPr lang="en-IN" sz="1800" dirty="0" smtClean="0"/>
              <a:t>.</a:t>
            </a:r>
          </a:p>
          <a:p>
            <a:r>
              <a:rPr lang="en-IN" sz="1800" dirty="0" smtClean="0"/>
              <a:t> </a:t>
            </a:r>
            <a:r>
              <a:rPr lang="en-IN" sz="1800" dirty="0"/>
              <a:t>It can have duplicate values.</a:t>
            </a:r>
          </a:p>
          <a:p>
            <a:r>
              <a:rPr lang="en-IN" sz="1800" dirty="0"/>
              <a:t>List interface is implemented by the classes ArrayList, LinkedList, Vector, and Stack.</a:t>
            </a:r>
          </a:p>
          <a:p>
            <a:pPr marL="0" indent="0">
              <a:buNone/>
            </a:pPr>
            <a:r>
              <a:rPr lang="en-IN" sz="1800" dirty="0"/>
              <a:t>To instantiate the List interface, we must use :</a:t>
            </a:r>
          </a:p>
          <a:p>
            <a:pPr marL="0" indent="0">
              <a:buNone/>
            </a:pPr>
            <a:r>
              <a:rPr lang="en-IN" sz="1800" dirty="0"/>
              <a:t>List &lt;data-type&gt; list1= </a:t>
            </a:r>
            <a:r>
              <a:rPr lang="en-IN" sz="1800" b="1" dirty="0"/>
              <a:t>new</a:t>
            </a:r>
            <a:r>
              <a:rPr lang="en-IN" sz="1800" dirty="0"/>
              <a:t> ArrayList();  </a:t>
            </a:r>
          </a:p>
          <a:p>
            <a:pPr marL="0" indent="0">
              <a:buNone/>
            </a:pPr>
            <a:r>
              <a:rPr lang="en-IN" sz="1800" dirty="0"/>
              <a:t>List &lt;data-type&gt; list2 = </a:t>
            </a:r>
            <a:r>
              <a:rPr lang="en-IN" sz="1800" b="1" dirty="0"/>
              <a:t>new</a:t>
            </a:r>
            <a:r>
              <a:rPr lang="en-IN" sz="1800" dirty="0"/>
              <a:t> LinkedList();  </a:t>
            </a:r>
          </a:p>
          <a:p>
            <a:pPr marL="0" indent="0">
              <a:buNone/>
            </a:pPr>
            <a:r>
              <a:rPr lang="en-IN" sz="1800" dirty="0"/>
              <a:t>List &lt;data-type&gt; list3 = </a:t>
            </a:r>
            <a:r>
              <a:rPr lang="en-IN" sz="1800" b="1" dirty="0"/>
              <a:t>new</a:t>
            </a:r>
            <a:r>
              <a:rPr lang="en-IN" sz="1800" dirty="0"/>
              <a:t> Vector();  </a:t>
            </a:r>
          </a:p>
          <a:p>
            <a:pPr marL="0" indent="0">
              <a:buNone/>
            </a:pPr>
            <a:r>
              <a:rPr lang="en-IN" sz="1800" dirty="0"/>
              <a:t>List &lt;data-type&gt; </a:t>
            </a:r>
            <a:r>
              <a:rPr lang="en-IN" sz="1800" dirty="0" smtClean="0"/>
              <a:t>list4</a:t>
            </a:r>
            <a:r>
              <a:rPr lang="en-IN" sz="1800" dirty="0"/>
              <a:t> = </a:t>
            </a:r>
            <a:r>
              <a:rPr lang="en-IN" sz="1800" b="1" dirty="0"/>
              <a:t>new</a:t>
            </a:r>
            <a:r>
              <a:rPr lang="en-IN" sz="1800" dirty="0"/>
              <a:t> Stack();  </a:t>
            </a:r>
            <a:endParaRPr lang="en-IN" sz="1800" dirty="0" smtClean="0"/>
          </a:p>
          <a:p>
            <a:pPr marL="0" indent="0">
              <a:buNone/>
            </a:pPr>
            <a:endParaRPr lang="en-IN" sz="1800" dirty="0"/>
          </a:p>
          <a:p>
            <a:pPr marL="0" indent="0">
              <a:buNone/>
            </a:pPr>
            <a:r>
              <a:rPr lang="en-IN" sz="1800" dirty="0"/>
              <a:t>M</a:t>
            </a:r>
            <a:r>
              <a:rPr lang="en-IN" sz="1800" dirty="0" smtClean="0"/>
              <a:t>ethods </a:t>
            </a:r>
            <a:r>
              <a:rPr lang="en-IN" sz="1800" dirty="0"/>
              <a:t>in List interface that can be used to insert, delete, and access the elements from the list.</a:t>
            </a:r>
          </a:p>
        </p:txBody>
      </p:sp>
      <p:sp>
        <p:nvSpPr>
          <p:cNvPr id="4" name="TextBox 3"/>
          <p:cNvSpPr txBox="1"/>
          <p:nvPr/>
        </p:nvSpPr>
        <p:spPr>
          <a:xfrm>
            <a:off x="6157915" y="0"/>
            <a:ext cx="6024130" cy="923330"/>
          </a:xfrm>
          <a:prstGeom prst="rect">
            <a:avLst/>
          </a:prstGeom>
          <a:noFill/>
        </p:spPr>
        <p:txBody>
          <a:bodyPr wrap="square" rtlCol="0">
            <a:spAutoFit/>
          </a:bodyPr>
          <a:lstStyle/>
          <a:p>
            <a:endParaRPr lang="en-US" dirty="0" smtClean="0"/>
          </a:p>
          <a:p>
            <a:endParaRPr lang="en-IN" dirty="0"/>
          </a:p>
          <a:p>
            <a:endParaRPr lang="en-IN" dirty="0"/>
          </a:p>
        </p:txBody>
      </p:sp>
      <p:sp>
        <p:nvSpPr>
          <p:cNvPr id="6" name="TextBox 5"/>
          <p:cNvSpPr txBox="1"/>
          <p:nvPr/>
        </p:nvSpPr>
        <p:spPr>
          <a:xfrm>
            <a:off x="6157915" y="461665"/>
            <a:ext cx="5969061" cy="6740307"/>
          </a:xfrm>
          <a:prstGeom prst="rect">
            <a:avLst/>
          </a:prstGeom>
          <a:noFill/>
        </p:spPr>
        <p:txBody>
          <a:bodyPr wrap="square" rtlCol="0">
            <a:spAutoFit/>
          </a:bodyPr>
          <a:lstStyle/>
          <a:p>
            <a:r>
              <a:rPr lang="en-IN" dirty="0"/>
              <a:t>ArrayList</a:t>
            </a:r>
          </a:p>
          <a:p>
            <a:r>
              <a:rPr lang="en-IN" dirty="0"/>
              <a:t>The ArrayList class implements the List interface. </a:t>
            </a:r>
            <a:endParaRPr lang="en-IN" dirty="0" smtClean="0"/>
          </a:p>
          <a:p>
            <a:r>
              <a:rPr lang="en-IN" dirty="0" smtClean="0"/>
              <a:t>It </a:t>
            </a:r>
            <a:r>
              <a:rPr lang="en-IN" dirty="0"/>
              <a:t>uses a dynamic array to store the duplicate element of different data types. </a:t>
            </a:r>
            <a:endParaRPr lang="en-IN" dirty="0" smtClean="0"/>
          </a:p>
          <a:p>
            <a:r>
              <a:rPr lang="en-IN" dirty="0" smtClean="0"/>
              <a:t>Maintains </a:t>
            </a:r>
            <a:r>
              <a:rPr lang="en-IN" dirty="0"/>
              <a:t>the insertion order and is non-synchronized. </a:t>
            </a:r>
            <a:endParaRPr lang="en-IN" dirty="0" smtClean="0"/>
          </a:p>
          <a:p>
            <a:r>
              <a:rPr lang="en-IN" dirty="0" smtClean="0"/>
              <a:t>The </a:t>
            </a:r>
            <a:r>
              <a:rPr lang="en-IN" dirty="0"/>
              <a:t>elements </a:t>
            </a:r>
            <a:r>
              <a:rPr lang="en-IN" dirty="0" smtClean="0"/>
              <a:t>can </a:t>
            </a:r>
            <a:r>
              <a:rPr lang="en-IN" dirty="0"/>
              <a:t>be randomly accessed</a:t>
            </a:r>
            <a:r>
              <a:rPr lang="en-IN" dirty="0" smtClean="0"/>
              <a:t>.</a:t>
            </a:r>
          </a:p>
          <a:p>
            <a:endParaRPr lang="en-IN" dirty="0" smtClean="0"/>
          </a:p>
          <a:p>
            <a:r>
              <a:rPr lang="en-IN" dirty="0"/>
              <a:t>import </a:t>
            </a:r>
            <a:r>
              <a:rPr lang="en-IN" dirty="0" err="1"/>
              <a:t>java.util</a:t>
            </a:r>
            <a:r>
              <a:rPr lang="en-IN" dirty="0"/>
              <a:t>.*;  </a:t>
            </a:r>
          </a:p>
          <a:p>
            <a:r>
              <a:rPr lang="en-IN" dirty="0"/>
              <a:t>public class TestJavaCollection1{  </a:t>
            </a:r>
          </a:p>
          <a:p>
            <a:r>
              <a:rPr lang="en-IN" dirty="0"/>
              <a:t>public static void main(String </a:t>
            </a:r>
            <a:r>
              <a:rPr lang="en-IN" dirty="0" err="1"/>
              <a:t>args</a:t>
            </a:r>
            <a:r>
              <a:rPr lang="en-IN" dirty="0"/>
              <a:t>[]){  </a:t>
            </a:r>
          </a:p>
          <a:p>
            <a:r>
              <a:rPr lang="en-IN" dirty="0"/>
              <a:t>ArrayList&lt;String&gt; list=new ArrayList&lt;String&gt;();//Creating </a:t>
            </a:r>
            <a:r>
              <a:rPr lang="en-IN" dirty="0" err="1"/>
              <a:t>arraylist</a:t>
            </a:r>
            <a:r>
              <a:rPr lang="en-IN" dirty="0"/>
              <a:t>  </a:t>
            </a:r>
          </a:p>
          <a:p>
            <a:r>
              <a:rPr lang="en-IN" dirty="0" err="1"/>
              <a:t>list.add</a:t>
            </a:r>
            <a:r>
              <a:rPr lang="en-IN" dirty="0"/>
              <a:t>("Red");//Adding object in </a:t>
            </a:r>
            <a:r>
              <a:rPr lang="en-IN" dirty="0" err="1"/>
              <a:t>arraylist</a:t>
            </a:r>
            <a:r>
              <a:rPr lang="en-IN" dirty="0"/>
              <a:t>  </a:t>
            </a:r>
          </a:p>
          <a:p>
            <a:r>
              <a:rPr lang="en-IN" dirty="0" err="1"/>
              <a:t>list.add</a:t>
            </a:r>
            <a:r>
              <a:rPr lang="en-IN" dirty="0"/>
              <a:t>("Orange");  </a:t>
            </a:r>
          </a:p>
          <a:p>
            <a:r>
              <a:rPr lang="en-IN" dirty="0" err="1"/>
              <a:t>list.add</a:t>
            </a:r>
            <a:r>
              <a:rPr lang="en-IN" dirty="0"/>
              <a:t>("Red");  </a:t>
            </a:r>
          </a:p>
          <a:p>
            <a:r>
              <a:rPr lang="en-IN" dirty="0" err="1"/>
              <a:t>list.add</a:t>
            </a:r>
            <a:r>
              <a:rPr lang="en-IN" dirty="0"/>
              <a:t>("Green");  </a:t>
            </a:r>
          </a:p>
          <a:p>
            <a:r>
              <a:rPr lang="en-IN" dirty="0"/>
              <a:t>//Traversing list through Iterator  </a:t>
            </a:r>
          </a:p>
          <a:p>
            <a:r>
              <a:rPr lang="en-IN" dirty="0"/>
              <a:t>Iterator </a:t>
            </a:r>
            <a:r>
              <a:rPr lang="en-IN" dirty="0" err="1"/>
              <a:t>itr</a:t>
            </a:r>
            <a:r>
              <a:rPr lang="en-IN" dirty="0"/>
              <a:t>=</a:t>
            </a:r>
            <a:r>
              <a:rPr lang="en-IN" dirty="0" err="1"/>
              <a:t>list.iterator</a:t>
            </a:r>
            <a:r>
              <a:rPr lang="en-IN" dirty="0"/>
              <a:t>();  </a:t>
            </a:r>
          </a:p>
          <a:p>
            <a:r>
              <a:rPr lang="en-IN" dirty="0"/>
              <a:t>while(</a:t>
            </a:r>
            <a:r>
              <a:rPr lang="en-IN" dirty="0" err="1"/>
              <a:t>itr.hasNext</a:t>
            </a:r>
            <a:r>
              <a:rPr lang="en-IN" dirty="0"/>
              <a:t>()){  </a:t>
            </a:r>
          </a:p>
          <a:p>
            <a:r>
              <a:rPr lang="en-IN" dirty="0" err="1"/>
              <a:t>System.out.println</a:t>
            </a:r>
            <a:r>
              <a:rPr lang="en-IN" dirty="0"/>
              <a:t>(</a:t>
            </a:r>
            <a:r>
              <a:rPr lang="en-IN" dirty="0" err="1"/>
              <a:t>itr.next</a:t>
            </a:r>
            <a:r>
              <a:rPr lang="en-IN" dirty="0"/>
              <a:t>());  </a:t>
            </a:r>
          </a:p>
          <a:p>
            <a:r>
              <a:rPr lang="en-IN" dirty="0"/>
              <a:t>}  </a:t>
            </a:r>
          </a:p>
          <a:p>
            <a:r>
              <a:rPr lang="en-IN" dirty="0"/>
              <a:t>}  </a:t>
            </a:r>
          </a:p>
          <a:p>
            <a:r>
              <a:rPr lang="en-IN" dirty="0"/>
              <a:t>} </a:t>
            </a:r>
          </a:p>
          <a:p>
            <a:endParaRPr lang="en-IN" dirty="0"/>
          </a:p>
        </p:txBody>
      </p:sp>
    </p:spTree>
    <p:extLst>
      <p:ext uri="{BB962C8B-B14F-4D97-AF65-F5344CB8AC3E}">
        <p14:creationId xmlns:p14="http://schemas.microsoft.com/office/powerpoint/2010/main" val="209665007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Java-Collections</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buNone/>
            </a:pPr>
            <a:r>
              <a:rPr lang="en-IN" sz="1800" b="1" dirty="0"/>
              <a:t>LinkedList</a:t>
            </a:r>
          </a:p>
          <a:p>
            <a:pPr marL="0" indent="0">
              <a:spcBef>
                <a:spcPts val="0"/>
              </a:spcBef>
              <a:buNone/>
            </a:pPr>
            <a:r>
              <a:rPr lang="en-IN" sz="1800" dirty="0"/>
              <a:t>LinkedList implements the Collection interface. </a:t>
            </a:r>
            <a:endParaRPr lang="en-IN" sz="1800" dirty="0" smtClean="0"/>
          </a:p>
          <a:p>
            <a:pPr marL="0" indent="0">
              <a:spcBef>
                <a:spcPts val="0"/>
              </a:spcBef>
              <a:buNone/>
            </a:pPr>
            <a:r>
              <a:rPr lang="en-IN" sz="1800" dirty="0"/>
              <a:t>U</a:t>
            </a:r>
            <a:r>
              <a:rPr lang="en-IN" sz="1800" dirty="0" smtClean="0"/>
              <a:t>ses </a:t>
            </a:r>
            <a:r>
              <a:rPr lang="en-IN" sz="1800" dirty="0"/>
              <a:t>a doubly linked list internally to store the elements. </a:t>
            </a:r>
            <a:endParaRPr lang="en-IN" sz="1800" dirty="0" smtClean="0"/>
          </a:p>
          <a:p>
            <a:pPr marL="0" indent="0">
              <a:spcBef>
                <a:spcPts val="0"/>
              </a:spcBef>
              <a:buNone/>
            </a:pPr>
            <a:r>
              <a:rPr lang="en-IN" sz="1800" dirty="0"/>
              <a:t>C</a:t>
            </a:r>
            <a:r>
              <a:rPr lang="en-IN" sz="1800" dirty="0" smtClean="0"/>
              <a:t>an </a:t>
            </a:r>
            <a:r>
              <a:rPr lang="en-IN" sz="1800" dirty="0"/>
              <a:t>store the duplicate elements. </a:t>
            </a:r>
            <a:endParaRPr lang="en-IN" sz="1800" dirty="0" smtClean="0"/>
          </a:p>
          <a:p>
            <a:pPr marL="0" indent="0">
              <a:spcBef>
                <a:spcPts val="0"/>
              </a:spcBef>
              <a:buNone/>
            </a:pPr>
            <a:r>
              <a:rPr lang="en-IN" sz="1800" dirty="0"/>
              <a:t>M</a:t>
            </a:r>
            <a:r>
              <a:rPr lang="en-IN" sz="1800" dirty="0" smtClean="0"/>
              <a:t>aintains </a:t>
            </a:r>
            <a:r>
              <a:rPr lang="en-IN" sz="1800" dirty="0"/>
              <a:t>the insertion order and is not synchronized. </a:t>
            </a:r>
            <a:endParaRPr lang="en-IN" sz="1800" dirty="0" smtClean="0"/>
          </a:p>
          <a:p>
            <a:pPr marL="0" indent="0">
              <a:spcBef>
                <a:spcPts val="0"/>
              </a:spcBef>
              <a:buNone/>
            </a:pPr>
            <a:r>
              <a:rPr lang="en-IN" sz="1800" dirty="0"/>
              <a:t>M</a:t>
            </a:r>
            <a:r>
              <a:rPr lang="en-IN" sz="1800" dirty="0" smtClean="0"/>
              <a:t>anipulation </a:t>
            </a:r>
            <a:r>
              <a:rPr lang="en-IN" sz="1800" dirty="0"/>
              <a:t>is fast because no shifting is required</a:t>
            </a:r>
            <a:r>
              <a:rPr lang="en-IN" sz="1800" dirty="0" smtClean="0"/>
              <a:t>.</a:t>
            </a:r>
          </a:p>
          <a:p>
            <a:pPr marL="0" indent="0">
              <a:buNone/>
            </a:pPr>
            <a:r>
              <a:rPr lang="en-IN" sz="1800" b="1" dirty="0"/>
              <a:t>import</a:t>
            </a:r>
            <a:r>
              <a:rPr lang="en-IN" sz="1800" dirty="0"/>
              <a:t> </a:t>
            </a:r>
            <a:r>
              <a:rPr lang="en-IN" sz="1800" dirty="0" err="1"/>
              <a:t>java.util</a:t>
            </a:r>
            <a:r>
              <a:rPr lang="en-IN" sz="1800" dirty="0"/>
              <a:t>.*;  </a:t>
            </a:r>
          </a:p>
          <a:p>
            <a:pPr marL="0" indent="0">
              <a:buNone/>
            </a:pPr>
            <a:r>
              <a:rPr lang="en-IN" sz="1800" b="1" dirty="0"/>
              <a:t>public</a:t>
            </a:r>
            <a:r>
              <a:rPr lang="en-IN" sz="1800" dirty="0"/>
              <a:t> </a:t>
            </a:r>
            <a:r>
              <a:rPr lang="en-IN" sz="1800" b="1" dirty="0"/>
              <a:t>class</a:t>
            </a:r>
            <a:r>
              <a:rPr lang="en-IN" sz="1800" dirty="0"/>
              <a:t> TestJavaCollection2{  </a:t>
            </a:r>
          </a:p>
          <a:p>
            <a:pPr marL="0" indent="0">
              <a:buNone/>
            </a:pPr>
            <a:r>
              <a:rPr lang="en-IN" sz="1800" b="1" dirty="0"/>
              <a:t>public</a:t>
            </a:r>
            <a:r>
              <a:rPr lang="en-IN" sz="1800" dirty="0"/>
              <a:t> </a:t>
            </a:r>
            <a:r>
              <a:rPr lang="en-IN" sz="1800" b="1" dirty="0"/>
              <a:t>static</a:t>
            </a:r>
            <a:r>
              <a:rPr lang="en-IN" sz="1800" dirty="0"/>
              <a:t> </a:t>
            </a:r>
            <a:r>
              <a:rPr lang="en-IN" sz="1800" b="1" dirty="0"/>
              <a:t>void</a:t>
            </a:r>
            <a:r>
              <a:rPr lang="en-IN" sz="1800" dirty="0"/>
              <a:t> main(String </a:t>
            </a:r>
            <a:r>
              <a:rPr lang="en-IN" sz="1800" dirty="0" err="1"/>
              <a:t>args</a:t>
            </a:r>
            <a:r>
              <a:rPr lang="en-IN" sz="1800" dirty="0"/>
              <a:t>[]){  </a:t>
            </a:r>
          </a:p>
          <a:p>
            <a:pPr marL="0" indent="0">
              <a:buNone/>
            </a:pPr>
            <a:r>
              <a:rPr lang="en-IN" sz="1800" dirty="0"/>
              <a:t>LinkedList&lt;String&gt; al=</a:t>
            </a:r>
            <a:r>
              <a:rPr lang="en-IN" sz="1800" b="1" dirty="0"/>
              <a:t>new</a:t>
            </a:r>
            <a:r>
              <a:rPr lang="en-IN" sz="1800" dirty="0"/>
              <a:t> LinkedList&lt;String&gt;();  </a:t>
            </a:r>
          </a:p>
          <a:p>
            <a:pPr marL="0" indent="0">
              <a:buNone/>
            </a:pPr>
            <a:r>
              <a:rPr lang="en-IN" sz="1800" dirty="0" err="1"/>
              <a:t>al.add</a:t>
            </a:r>
            <a:r>
              <a:rPr lang="en-IN" sz="1800" dirty="0"/>
              <a:t>("Ravi");  </a:t>
            </a:r>
          </a:p>
          <a:p>
            <a:pPr marL="0" indent="0">
              <a:buNone/>
            </a:pPr>
            <a:r>
              <a:rPr lang="en-IN" sz="1800" dirty="0" err="1"/>
              <a:t>al.add</a:t>
            </a:r>
            <a:r>
              <a:rPr lang="en-IN" sz="1800" dirty="0"/>
              <a:t>("Vijay");  </a:t>
            </a:r>
          </a:p>
          <a:p>
            <a:pPr marL="0" indent="0">
              <a:buNone/>
            </a:pPr>
            <a:r>
              <a:rPr lang="en-IN" sz="1800" dirty="0" err="1"/>
              <a:t>al.add</a:t>
            </a:r>
            <a:r>
              <a:rPr lang="en-IN" sz="1800" dirty="0"/>
              <a:t>("Ravi");  </a:t>
            </a:r>
          </a:p>
          <a:p>
            <a:pPr marL="0" indent="0">
              <a:buNone/>
            </a:pPr>
            <a:r>
              <a:rPr lang="en-IN" sz="1800" dirty="0" err="1"/>
              <a:t>al.add</a:t>
            </a:r>
            <a:r>
              <a:rPr lang="en-IN" sz="1800" dirty="0"/>
              <a:t>("Ajay");  </a:t>
            </a:r>
          </a:p>
          <a:p>
            <a:pPr marL="0" indent="0">
              <a:buNone/>
            </a:pPr>
            <a:r>
              <a:rPr lang="en-IN" sz="1800" dirty="0"/>
              <a:t>Iterator&lt;String&gt; </a:t>
            </a:r>
            <a:r>
              <a:rPr lang="en-IN" sz="1800" dirty="0" err="1"/>
              <a:t>itr</a:t>
            </a:r>
            <a:r>
              <a:rPr lang="en-IN" sz="1800" dirty="0"/>
              <a:t>=</a:t>
            </a:r>
            <a:r>
              <a:rPr lang="en-IN" sz="1800" dirty="0" err="1"/>
              <a:t>al.iterator</a:t>
            </a:r>
            <a:r>
              <a:rPr lang="en-IN" sz="1800" dirty="0"/>
              <a:t>();  </a:t>
            </a:r>
          </a:p>
          <a:p>
            <a:pPr marL="0" indent="0">
              <a:buNone/>
            </a:pPr>
            <a:r>
              <a:rPr lang="en-IN" sz="1800" b="1" dirty="0"/>
              <a:t>while</a:t>
            </a:r>
            <a:r>
              <a:rPr lang="en-IN" sz="1800" dirty="0"/>
              <a:t>(</a:t>
            </a:r>
            <a:r>
              <a:rPr lang="en-IN" sz="1800" dirty="0" err="1"/>
              <a:t>itr.hasNext</a:t>
            </a:r>
            <a:r>
              <a:rPr lang="en-IN" sz="1800" dirty="0"/>
              <a:t>()){  </a:t>
            </a:r>
          </a:p>
          <a:p>
            <a:pPr marL="0" indent="0">
              <a:buNone/>
            </a:pPr>
            <a:r>
              <a:rPr lang="en-IN" sz="1800" dirty="0" err="1"/>
              <a:t>System.out.println</a:t>
            </a:r>
            <a:r>
              <a:rPr lang="en-IN" sz="1800" dirty="0"/>
              <a:t>(</a:t>
            </a:r>
            <a:r>
              <a:rPr lang="en-IN" sz="1800" dirty="0" err="1"/>
              <a:t>itr.next</a:t>
            </a:r>
            <a:r>
              <a:rPr lang="en-IN" sz="1800" dirty="0"/>
              <a:t>());  </a:t>
            </a:r>
          </a:p>
          <a:p>
            <a:pPr marL="0" indent="0">
              <a:buNone/>
            </a:pPr>
            <a:r>
              <a:rPr lang="en-IN" sz="1800" dirty="0"/>
              <a:t>}  </a:t>
            </a:r>
            <a:r>
              <a:rPr lang="en-IN" sz="1800" dirty="0" smtClean="0"/>
              <a:t>}</a:t>
            </a:r>
            <a:r>
              <a:rPr lang="en-IN" sz="1800" dirty="0"/>
              <a:t>  </a:t>
            </a:r>
          </a:p>
          <a:p>
            <a:pPr marL="0" indent="0">
              <a:buNone/>
            </a:pPr>
            <a:r>
              <a:rPr lang="en-IN" sz="1800" dirty="0"/>
              <a:t>}  </a:t>
            </a:r>
          </a:p>
          <a:p>
            <a:pPr marL="0" indent="0">
              <a:buNone/>
            </a:pPr>
            <a:endParaRPr lang="en-IN" sz="1800" dirty="0"/>
          </a:p>
        </p:txBody>
      </p:sp>
      <p:sp>
        <p:nvSpPr>
          <p:cNvPr id="4" name="TextBox 3"/>
          <p:cNvSpPr txBox="1"/>
          <p:nvPr/>
        </p:nvSpPr>
        <p:spPr>
          <a:xfrm>
            <a:off x="6157915" y="0"/>
            <a:ext cx="6024130" cy="923330"/>
          </a:xfrm>
          <a:prstGeom prst="rect">
            <a:avLst/>
          </a:prstGeom>
          <a:noFill/>
        </p:spPr>
        <p:txBody>
          <a:bodyPr wrap="square" rtlCol="0">
            <a:spAutoFit/>
          </a:bodyPr>
          <a:lstStyle/>
          <a:p>
            <a:endParaRPr lang="en-US" dirty="0" smtClean="0"/>
          </a:p>
          <a:p>
            <a:endParaRPr lang="en-IN" dirty="0"/>
          </a:p>
          <a:p>
            <a:endParaRPr lang="en-IN" dirty="0"/>
          </a:p>
        </p:txBody>
      </p:sp>
      <p:sp>
        <p:nvSpPr>
          <p:cNvPr id="6" name="TextBox 5"/>
          <p:cNvSpPr txBox="1"/>
          <p:nvPr/>
        </p:nvSpPr>
        <p:spPr>
          <a:xfrm>
            <a:off x="5557840" y="-110646"/>
            <a:ext cx="6415085" cy="8125301"/>
          </a:xfrm>
          <a:prstGeom prst="rect">
            <a:avLst/>
          </a:prstGeom>
          <a:noFill/>
        </p:spPr>
        <p:txBody>
          <a:bodyPr wrap="square" rtlCol="0">
            <a:spAutoFit/>
          </a:bodyPr>
          <a:lstStyle/>
          <a:p>
            <a:r>
              <a:rPr lang="en-IN" b="1" dirty="0"/>
              <a:t>Vector</a:t>
            </a:r>
          </a:p>
          <a:p>
            <a:r>
              <a:rPr lang="en-IN" dirty="0"/>
              <a:t>Vector uses a dynamic array to store the data elements. </a:t>
            </a:r>
            <a:endParaRPr lang="en-IN" dirty="0" smtClean="0"/>
          </a:p>
          <a:p>
            <a:r>
              <a:rPr lang="en-IN" dirty="0" smtClean="0"/>
              <a:t>It </a:t>
            </a:r>
            <a:r>
              <a:rPr lang="en-IN" dirty="0"/>
              <a:t>is similar to </a:t>
            </a:r>
            <a:r>
              <a:rPr lang="en-IN" dirty="0" smtClean="0"/>
              <a:t>ArrayList.</a:t>
            </a:r>
          </a:p>
          <a:p>
            <a:r>
              <a:rPr lang="en-IN" dirty="0" smtClean="0"/>
              <a:t>It </a:t>
            </a:r>
            <a:r>
              <a:rPr lang="en-IN" dirty="0"/>
              <a:t>is synchronized and contains many methods that are not the part of Collection framework</a:t>
            </a:r>
            <a:r>
              <a:rPr lang="en-IN" dirty="0" smtClean="0"/>
              <a:t>.</a:t>
            </a:r>
          </a:p>
          <a:p>
            <a:endParaRPr lang="en-IN" dirty="0"/>
          </a:p>
          <a:p>
            <a:r>
              <a:rPr lang="en-IN" dirty="0"/>
              <a:t>Stack</a:t>
            </a:r>
          </a:p>
          <a:p>
            <a:r>
              <a:rPr lang="en-IN" dirty="0"/>
              <a:t>The stack is the subclass of Vector. </a:t>
            </a:r>
            <a:endParaRPr lang="en-IN" dirty="0" smtClean="0"/>
          </a:p>
          <a:p>
            <a:r>
              <a:rPr lang="en-IN" dirty="0" smtClean="0"/>
              <a:t>It </a:t>
            </a:r>
            <a:r>
              <a:rPr lang="en-IN" dirty="0"/>
              <a:t>implements the last-in-first-out data </a:t>
            </a:r>
            <a:r>
              <a:rPr lang="en-IN" dirty="0" smtClean="0"/>
              <a:t>structure. </a:t>
            </a:r>
          </a:p>
          <a:p>
            <a:r>
              <a:rPr lang="en-IN" dirty="0" smtClean="0"/>
              <a:t>The </a:t>
            </a:r>
            <a:r>
              <a:rPr lang="en-IN" dirty="0"/>
              <a:t>stack contains all of the methods of Vector class and also provides its methods like </a:t>
            </a:r>
            <a:r>
              <a:rPr lang="en-IN" dirty="0" err="1"/>
              <a:t>boolean</a:t>
            </a:r>
            <a:r>
              <a:rPr lang="en-IN" dirty="0"/>
              <a:t> push(), </a:t>
            </a:r>
            <a:r>
              <a:rPr lang="en-IN" dirty="0" err="1"/>
              <a:t>boolean</a:t>
            </a:r>
            <a:r>
              <a:rPr lang="en-IN" dirty="0"/>
              <a:t> peek(), </a:t>
            </a:r>
            <a:r>
              <a:rPr lang="en-IN" dirty="0" err="1"/>
              <a:t>boolean</a:t>
            </a:r>
            <a:r>
              <a:rPr lang="en-IN" dirty="0"/>
              <a:t> push(object o), which defines its properties</a:t>
            </a:r>
            <a:r>
              <a:rPr lang="en-IN" dirty="0" smtClean="0"/>
              <a:t>.</a:t>
            </a:r>
          </a:p>
          <a:p>
            <a:r>
              <a:rPr lang="en-IN" dirty="0" smtClean="0"/>
              <a:t>peek</a:t>
            </a:r>
            <a:r>
              <a:rPr lang="en-IN" dirty="0"/>
              <a:t>() method in Java is used to retrieve or fetch the first element of the Stack or the element present at the top of the Stack</a:t>
            </a:r>
            <a:r>
              <a:rPr lang="en-IN" dirty="0" smtClean="0"/>
              <a:t>.</a:t>
            </a:r>
          </a:p>
          <a:p>
            <a:endParaRPr lang="en-IN" dirty="0"/>
          </a:p>
          <a:p>
            <a:r>
              <a:rPr lang="en-IN" dirty="0"/>
              <a:t>import </a:t>
            </a:r>
            <a:r>
              <a:rPr lang="en-IN" dirty="0" err="1"/>
              <a:t>java.util</a:t>
            </a:r>
            <a:r>
              <a:rPr lang="en-IN" dirty="0"/>
              <a:t>.*;  </a:t>
            </a:r>
          </a:p>
          <a:p>
            <a:r>
              <a:rPr lang="en-IN" dirty="0"/>
              <a:t>public class </a:t>
            </a:r>
            <a:r>
              <a:rPr lang="en-IN" dirty="0" err="1"/>
              <a:t>TestJavaCollection</a:t>
            </a:r>
            <a:r>
              <a:rPr lang="en-IN" dirty="0"/>
              <a:t>{  </a:t>
            </a:r>
          </a:p>
          <a:p>
            <a:r>
              <a:rPr lang="en-IN" dirty="0"/>
              <a:t>public static void main(String </a:t>
            </a:r>
            <a:r>
              <a:rPr lang="en-IN" dirty="0" err="1"/>
              <a:t>args</a:t>
            </a:r>
            <a:r>
              <a:rPr lang="en-IN" dirty="0"/>
              <a:t>[]){  </a:t>
            </a:r>
          </a:p>
          <a:p>
            <a:r>
              <a:rPr lang="en-IN" dirty="0"/>
              <a:t>Stack&lt;String&gt; stack = new Stack&lt;String&gt;();  </a:t>
            </a:r>
          </a:p>
          <a:p>
            <a:r>
              <a:rPr lang="en-IN" dirty="0" err="1"/>
              <a:t>stack.push</a:t>
            </a:r>
            <a:r>
              <a:rPr lang="en-IN" dirty="0"/>
              <a:t>("Almond");  </a:t>
            </a:r>
          </a:p>
          <a:p>
            <a:r>
              <a:rPr lang="en-IN" dirty="0" err="1"/>
              <a:t>stack.push</a:t>
            </a:r>
            <a:r>
              <a:rPr lang="en-IN" dirty="0"/>
              <a:t>("Garlic");  </a:t>
            </a:r>
          </a:p>
          <a:p>
            <a:r>
              <a:rPr lang="en-IN" dirty="0" err="1"/>
              <a:t>stack.pop</a:t>
            </a:r>
            <a:r>
              <a:rPr lang="en-IN" dirty="0"/>
              <a:t>();  </a:t>
            </a:r>
          </a:p>
          <a:p>
            <a:r>
              <a:rPr lang="en-IN" dirty="0"/>
              <a:t>Iterator&lt;String&gt; </a:t>
            </a:r>
            <a:r>
              <a:rPr lang="en-IN" dirty="0" err="1"/>
              <a:t>itr</a:t>
            </a:r>
            <a:r>
              <a:rPr lang="en-IN" dirty="0"/>
              <a:t>=</a:t>
            </a:r>
            <a:r>
              <a:rPr lang="en-IN" dirty="0" err="1"/>
              <a:t>stack.iterator</a:t>
            </a:r>
            <a:r>
              <a:rPr lang="en-IN" dirty="0"/>
              <a:t>();  </a:t>
            </a:r>
          </a:p>
          <a:p>
            <a:r>
              <a:rPr lang="en-IN" dirty="0"/>
              <a:t>while(</a:t>
            </a:r>
            <a:r>
              <a:rPr lang="en-IN" dirty="0" err="1"/>
              <a:t>itr.hasNext</a:t>
            </a:r>
            <a:r>
              <a:rPr lang="en-IN" dirty="0"/>
              <a:t>()){  </a:t>
            </a:r>
          </a:p>
          <a:p>
            <a:r>
              <a:rPr lang="en-IN" dirty="0" err="1"/>
              <a:t>System.out.println</a:t>
            </a:r>
            <a:r>
              <a:rPr lang="en-IN" dirty="0"/>
              <a:t>(</a:t>
            </a:r>
            <a:r>
              <a:rPr lang="en-IN" dirty="0" err="1"/>
              <a:t>itr.next</a:t>
            </a:r>
            <a:r>
              <a:rPr lang="en-IN" dirty="0"/>
              <a:t>());  </a:t>
            </a:r>
            <a:r>
              <a:rPr lang="en-IN" dirty="0" smtClean="0"/>
              <a:t>}  }  } </a:t>
            </a:r>
          </a:p>
          <a:p>
            <a:endParaRPr lang="en-IN" dirty="0"/>
          </a:p>
          <a:p>
            <a:endParaRPr lang="en-IN" dirty="0"/>
          </a:p>
          <a:p>
            <a:endParaRPr lang="en-IN" dirty="0"/>
          </a:p>
        </p:txBody>
      </p:sp>
    </p:spTree>
    <p:extLst>
      <p:ext uri="{BB962C8B-B14F-4D97-AF65-F5344CB8AC3E}">
        <p14:creationId xmlns:p14="http://schemas.microsoft.com/office/powerpoint/2010/main" val="254077431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Java-Collections</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spcBef>
                <a:spcPts val="0"/>
              </a:spcBef>
              <a:buNone/>
            </a:pPr>
            <a:r>
              <a:rPr lang="en-IN" sz="1600" dirty="0"/>
              <a:t>import </a:t>
            </a:r>
            <a:r>
              <a:rPr lang="en-IN" sz="1600" dirty="0" err="1"/>
              <a:t>java.util</a:t>
            </a:r>
            <a:r>
              <a:rPr lang="en-IN" sz="1600" dirty="0"/>
              <a:t>.*;  </a:t>
            </a:r>
          </a:p>
          <a:p>
            <a:pPr marL="0" indent="0">
              <a:spcBef>
                <a:spcPts val="0"/>
              </a:spcBef>
              <a:buNone/>
            </a:pPr>
            <a:r>
              <a:rPr lang="en-IN" sz="1600" dirty="0"/>
              <a:t>public class TestJavaCollection3{  </a:t>
            </a:r>
          </a:p>
          <a:p>
            <a:pPr marL="0" indent="0">
              <a:spcBef>
                <a:spcPts val="0"/>
              </a:spcBef>
              <a:buNone/>
            </a:pPr>
            <a:r>
              <a:rPr lang="en-IN" sz="1600" dirty="0"/>
              <a:t>public static void main(String </a:t>
            </a:r>
            <a:r>
              <a:rPr lang="en-IN" sz="1600" dirty="0" err="1"/>
              <a:t>args</a:t>
            </a:r>
            <a:r>
              <a:rPr lang="en-IN" sz="1600" dirty="0"/>
              <a:t>[]){  </a:t>
            </a:r>
          </a:p>
          <a:p>
            <a:pPr marL="0" indent="0">
              <a:spcBef>
                <a:spcPts val="0"/>
              </a:spcBef>
              <a:buNone/>
            </a:pPr>
            <a:r>
              <a:rPr lang="en-IN" sz="1600" dirty="0"/>
              <a:t>Vector&lt;Integer&gt; v=new Vector&lt;Integer&gt;();  </a:t>
            </a:r>
          </a:p>
          <a:p>
            <a:pPr marL="0" indent="0">
              <a:spcBef>
                <a:spcPts val="0"/>
              </a:spcBef>
              <a:buNone/>
            </a:pPr>
            <a:r>
              <a:rPr lang="en-IN" sz="1600" dirty="0" err="1"/>
              <a:t>v.add</a:t>
            </a:r>
            <a:r>
              <a:rPr lang="en-IN" sz="1600" dirty="0"/>
              <a:t>(20);  </a:t>
            </a:r>
          </a:p>
          <a:p>
            <a:pPr marL="0" indent="0">
              <a:spcBef>
                <a:spcPts val="0"/>
              </a:spcBef>
              <a:buNone/>
            </a:pPr>
            <a:r>
              <a:rPr lang="en-IN" sz="1600" dirty="0" err="1"/>
              <a:t>v.add</a:t>
            </a:r>
            <a:r>
              <a:rPr lang="en-IN" sz="1600" dirty="0"/>
              <a:t>(70);  </a:t>
            </a:r>
          </a:p>
          <a:p>
            <a:pPr marL="0" indent="0">
              <a:spcBef>
                <a:spcPts val="0"/>
              </a:spcBef>
              <a:buNone/>
            </a:pPr>
            <a:r>
              <a:rPr lang="en-IN" sz="1600" dirty="0" err="1"/>
              <a:t>v.add</a:t>
            </a:r>
            <a:r>
              <a:rPr lang="en-IN" sz="1600" dirty="0"/>
              <a:t>(90);  </a:t>
            </a:r>
          </a:p>
          <a:p>
            <a:pPr marL="0" indent="0">
              <a:spcBef>
                <a:spcPts val="0"/>
              </a:spcBef>
              <a:buNone/>
            </a:pPr>
            <a:r>
              <a:rPr lang="en-IN" sz="1600" dirty="0" err="1"/>
              <a:t>v.add</a:t>
            </a:r>
            <a:r>
              <a:rPr lang="en-IN" sz="1600" dirty="0"/>
              <a:t>(100);  </a:t>
            </a:r>
          </a:p>
          <a:p>
            <a:pPr marL="0" indent="0">
              <a:spcBef>
                <a:spcPts val="0"/>
              </a:spcBef>
              <a:buNone/>
            </a:pPr>
            <a:r>
              <a:rPr lang="en-IN" sz="1600" dirty="0"/>
              <a:t>Iterator&lt;Integer&gt; </a:t>
            </a:r>
            <a:r>
              <a:rPr lang="en-IN" sz="1600" dirty="0" err="1"/>
              <a:t>itr</a:t>
            </a:r>
            <a:r>
              <a:rPr lang="en-IN" sz="1600" dirty="0"/>
              <a:t>=</a:t>
            </a:r>
            <a:r>
              <a:rPr lang="en-IN" sz="1600" dirty="0" err="1"/>
              <a:t>v.iterator</a:t>
            </a:r>
            <a:r>
              <a:rPr lang="en-IN" sz="1600" dirty="0"/>
              <a:t>();  </a:t>
            </a:r>
          </a:p>
          <a:p>
            <a:pPr marL="0" indent="0">
              <a:spcBef>
                <a:spcPts val="0"/>
              </a:spcBef>
              <a:buNone/>
            </a:pPr>
            <a:r>
              <a:rPr lang="en-IN" sz="1600" dirty="0"/>
              <a:t>while(</a:t>
            </a:r>
            <a:r>
              <a:rPr lang="en-IN" sz="1600" dirty="0" err="1"/>
              <a:t>itr.hasNext</a:t>
            </a:r>
            <a:r>
              <a:rPr lang="en-IN" sz="1600" dirty="0"/>
              <a:t>()){  </a:t>
            </a:r>
          </a:p>
          <a:p>
            <a:pPr marL="0" indent="0">
              <a:spcBef>
                <a:spcPts val="0"/>
              </a:spcBef>
              <a:buNone/>
            </a:pPr>
            <a:r>
              <a:rPr lang="en-IN" sz="1600" dirty="0" err="1"/>
              <a:t>System.out.println</a:t>
            </a:r>
            <a:r>
              <a:rPr lang="en-IN" sz="1600" dirty="0"/>
              <a:t>(</a:t>
            </a:r>
            <a:r>
              <a:rPr lang="en-IN" sz="1600" dirty="0" err="1"/>
              <a:t>itr.next</a:t>
            </a:r>
            <a:r>
              <a:rPr lang="en-IN" sz="1600" dirty="0"/>
              <a:t>());  </a:t>
            </a:r>
          </a:p>
          <a:p>
            <a:pPr marL="0" indent="0">
              <a:spcBef>
                <a:spcPts val="0"/>
              </a:spcBef>
              <a:buNone/>
            </a:pPr>
            <a:r>
              <a:rPr lang="en-IN" sz="1600" dirty="0"/>
              <a:t>}  </a:t>
            </a:r>
          </a:p>
          <a:p>
            <a:pPr marL="0" indent="0">
              <a:spcBef>
                <a:spcPts val="0"/>
              </a:spcBef>
              <a:buNone/>
            </a:pPr>
            <a:r>
              <a:rPr lang="en-IN" sz="1600" dirty="0"/>
              <a:t>}  </a:t>
            </a:r>
          </a:p>
          <a:p>
            <a:pPr marL="0" indent="0">
              <a:spcBef>
                <a:spcPts val="0"/>
              </a:spcBef>
              <a:buNone/>
            </a:pPr>
            <a:r>
              <a:rPr lang="en-IN" sz="1600" dirty="0"/>
              <a:t>} </a:t>
            </a:r>
            <a:endParaRPr lang="en-IN" sz="1600" dirty="0" smtClean="0"/>
          </a:p>
          <a:p>
            <a:pPr marL="0" indent="0">
              <a:spcBef>
                <a:spcPts val="0"/>
              </a:spcBef>
              <a:buNone/>
            </a:pPr>
            <a:endParaRPr lang="en-IN" sz="1600" dirty="0"/>
          </a:p>
        </p:txBody>
      </p:sp>
      <p:sp>
        <p:nvSpPr>
          <p:cNvPr id="4" name="TextBox 3"/>
          <p:cNvSpPr txBox="1"/>
          <p:nvPr/>
        </p:nvSpPr>
        <p:spPr>
          <a:xfrm>
            <a:off x="6157915" y="0"/>
            <a:ext cx="6024130" cy="923330"/>
          </a:xfrm>
          <a:prstGeom prst="rect">
            <a:avLst/>
          </a:prstGeom>
          <a:noFill/>
        </p:spPr>
        <p:txBody>
          <a:bodyPr wrap="square" rtlCol="0">
            <a:spAutoFit/>
          </a:bodyPr>
          <a:lstStyle/>
          <a:p>
            <a:endParaRPr lang="en-US" dirty="0" smtClean="0"/>
          </a:p>
          <a:p>
            <a:endParaRPr lang="en-IN" dirty="0"/>
          </a:p>
          <a:p>
            <a:endParaRPr lang="en-IN" dirty="0"/>
          </a:p>
        </p:txBody>
      </p:sp>
      <p:pic>
        <p:nvPicPr>
          <p:cNvPr id="5" name="Picture 4"/>
          <p:cNvPicPr>
            <a:picLocks noChangeAspect="1"/>
          </p:cNvPicPr>
          <p:nvPr/>
        </p:nvPicPr>
        <p:blipFill>
          <a:blip r:embed="rId2"/>
          <a:stretch>
            <a:fillRect/>
          </a:stretch>
        </p:blipFill>
        <p:spPr>
          <a:xfrm>
            <a:off x="134816" y="3786187"/>
            <a:ext cx="4732253" cy="1357313"/>
          </a:xfrm>
          <a:prstGeom prst="rect">
            <a:avLst/>
          </a:prstGeom>
        </p:spPr>
      </p:pic>
    </p:spTree>
    <p:extLst>
      <p:ext uri="{BB962C8B-B14F-4D97-AF65-F5344CB8AC3E}">
        <p14:creationId xmlns:p14="http://schemas.microsoft.com/office/powerpoint/2010/main" val="404080327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Java-Collections-ArrayList</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buNone/>
            </a:pPr>
            <a:r>
              <a:rPr lang="en-IN" sz="1800" dirty="0"/>
              <a:t>Java ArrayList class uses a dynamic array for storing the elements</a:t>
            </a:r>
            <a:r>
              <a:rPr lang="en-IN" sz="1800" dirty="0" smtClean="0"/>
              <a:t>.</a:t>
            </a:r>
          </a:p>
          <a:p>
            <a:pPr marL="0" indent="0">
              <a:buNone/>
            </a:pPr>
            <a:r>
              <a:rPr lang="en-IN" sz="1800" dirty="0" smtClean="0"/>
              <a:t> </a:t>
            </a:r>
            <a:r>
              <a:rPr lang="en-IN" sz="1800" dirty="0"/>
              <a:t>It is like an array, but there is no size limit. </a:t>
            </a:r>
            <a:endParaRPr lang="en-IN" sz="1800" dirty="0" smtClean="0"/>
          </a:p>
          <a:p>
            <a:pPr marL="0" indent="0">
              <a:buNone/>
            </a:pPr>
            <a:r>
              <a:rPr lang="en-IN" sz="1800" dirty="0" smtClean="0"/>
              <a:t>We </a:t>
            </a:r>
            <a:r>
              <a:rPr lang="en-IN" sz="1800" dirty="0"/>
              <a:t>can add or remove elements anytime. So, it is much more flexible than the traditional array. </a:t>
            </a:r>
            <a:endParaRPr lang="en-IN" sz="1800" dirty="0" smtClean="0"/>
          </a:p>
          <a:p>
            <a:pPr marL="0" indent="0">
              <a:buNone/>
            </a:pPr>
            <a:r>
              <a:rPr lang="en-IN" sz="1800" dirty="0"/>
              <a:t>collection framework was non-generic before JDK 1.5. Since 1.5, it is generic</a:t>
            </a:r>
            <a:r>
              <a:rPr lang="en-IN" sz="1800" dirty="0" smtClean="0"/>
              <a:t>.</a:t>
            </a:r>
          </a:p>
          <a:p>
            <a:pPr marL="0" indent="0">
              <a:buNone/>
            </a:pPr>
            <a:r>
              <a:rPr lang="en-IN" sz="1800" dirty="0" smtClean="0"/>
              <a:t>old </a:t>
            </a:r>
            <a:r>
              <a:rPr lang="en-IN" sz="1800" dirty="0"/>
              <a:t>non-generic example of creating java collection.</a:t>
            </a:r>
          </a:p>
          <a:p>
            <a:pPr marL="0" indent="0">
              <a:buNone/>
            </a:pPr>
            <a:r>
              <a:rPr lang="en-IN" sz="1800" b="1" dirty="0" smtClean="0"/>
              <a:t>ArrayList </a:t>
            </a:r>
            <a:r>
              <a:rPr lang="en-IN" sz="1800" b="1" dirty="0"/>
              <a:t>list=new ArrayList();</a:t>
            </a:r>
            <a:r>
              <a:rPr lang="en-IN" sz="1800" dirty="0"/>
              <a:t>//creating old non-generic </a:t>
            </a:r>
            <a:r>
              <a:rPr lang="en-IN" sz="1800" dirty="0" err="1"/>
              <a:t>arraylist</a:t>
            </a:r>
            <a:r>
              <a:rPr lang="en-IN" sz="1800" dirty="0"/>
              <a:t>  </a:t>
            </a:r>
          </a:p>
          <a:p>
            <a:pPr marL="0" indent="0">
              <a:buNone/>
            </a:pPr>
            <a:r>
              <a:rPr lang="en-IN" sz="1800" dirty="0" smtClean="0"/>
              <a:t>new </a:t>
            </a:r>
            <a:r>
              <a:rPr lang="en-IN" sz="1800" dirty="0"/>
              <a:t>generic example of creating java collection.</a:t>
            </a:r>
          </a:p>
          <a:p>
            <a:pPr marL="0" indent="0">
              <a:buNone/>
            </a:pPr>
            <a:r>
              <a:rPr lang="en-IN" sz="1800" b="1" dirty="0" smtClean="0"/>
              <a:t>ArrayList&lt;String</a:t>
            </a:r>
            <a:r>
              <a:rPr lang="en-IN" sz="1800" b="1" dirty="0"/>
              <a:t>&gt; list=new </a:t>
            </a:r>
            <a:r>
              <a:rPr lang="en-IN" sz="1800" b="1" dirty="0" smtClean="0"/>
              <a:t>ArrayList&lt;String&gt;();</a:t>
            </a:r>
          </a:p>
          <a:p>
            <a:pPr marL="0" indent="0">
              <a:buNone/>
            </a:pPr>
            <a:r>
              <a:rPr lang="en-IN" sz="1800" dirty="0"/>
              <a:t>In a generic collection, we specify the type in angular braces. Now ArrayList is forced to have the only specified type of objects in </a:t>
            </a:r>
            <a:r>
              <a:rPr lang="en-IN" sz="1800" dirty="0" smtClean="0"/>
              <a:t>it, trying </a:t>
            </a:r>
            <a:r>
              <a:rPr lang="en-IN" sz="1800" dirty="0"/>
              <a:t>to add another type of object, it gives </a:t>
            </a:r>
            <a:r>
              <a:rPr lang="en-IN" sz="1800" i="1" dirty="0"/>
              <a:t>compile time error</a:t>
            </a:r>
            <a:r>
              <a:rPr lang="en-IN" sz="1800" dirty="0"/>
              <a:t>.</a:t>
            </a:r>
          </a:p>
        </p:txBody>
      </p:sp>
      <p:sp>
        <p:nvSpPr>
          <p:cNvPr id="4" name="TextBox 3"/>
          <p:cNvSpPr txBox="1"/>
          <p:nvPr/>
        </p:nvSpPr>
        <p:spPr>
          <a:xfrm>
            <a:off x="6157915" y="0"/>
            <a:ext cx="6024130" cy="923330"/>
          </a:xfrm>
          <a:prstGeom prst="rect">
            <a:avLst/>
          </a:prstGeom>
          <a:noFill/>
        </p:spPr>
        <p:txBody>
          <a:bodyPr wrap="square" rtlCol="0">
            <a:spAutoFit/>
          </a:bodyPr>
          <a:lstStyle/>
          <a:p>
            <a:endParaRPr lang="en-US" dirty="0" smtClean="0"/>
          </a:p>
          <a:p>
            <a:endParaRPr lang="en-IN" dirty="0"/>
          </a:p>
          <a:p>
            <a:endParaRPr lang="en-IN" dirty="0"/>
          </a:p>
        </p:txBody>
      </p:sp>
      <p:sp>
        <p:nvSpPr>
          <p:cNvPr id="6" name="TextBox 5"/>
          <p:cNvSpPr txBox="1"/>
          <p:nvPr/>
        </p:nvSpPr>
        <p:spPr>
          <a:xfrm>
            <a:off x="5962437" y="0"/>
            <a:ext cx="6415085" cy="6463308"/>
          </a:xfrm>
          <a:prstGeom prst="rect">
            <a:avLst/>
          </a:prstGeom>
          <a:noFill/>
        </p:spPr>
        <p:txBody>
          <a:bodyPr wrap="square" rtlCol="0">
            <a:spAutoFit/>
          </a:bodyPr>
          <a:lstStyle/>
          <a:p>
            <a:r>
              <a:rPr lang="en-IN" dirty="0"/>
              <a:t>import </a:t>
            </a:r>
            <a:r>
              <a:rPr lang="en-IN" dirty="0" err="1"/>
              <a:t>java.util</a:t>
            </a:r>
            <a:r>
              <a:rPr lang="en-IN" dirty="0"/>
              <a:t>.*;</a:t>
            </a:r>
          </a:p>
          <a:p>
            <a:r>
              <a:rPr lang="en-IN" dirty="0"/>
              <a:t>  </a:t>
            </a:r>
          </a:p>
          <a:p>
            <a:r>
              <a:rPr lang="en-IN" dirty="0"/>
              <a:t>public class </a:t>
            </a:r>
            <a:r>
              <a:rPr lang="en-IN" dirty="0" err="1"/>
              <a:t>ArrayListExample</a:t>
            </a:r>
            <a:r>
              <a:rPr lang="en-IN" dirty="0"/>
              <a:t> {</a:t>
            </a:r>
          </a:p>
          <a:p>
            <a:r>
              <a:rPr lang="en-IN" dirty="0"/>
              <a:t>    public static void main(String[] </a:t>
            </a:r>
            <a:r>
              <a:rPr lang="en-IN" dirty="0" err="1"/>
              <a:t>args</a:t>
            </a:r>
            <a:r>
              <a:rPr lang="en-IN" dirty="0"/>
              <a:t>)</a:t>
            </a:r>
          </a:p>
          <a:p>
            <a:r>
              <a:rPr lang="en-IN" dirty="0"/>
              <a:t>    {</a:t>
            </a:r>
          </a:p>
          <a:p>
            <a:r>
              <a:rPr lang="en-IN" dirty="0"/>
              <a:t>            </a:t>
            </a:r>
            <a:r>
              <a:rPr lang="en-IN" dirty="0" err="1"/>
              <a:t>int</a:t>
            </a:r>
            <a:r>
              <a:rPr lang="en-IN" dirty="0"/>
              <a:t> n = 5;</a:t>
            </a:r>
          </a:p>
          <a:p>
            <a:r>
              <a:rPr lang="en-IN" dirty="0"/>
              <a:t>  </a:t>
            </a:r>
          </a:p>
          <a:p>
            <a:r>
              <a:rPr lang="en-IN" dirty="0"/>
              <a:t>        ArrayList&lt;Integer&gt; </a:t>
            </a:r>
            <a:r>
              <a:rPr lang="en-IN" dirty="0" err="1" smtClean="0"/>
              <a:t>arrli</a:t>
            </a:r>
            <a:r>
              <a:rPr lang="en-IN" dirty="0" smtClean="0"/>
              <a:t> </a:t>
            </a:r>
            <a:r>
              <a:rPr lang="en-IN" dirty="0"/>
              <a:t>= new ArrayList&lt;Integer&gt;(n);</a:t>
            </a:r>
          </a:p>
          <a:p>
            <a:r>
              <a:rPr lang="en-IN" dirty="0"/>
              <a:t>  </a:t>
            </a:r>
          </a:p>
          <a:p>
            <a:r>
              <a:rPr lang="en-IN" dirty="0"/>
              <a:t>        for (</a:t>
            </a:r>
            <a:r>
              <a:rPr lang="en-IN" dirty="0" err="1"/>
              <a:t>int</a:t>
            </a:r>
            <a:r>
              <a:rPr lang="en-IN" dirty="0"/>
              <a:t> </a:t>
            </a:r>
            <a:r>
              <a:rPr lang="en-IN" dirty="0" err="1"/>
              <a:t>i</a:t>
            </a:r>
            <a:r>
              <a:rPr lang="en-IN" dirty="0"/>
              <a:t> = 1; </a:t>
            </a:r>
            <a:r>
              <a:rPr lang="en-IN" dirty="0" err="1"/>
              <a:t>i</a:t>
            </a:r>
            <a:r>
              <a:rPr lang="en-IN" dirty="0"/>
              <a:t> &lt;= n; </a:t>
            </a:r>
            <a:r>
              <a:rPr lang="en-IN" dirty="0" err="1"/>
              <a:t>i</a:t>
            </a:r>
            <a:r>
              <a:rPr lang="en-IN" dirty="0"/>
              <a:t>++)</a:t>
            </a:r>
          </a:p>
          <a:p>
            <a:r>
              <a:rPr lang="en-IN" dirty="0"/>
              <a:t>            </a:t>
            </a:r>
            <a:r>
              <a:rPr lang="en-IN" dirty="0" err="1"/>
              <a:t>arrli.add</a:t>
            </a:r>
            <a:r>
              <a:rPr lang="en-IN" dirty="0"/>
              <a:t>(</a:t>
            </a:r>
            <a:r>
              <a:rPr lang="en-IN" dirty="0" err="1"/>
              <a:t>i</a:t>
            </a:r>
            <a:r>
              <a:rPr lang="en-IN" dirty="0"/>
              <a:t>);</a:t>
            </a:r>
          </a:p>
          <a:p>
            <a:r>
              <a:rPr lang="en-IN" dirty="0"/>
              <a:t>  </a:t>
            </a:r>
          </a:p>
          <a:p>
            <a:r>
              <a:rPr lang="en-IN" dirty="0"/>
              <a:t>        </a:t>
            </a:r>
            <a:r>
              <a:rPr lang="en-IN" dirty="0" err="1"/>
              <a:t>System.out.println</a:t>
            </a:r>
            <a:r>
              <a:rPr lang="en-IN" dirty="0"/>
              <a:t>(</a:t>
            </a:r>
            <a:r>
              <a:rPr lang="en-IN" dirty="0" err="1"/>
              <a:t>arrli</a:t>
            </a:r>
            <a:r>
              <a:rPr lang="en-IN" dirty="0"/>
              <a:t>);</a:t>
            </a:r>
          </a:p>
          <a:p>
            <a:r>
              <a:rPr lang="en-IN" dirty="0"/>
              <a:t>  </a:t>
            </a:r>
          </a:p>
          <a:p>
            <a:r>
              <a:rPr lang="en-IN" dirty="0"/>
              <a:t>        // Remove element at index 3</a:t>
            </a:r>
          </a:p>
          <a:p>
            <a:r>
              <a:rPr lang="en-IN" dirty="0"/>
              <a:t>        </a:t>
            </a:r>
            <a:r>
              <a:rPr lang="en-IN" dirty="0" err="1"/>
              <a:t>arrli.remove</a:t>
            </a:r>
            <a:r>
              <a:rPr lang="en-IN" dirty="0"/>
              <a:t>(3);</a:t>
            </a:r>
          </a:p>
          <a:p>
            <a:r>
              <a:rPr lang="en-IN" dirty="0"/>
              <a:t>          </a:t>
            </a:r>
            <a:r>
              <a:rPr lang="en-IN" dirty="0" err="1"/>
              <a:t>System.out.println</a:t>
            </a:r>
            <a:r>
              <a:rPr lang="en-IN" dirty="0"/>
              <a:t>(</a:t>
            </a:r>
            <a:r>
              <a:rPr lang="en-IN" dirty="0" err="1"/>
              <a:t>arrli</a:t>
            </a:r>
            <a:r>
              <a:rPr lang="en-IN" dirty="0"/>
              <a:t>);</a:t>
            </a:r>
          </a:p>
          <a:p>
            <a:r>
              <a:rPr lang="en-IN" dirty="0"/>
              <a:t>  </a:t>
            </a:r>
          </a:p>
          <a:p>
            <a:r>
              <a:rPr lang="en-IN" dirty="0"/>
              <a:t>        </a:t>
            </a:r>
          </a:p>
          <a:p>
            <a:r>
              <a:rPr lang="en-IN" dirty="0"/>
              <a:t>        for (</a:t>
            </a:r>
            <a:r>
              <a:rPr lang="en-IN" dirty="0" err="1"/>
              <a:t>int</a:t>
            </a:r>
            <a:r>
              <a:rPr lang="en-IN" dirty="0"/>
              <a:t> </a:t>
            </a:r>
            <a:r>
              <a:rPr lang="en-IN" dirty="0" err="1"/>
              <a:t>i</a:t>
            </a:r>
            <a:r>
              <a:rPr lang="en-IN" dirty="0"/>
              <a:t> = 0; </a:t>
            </a:r>
            <a:r>
              <a:rPr lang="en-IN" dirty="0" err="1"/>
              <a:t>i</a:t>
            </a:r>
            <a:r>
              <a:rPr lang="en-IN" dirty="0"/>
              <a:t> &lt; </a:t>
            </a:r>
            <a:r>
              <a:rPr lang="en-IN" dirty="0" err="1"/>
              <a:t>arrli.size</a:t>
            </a:r>
            <a:r>
              <a:rPr lang="en-IN" dirty="0"/>
              <a:t>(); </a:t>
            </a:r>
            <a:r>
              <a:rPr lang="en-IN" dirty="0" err="1"/>
              <a:t>i</a:t>
            </a:r>
            <a:r>
              <a:rPr lang="en-IN" dirty="0"/>
              <a:t>++)</a:t>
            </a:r>
          </a:p>
          <a:p>
            <a:r>
              <a:rPr lang="en-IN" dirty="0"/>
              <a:t>            </a:t>
            </a:r>
            <a:r>
              <a:rPr lang="en-IN" dirty="0" err="1"/>
              <a:t>System.out.print</a:t>
            </a:r>
            <a:r>
              <a:rPr lang="en-IN" dirty="0"/>
              <a:t>(</a:t>
            </a:r>
            <a:r>
              <a:rPr lang="en-IN" dirty="0" err="1"/>
              <a:t>arrli.get</a:t>
            </a:r>
            <a:r>
              <a:rPr lang="en-IN" dirty="0"/>
              <a:t>(</a:t>
            </a:r>
            <a:r>
              <a:rPr lang="en-IN" dirty="0" err="1"/>
              <a:t>i</a:t>
            </a:r>
            <a:r>
              <a:rPr lang="en-IN" dirty="0"/>
              <a:t>) + " ");</a:t>
            </a:r>
          </a:p>
          <a:p>
            <a:r>
              <a:rPr lang="en-IN" dirty="0"/>
              <a:t>    }</a:t>
            </a:r>
          </a:p>
          <a:p>
            <a:r>
              <a:rPr lang="en-IN" dirty="0"/>
              <a:t>}</a:t>
            </a:r>
          </a:p>
        </p:txBody>
      </p:sp>
      <p:pic>
        <p:nvPicPr>
          <p:cNvPr id="5" name="Picture 4"/>
          <p:cNvPicPr>
            <a:picLocks noChangeAspect="1"/>
          </p:cNvPicPr>
          <p:nvPr/>
        </p:nvPicPr>
        <p:blipFill>
          <a:blip r:embed="rId2"/>
          <a:stretch>
            <a:fillRect/>
          </a:stretch>
        </p:blipFill>
        <p:spPr>
          <a:xfrm>
            <a:off x="8873739" y="5872163"/>
            <a:ext cx="3318261" cy="985837"/>
          </a:xfrm>
          <a:prstGeom prst="rect">
            <a:avLst/>
          </a:prstGeom>
        </p:spPr>
      </p:pic>
    </p:spTree>
    <p:extLst>
      <p:ext uri="{BB962C8B-B14F-4D97-AF65-F5344CB8AC3E}">
        <p14:creationId xmlns:p14="http://schemas.microsoft.com/office/powerpoint/2010/main" val="30953910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Java-Collections-ArrayList</a:t>
            </a:r>
            <a:endParaRPr lang="en-US" dirty="0"/>
          </a:p>
        </p:txBody>
      </p:sp>
      <p:sp>
        <p:nvSpPr>
          <p:cNvPr id="3" name="Content Placeholder 2"/>
          <p:cNvSpPr>
            <a:spLocks noGrp="1"/>
          </p:cNvSpPr>
          <p:nvPr>
            <p:ph sz="half" idx="1"/>
          </p:nvPr>
        </p:nvSpPr>
        <p:spPr>
          <a:xfrm>
            <a:off x="134816" y="394530"/>
            <a:ext cx="6023099" cy="6343895"/>
          </a:xfrm>
        </p:spPr>
        <p:txBody>
          <a:bodyPr>
            <a:noAutofit/>
          </a:bodyPr>
          <a:lstStyle/>
          <a:p>
            <a:pPr marL="0" indent="0">
              <a:buNone/>
            </a:pPr>
            <a:r>
              <a:rPr lang="en-IN" sz="1800" dirty="0"/>
              <a:t>import </a:t>
            </a:r>
            <a:r>
              <a:rPr lang="en-IN" sz="1800" dirty="0" err="1"/>
              <a:t>java.util</a:t>
            </a:r>
            <a:r>
              <a:rPr lang="en-IN" sz="1800" dirty="0"/>
              <a:t>.*;  </a:t>
            </a:r>
          </a:p>
          <a:p>
            <a:pPr marL="0" indent="0">
              <a:buNone/>
            </a:pPr>
            <a:r>
              <a:rPr lang="en-IN" sz="1800" dirty="0"/>
              <a:t>public class ArrayListExample4{  </a:t>
            </a:r>
          </a:p>
          <a:p>
            <a:pPr marL="0" indent="0">
              <a:buNone/>
            </a:pPr>
            <a:r>
              <a:rPr lang="en-IN" sz="1800" dirty="0"/>
              <a:t> public static void main(String </a:t>
            </a:r>
            <a:r>
              <a:rPr lang="en-IN" sz="1800" dirty="0" err="1"/>
              <a:t>args</a:t>
            </a:r>
            <a:r>
              <a:rPr lang="en-IN" sz="1800" dirty="0"/>
              <a:t>[]){  </a:t>
            </a:r>
          </a:p>
          <a:p>
            <a:pPr marL="0" indent="0">
              <a:buNone/>
            </a:pPr>
            <a:r>
              <a:rPr lang="en-IN" sz="1800" dirty="0"/>
              <a:t>  ArrayList&lt;String&gt; al=new ArrayList&lt;String&gt;();  </a:t>
            </a:r>
          </a:p>
          <a:p>
            <a:pPr marL="0" indent="0">
              <a:buNone/>
            </a:pPr>
            <a:r>
              <a:rPr lang="en-IN" sz="1800" dirty="0"/>
              <a:t>  </a:t>
            </a:r>
            <a:r>
              <a:rPr lang="en-IN" sz="1800" dirty="0" err="1"/>
              <a:t>al.add</a:t>
            </a:r>
            <a:r>
              <a:rPr lang="en-IN" sz="1800" dirty="0"/>
              <a:t>("</a:t>
            </a:r>
            <a:r>
              <a:rPr lang="en-IN" sz="1800" dirty="0" err="1"/>
              <a:t>Merun</a:t>
            </a:r>
            <a:r>
              <a:rPr lang="en-IN" sz="1800" dirty="0"/>
              <a:t>");  </a:t>
            </a:r>
          </a:p>
          <a:p>
            <a:pPr marL="0" indent="0">
              <a:buNone/>
            </a:pPr>
            <a:r>
              <a:rPr lang="en-IN" sz="1800" dirty="0"/>
              <a:t>  </a:t>
            </a:r>
            <a:r>
              <a:rPr lang="en-IN" sz="1800" dirty="0" err="1"/>
              <a:t>al.add</a:t>
            </a:r>
            <a:r>
              <a:rPr lang="en-IN" sz="1800" dirty="0"/>
              <a:t>("Pink");  </a:t>
            </a:r>
          </a:p>
          <a:p>
            <a:pPr marL="0" indent="0">
              <a:buNone/>
            </a:pPr>
            <a:r>
              <a:rPr lang="en-IN" sz="1800" dirty="0"/>
              <a:t>  </a:t>
            </a:r>
            <a:r>
              <a:rPr lang="en-IN" sz="1800" dirty="0" err="1"/>
              <a:t>al.add</a:t>
            </a:r>
            <a:r>
              <a:rPr lang="en-IN" sz="1800" dirty="0"/>
              <a:t>("Blue");  </a:t>
            </a:r>
          </a:p>
          <a:p>
            <a:pPr marL="0" indent="0">
              <a:buNone/>
            </a:pPr>
            <a:r>
              <a:rPr lang="en-IN" sz="1800" dirty="0"/>
              <a:t>  </a:t>
            </a:r>
            <a:r>
              <a:rPr lang="en-IN" sz="1800" dirty="0" err="1"/>
              <a:t>al.add</a:t>
            </a:r>
            <a:r>
              <a:rPr lang="en-IN" sz="1800" dirty="0"/>
              <a:t>("Green");  </a:t>
            </a:r>
          </a:p>
          <a:p>
            <a:pPr marL="0" indent="0">
              <a:buNone/>
            </a:pPr>
            <a:r>
              <a:rPr lang="en-IN" sz="1800" dirty="0"/>
              <a:t>  //accessing the element    </a:t>
            </a:r>
          </a:p>
          <a:p>
            <a:pPr marL="0" indent="0">
              <a:buNone/>
            </a:pPr>
            <a:r>
              <a:rPr lang="en-IN" sz="1800" dirty="0"/>
              <a:t>  </a:t>
            </a:r>
            <a:r>
              <a:rPr lang="en-IN" sz="1800" dirty="0" err="1"/>
              <a:t>System.out.println</a:t>
            </a:r>
            <a:r>
              <a:rPr lang="en-IN" sz="1800" dirty="0"/>
              <a:t>("Returning element: "+</a:t>
            </a:r>
            <a:r>
              <a:rPr lang="en-IN" sz="1800" dirty="0" err="1"/>
              <a:t>al.get</a:t>
            </a:r>
            <a:r>
              <a:rPr lang="en-IN" sz="1800" dirty="0"/>
              <a:t>(1</a:t>
            </a:r>
            <a:r>
              <a:rPr lang="en-IN" sz="1800" dirty="0" smtClean="0"/>
              <a:t>));</a:t>
            </a:r>
          </a:p>
          <a:p>
            <a:pPr marL="0" indent="0">
              <a:buNone/>
            </a:pPr>
            <a:r>
              <a:rPr lang="en-IN" sz="1800" dirty="0" smtClean="0"/>
              <a:t>//changing the element  </a:t>
            </a:r>
          </a:p>
          <a:p>
            <a:pPr marL="0" indent="0">
              <a:buNone/>
            </a:pPr>
            <a:r>
              <a:rPr lang="en-IN" sz="1800" dirty="0" smtClean="0"/>
              <a:t>  </a:t>
            </a:r>
            <a:r>
              <a:rPr lang="en-IN" sz="1800" dirty="0" err="1"/>
              <a:t>al.set</a:t>
            </a:r>
            <a:r>
              <a:rPr lang="en-IN" sz="1800" dirty="0"/>
              <a:t>(1,"Dark Brown");  </a:t>
            </a:r>
          </a:p>
          <a:p>
            <a:pPr marL="0" indent="0">
              <a:buNone/>
            </a:pPr>
            <a:r>
              <a:rPr lang="en-IN" sz="1800" dirty="0"/>
              <a:t>  //Traversing list  </a:t>
            </a:r>
          </a:p>
          <a:p>
            <a:pPr marL="0" indent="0">
              <a:buNone/>
            </a:pPr>
            <a:r>
              <a:rPr lang="en-IN" sz="1800" dirty="0"/>
              <a:t>  for(String t:al)    </a:t>
            </a:r>
          </a:p>
          <a:p>
            <a:pPr marL="0" indent="0">
              <a:buNone/>
            </a:pPr>
            <a:r>
              <a:rPr lang="en-IN" sz="1800" dirty="0"/>
              <a:t>    </a:t>
            </a:r>
            <a:r>
              <a:rPr lang="en-IN" sz="1800" dirty="0" err="1"/>
              <a:t>System.out.println</a:t>
            </a:r>
            <a:r>
              <a:rPr lang="en-IN" sz="1800" dirty="0"/>
              <a:t>(t);    </a:t>
            </a:r>
          </a:p>
          <a:p>
            <a:pPr marL="0" indent="0">
              <a:buNone/>
            </a:pPr>
            <a:r>
              <a:rPr lang="en-IN" sz="1800" dirty="0"/>
              <a:t>  </a:t>
            </a:r>
            <a:r>
              <a:rPr lang="en-IN" sz="1800" dirty="0" smtClean="0"/>
              <a:t>}  } </a:t>
            </a:r>
            <a:endParaRPr lang="en-IN" sz="1800" dirty="0"/>
          </a:p>
        </p:txBody>
      </p:sp>
      <p:sp>
        <p:nvSpPr>
          <p:cNvPr id="4" name="TextBox 3"/>
          <p:cNvSpPr txBox="1"/>
          <p:nvPr/>
        </p:nvSpPr>
        <p:spPr>
          <a:xfrm>
            <a:off x="6157915" y="0"/>
            <a:ext cx="6024130" cy="923330"/>
          </a:xfrm>
          <a:prstGeom prst="rect">
            <a:avLst/>
          </a:prstGeom>
          <a:noFill/>
        </p:spPr>
        <p:txBody>
          <a:bodyPr wrap="square" rtlCol="0">
            <a:spAutoFit/>
          </a:bodyPr>
          <a:lstStyle/>
          <a:p>
            <a:endParaRPr lang="en-US" dirty="0" smtClean="0"/>
          </a:p>
          <a:p>
            <a:endParaRPr lang="en-IN" dirty="0"/>
          </a:p>
          <a:p>
            <a:endParaRPr lang="en-IN" dirty="0"/>
          </a:p>
        </p:txBody>
      </p:sp>
      <p:sp>
        <p:nvSpPr>
          <p:cNvPr id="6" name="TextBox 5"/>
          <p:cNvSpPr txBox="1"/>
          <p:nvPr/>
        </p:nvSpPr>
        <p:spPr>
          <a:xfrm>
            <a:off x="5829301" y="0"/>
            <a:ext cx="6548222" cy="7294305"/>
          </a:xfrm>
          <a:prstGeom prst="rect">
            <a:avLst/>
          </a:prstGeom>
          <a:noFill/>
        </p:spPr>
        <p:txBody>
          <a:bodyPr wrap="square" rtlCol="0">
            <a:spAutoFit/>
          </a:bodyPr>
          <a:lstStyle/>
          <a:p>
            <a:r>
              <a:rPr lang="en-IN" dirty="0"/>
              <a:t>Collections which has the static method sort(). </a:t>
            </a:r>
            <a:endParaRPr lang="en-IN" dirty="0" smtClean="0"/>
          </a:p>
          <a:p>
            <a:r>
              <a:rPr lang="en-IN" dirty="0" smtClean="0"/>
              <a:t>Using </a:t>
            </a:r>
            <a:r>
              <a:rPr lang="en-IN" dirty="0"/>
              <a:t>the </a:t>
            </a:r>
            <a:r>
              <a:rPr lang="en-IN" dirty="0" err="1"/>
              <a:t>Collections.sort</a:t>
            </a:r>
            <a:r>
              <a:rPr lang="en-IN" dirty="0"/>
              <a:t>() method, </a:t>
            </a:r>
            <a:r>
              <a:rPr lang="en-IN" dirty="0" smtClean="0"/>
              <a:t>sort can be performed in </a:t>
            </a:r>
            <a:r>
              <a:rPr lang="en-IN" dirty="0"/>
              <a:t>the ArrayList</a:t>
            </a:r>
            <a:r>
              <a:rPr lang="en-IN" dirty="0" smtClean="0"/>
              <a:t>.</a:t>
            </a:r>
            <a:endParaRPr lang="en-IN" dirty="0"/>
          </a:p>
          <a:p>
            <a:r>
              <a:rPr lang="en-IN" dirty="0" smtClean="0"/>
              <a:t>import </a:t>
            </a:r>
            <a:r>
              <a:rPr lang="en-IN" dirty="0" err="1"/>
              <a:t>java.util</a:t>
            </a:r>
            <a:r>
              <a:rPr lang="en-IN" dirty="0"/>
              <a:t>.*;  </a:t>
            </a:r>
          </a:p>
          <a:p>
            <a:r>
              <a:rPr lang="en-IN" dirty="0"/>
              <a:t>public class </a:t>
            </a:r>
            <a:r>
              <a:rPr lang="en-IN" dirty="0" err="1"/>
              <a:t>SortArrayList</a:t>
            </a:r>
            <a:r>
              <a:rPr lang="en-IN" dirty="0"/>
              <a:t>{  </a:t>
            </a:r>
          </a:p>
          <a:p>
            <a:r>
              <a:rPr lang="en-IN" dirty="0"/>
              <a:t> public static void main(String </a:t>
            </a:r>
            <a:r>
              <a:rPr lang="en-IN" dirty="0" err="1"/>
              <a:t>args</a:t>
            </a:r>
            <a:r>
              <a:rPr lang="en-IN" dirty="0"/>
              <a:t>[]){  </a:t>
            </a:r>
          </a:p>
          <a:p>
            <a:r>
              <a:rPr lang="en-IN" dirty="0" smtClean="0"/>
              <a:t>List&lt;String</a:t>
            </a:r>
            <a:r>
              <a:rPr lang="en-IN" dirty="0"/>
              <a:t>&gt; list1=new ArrayList&lt;String&gt;();  </a:t>
            </a:r>
          </a:p>
          <a:p>
            <a:r>
              <a:rPr lang="en-IN" dirty="0"/>
              <a:t>  list1.add("</a:t>
            </a:r>
            <a:r>
              <a:rPr lang="en-IN" dirty="0" err="1"/>
              <a:t>Merun</a:t>
            </a:r>
            <a:r>
              <a:rPr lang="en-IN" dirty="0"/>
              <a:t>");  </a:t>
            </a:r>
          </a:p>
          <a:p>
            <a:r>
              <a:rPr lang="en-IN" dirty="0"/>
              <a:t>  list1.add("Pink");  </a:t>
            </a:r>
          </a:p>
          <a:p>
            <a:r>
              <a:rPr lang="en-IN" dirty="0"/>
              <a:t>  list1.add("Blue");  </a:t>
            </a:r>
          </a:p>
          <a:p>
            <a:r>
              <a:rPr lang="en-IN" dirty="0"/>
              <a:t>  list1.add("Green");  </a:t>
            </a:r>
          </a:p>
          <a:p>
            <a:r>
              <a:rPr lang="en-IN" dirty="0"/>
              <a:t>  //Sorting the list  </a:t>
            </a:r>
          </a:p>
          <a:p>
            <a:r>
              <a:rPr lang="en-IN" dirty="0"/>
              <a:t>  </a:t>
            </a:r>
            <a:r>
              <a:rPr lang="en-IN" dirty="0" err="1"/>
              <a:t>Collections.sort</a:t>
            </a:r>
            <a:r>
              <a:rPr lang="en-IN" dirty="0"/>
              <a:t>(list1);  </a:t>
            </a:r>
          </a:p>
          <a:p>
            <a:r>
              <a:rPr lang="en-IN" dirty="0" smtClean="0"/>
              <a:t>for(String </a:t>
            </a:r>
            <a:r>
              <a:rPr lang="en-IN" dirty="0"/>
              <a:t>f:list1)  </a:t>
            </a:r>
          </a:p>
          <a:p>
            <a:r>
              <a:rPr lang="en-IN" dirty="0"/>
              <a:t>    </a:t>
            </a:r>
            <a:r>
              <a:rPr lang="en-IN" dirty="0" err="1"/>
              <a:t>System.out.println</a:t>
            </a:r>
            <a:r>
              <a:rPr lang="en-IN" dirty="0"/>
              <a:t>(f);  </a:t>
            </a:r>
          </a:p>
          <a:p>
            <a:r>
              <a:rPr lang="en-IN" dirty="0"/>
              <a:t>     </a:t>
            </a:r>
            <a:r>
              <a:rPr lang="en-IN" dirty="0" err="1" smtClean="0"/>
              <a:t>System.out.println</a:t>
            </a:r>
            <a:r>
              <a:rPr lang="en-IN" dirty="0"/>
              <a:t>("Sorting numbers...");  </a:t>
            </a:r>
          </a:p>
          <a:p>
            <a:r>
              <a:rPr lang="en-IN" dirty="0"/>
              <a:t>  //Creating a list of numbers  </a:t>
            </a:r>
          </a:p>
          <a:p>
            <a:r>
              <a:rPr lang="en-IN" dirty="0"/>
              <a:t>  List&lt;Integer&gt; list2=new ArrayList&lt;Integer&gt;();  </a:t>
            </a:r>
          </a:p>
          <a:p>
            <a:r>
              <a:rPr lang="en-IN" dirty="0"/>
              <a:t>  list2.add(21);  </a:t>
            </a:r>
            <a:r>
              <a:rPr lang="en-IN" dirty="0" smtClean="0"/>
              <a:t> </a:t>
            </a:r>
            <a:r>
              <a:rPr lang="en-IN" dirty="0"/>
              <a:t>list2.add(11);  </a:t>
            </a:r>
          </a:p>
          <a:p>
            <a:r>
              <a:rPr lang="en-IN" dirty="0"/>
              <a:t>  list2.add(51);  </a:t>
            </a:r>
            <a:r>
              <a:rPr lang="en-IN" dirty="0" smtClean="0"/>
              <a:t>list2.add(1</a:t>
            </a:r>
            <a:r>
              <a:rPr lang="en-IN" dirty="0"/>
              <a:t>);  </a:t>
            </a:r>
          </a:p>
          <a:p>
            <a:r>
              <a:rPr lang="en-IN" dirty="0"/>
              <a:t>  //Sorting the list  </a:t>
            </a:r>
          </a:p>
          <a:p>
            <a:r>
              <a:rPr lang="en-IN" dirty="0"/>
              <a:t>  </a:t>
            </a:r>
            <a:r>
              <a:rPr lang="en-IN" dirty="0" err="1"/>
              <a:t>Collections.sort</a:t>
            </a:r>
            <a:r>
              <a:rPr lang="en-IN" dirty="0"/>
              <a:t>(list2);  </a:t>
            </a:r>
          </a:p>
          <a:p>
            <a:r>
              <a:rPr lang="en-IN" dirty="0"/>
              <a:t>   </a:t>
            </a:r>
            <a:r>
              <a:rPr lang="en-IN" dirty="0" smtClean="0"/>
              <a:t> </a:t>
            </a:r>
            <a:r>
              <a:rPr lang="en-IN" dirty="0"/>
              <a:t>for(Integer number:list2)  </a:t>
            </a:r>
          </a:p>
          <a:p>
            <a:r>
              <a:rPr lang="en-IN" dirty="0"/>
              <a:t>    </a:t>
            </a:r>
            <a:r>
              <a:rPr lang="en-IN" dirty="0" err="1"/>
              <a:t>System.out.println</a:t>
            </a:r>
            <a:r>
              <a:rPr lang="en-IN" dirty="0"/>
              <a:t>(number);  </a:t>
            </a:r>
          </a:p>
          <a:p>
            <a:r>
              <a:rPr lang="en-IN" dirty="0"/>
              <a:t> }  </a:t>
            </a:r>
            <a:r>
              <a:rPr lang="en-IN" dirty="0" smtClean="0"/>
              <a:t>} </a:t>
            </a:r>
            <a:endParaRPr lang="en-IN" dirty="0"/>
          </a:p>
        </p:txBody>
      </p:sp>
      <p:pic>
        <p:nvPicPr>
          <p:cNvPr id="5" name="Picture 4"/>
          <p:cNvPicPr>
            <a:picLocks noChangeAspect="1"/>
          </p:cNvPicPr>
          <p:nvPr/>
        </p:nvPicPr>
        <p:blipFill>
          <a:blip r:embed="rId2"/>
          <a:stretch>
            <a:fillRect/>
          </a:stretch>
        </p:blipFill>
        <p:spPr>
          <a:xfrm>
            <a:off x="2476500" y="5043488"/>
            <a:ext cx="3238501" cy="1694937"/>
          </a:xfrm>
          <a:prstGeom prst="rect">
            <a:avLst/>
          </a:prstGeom>
        </p:spPr>
      </p:pic>
      <p:pic>
        <p:nvPicPr>
          <p:cNvPr id="7" name="Picture 6"/>
          <p:cNvPicPr>
            <a:picLocks noChangeAspect="1"/>
          </p:cNvPicPr>
          <p:nvPr/>
        </p:nvPicPr>
        <p:blipFill>
          <a:blip r:embed="rId3"/>
          <a:stretch>
            <a:fillRect/>
          </a:stretch>
        </p:blipFill>
        <p:spPr>
          <a:xfrm>
            <a:off x="8997398" y="2143125"/>
            <a:ext cx="3105150" cy="1965692"/>
          </a:xfrm>
          <a:prstGeom prst="rect">
            <a:avLst/>
          </a:prstGeom>
        </p:spPr>
      </p:pic>
    </p:spTree>
    <p:extLst>
      <p:ext uri="{BB962C8B-B14F-4D97-AF65-F5344CB8AC3E}">
        <p14:creationId xmlns:p14="http://schemas.microsoft.com/office/powerpoint/2010/main" val="191518588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Java-Collections-Queue</a:t>
            </a:r>
            <a:endParaRPr lang="en-US" dirty="0"/>
          </a:p>
        </p:txBody>
      </p:sp>
      <p:sp>
        <p:nvSpPr>
          <p:cNvPr id="3" name="Content Placeholder 2"/>
          <p:cNvSpPr>
            <a:spLocks noGrp="1"/>
          </p:cNvSpPr>
          <p:nvPr>
            <p:ph sz="half" idx="1"/>
          </p:nvPr>
        </p:nvSpPr>
        <p:spPr>
          <a:xfrm>
            <a:off x="134816" y="394530"/>
            <a:ext cx="6400017" cy="6343895"/>
          </a:xfrm>
        </p:spPr>
        <p:txBody>
          <a:bodyPr>
            <a:noAutofit/>
          </a:bodyPr>
          <a:lstStyle/>
          <a:p>
            <a:pPr marL="0" indent="0">
              <a:buNone/>
            </a:pPr>
            <a:r>
              <a:rPr lang="en-IN" sz="1800" dirty="0"/>
              <a:t>Queue interface maintains the first-in-first-out order. </a:t>
            </a:r>
            <a:endParaRPr lang="en-IN" sz="1800" dirty="0" smtClean="0"/>
          </a:p>
          <a:p>
            <a:pPr marL="0" indent="0">
              <a:buNone/>
            </a:pPr>
            <a:r>
              <a:rPr lang="en-IN" sz="1800" dirty="0" smtClean="0"/>
              <a:t>It </a:t>
            </a:r>
            <a:r>
              <a:rPr lang="en-IN" sz="1800" dirty="0"/>
              <a:t>can be defined as an ordered list that is used to hold the elements which are about to be processed. </a:t>
            </a:r>
            <a:endParaRPr lang="en-IN" sz="1800" dirty="0" smtClean="0"/>
          </a:p>
          <a:p>
            <a:pPr marL="0" indent="0">
              <a:buNone/>
            </a:pPr>
            <a:r>
              <a:rPr lang="en-IN" sz="1800" dirty="0" smtClean="0"/>
              <a:t>There </a:t>
            </a:r>
            <a:r>
              <a:rPr lang="en-IN" sz="1800" dirty="0"/>
              <a:t>are various classes like </a:t>
            </a:r>
            <a:r>
              <a:rPr lang="en-IN" sz="1800" dirty="0" smtClean="0"/>
              <a:t>PriorityQueue </a:t>
            </a:r>
            <a:r>
              <a:rPr lang="en-IN" sz="1800" dirty="0"/>
              <a:t>and </a:t>
            </a:r>
            <a:r>
              <a:rPr lang="en-IN" sz="1800" dirty="0" err="1"/>
              <a:t>ArrayDeque</a:t>
            </a:r>
            <a:r>
              <a:rPr lang="en-IN" sz="1800" dirty="0"/>
              <a:t> which implements the Queue interface.</a:t>
            </a:r>
          </a:p>
          <a:p>
            <a:pPr marL="0" indent="0">
              <a:buNone/>
            </a:pPr>
            <a:r>
              <a:rPr lang="en-IN" sz="1800" dirty="0" smtClean="0"/>
              <a:t>Queue </a:t>
            </a:r>
            <a:r>
              <a:rPr lang="en-IN" sz="1800" dirty="0"/>
              <a:t>interface can be instantiated as</a:t>
            </a:r>
            <a:r>
              <a:rPr lang="en-IN" sz="1800" dirty="0" smtClean="0"/>
              <a:t>:</a:t>
            </a:r>
            <a:endParaRPr lang="en-IN" sz="1800" dirty="0"/>
          </a:p>
          <a:p>
            <a:pPr marL="0" indent="0">
              <a:buNone/>
            </a:pPr>
            <a:r>
              <a:rPr lang="en-IN" sz="1800" dirty="0"/>
              <a:t>Queue&lt;String&gt; q1 = new PriorityQueue();  </a:t>
            </a:r>
          </a:p>
          <a:p>
            <a:pPr marL="0" indent="0">
              <a:buNone/>
            </a:pPr>
            <a:r>
              <a:rPr lang="en-IN" sz="1800" dirty="0"/>
              <a:t>Queue&lt;String&gt; q2 = new </a:t>
            </a:r>
            <a:r>
              <a:rPr lang="en-IN" sz="1800" dirty="0" err="1"/>
              <a:t>ArrayDeque</a:t>
            </a:r>
            <a:r>
              <a:rPr lang="en-IN" sz="1800" dirty="0"/>
              <a:t>(); </a:t>
            </a:r>
            <a:endParaRPr lang="en-IN" sz="1800" dirty="0" smtClean="0"/>
          </a:p>
          <a:p>
            <a:pPr marL="0" indent="0">
              <a:buNone/>
            </a:pPr>
            <a:r>
              <a:rPr lang="en-IN" sz="1800" b="1" dirty="0" smtClean="0"/>
              <a:t>PriorityQueue</a:t>
            </a:r>
            <a:endParaRPr lang="en-IN" sz="1800" b="1" dirty="0"/>
          </a:p>
          <a:p>
            <a:pPr marL="0" indent="0">
              <a:buNone/>
            </a:pPr>
            <a:r>
              <a:rPr lang="en-IN" sz="1800" dirty="0"/>
              <a:t>The PriorityQueue class implements the Queue interface. </a:t>
            </a:r>
            <a:endParaRPr lang="en-IN" sz="1800" dirty="0" smtClean="0"/>
          </a:p>
          <a:p>
            <a:pPr marL="0" indent="0">
              <a:buNone/>
            </a:pPr>
            <a:r>
              <a:rPr lang="en-IN" sz="1800" dirty="0" smtClean="0"/>
              <a:t>It </a:t>
            </a:r>
            <a:r>
              <a:rPr lang="en-IN" sz="1800" dirty="0"/>
              <a:t>holds the elements or objects which are to be processed by their priorities. </a:t>
            </a:r>
            <a:endParaRPr lang="en-IN" sz="1800" dirty="0" smtClean="0"/>
          </a:p>
          <a:p>
            <a:pPr marL="0" indent="0">
              <a:buNone/>
            </a:pPr>
            <a:r>
              <a:rPr lang="en-IN" sz="1800" dirty="0" smtClean="0"/>
              <a:t>PriorityQueue </a:t>
            </a:r>
            <a:r>
              <a:rPr lang="en-IN" sz="1800" dirty="0"/>
              <a:t>doesn't allow null values to be stored in the queue</a:t>
            </a:r>
            <a:r>
              <a:rPr lang="en-IN" sz="1800" dirty="0" smtClean="0"/>
              <a:t>.</a:t>
            </a:r>
          </a:p>
          <a:p>
            <a:pPr marL="0" indent="0">
              <a:buNone/>
            </a:pPr>
            <a:r>
              <a:rPr lang="en-IN" sz="1800" b="1" dirty="0" err="1"/>
              <a:t>Deque</a:t>
            </a:r>
            <a:r>
              <a:rPr lang="en-IN" sz="1800" b="1" dirty="0"/>
              <a:t> Interface</a:t>
            </a:r>
          </a:p>
          <a:p>
            <a:pPr marL="0" indent="0">
              <a:buNone/>
            </a:pPr>
            <a:r>
              <a:rPr lang="en-IN" sz="1800" dirty="0" err="1"/>
              <a:t>Deque</a:t>
            </a:r>
            <a:r>
              <a:rPr lang="en-IN" sz="1800" dirty="0"/>
              <a:t> interface extends the Queue interface. In </a:t>
            </a:r>
            <a:r>
              <a:rPr lang="en-IN" sz="1800" dirty="0" err="1"/>
              <a:t>Deque</a:t>
            </a:r>
            <a:r>
              <a:rPr lang="en-IN" sz="1800" dirty="0"/>
              <a:t>, we can remove and add the elements from both the side. </a:t>
            </a:r>
            <a:endParaRPr lang="en-IN" sz="1800" dirty="0" smtClean="0"/>
          </a:p>
          <a:p>
            <a:pPr marL="0" indent="0">
              <a:buNone/>
            </a:pPr>
            <a:r>
              <a:rPr lang="en-IN" sz="1800" dirty="0" err="1" smtClean="0"/>
              <a:t>Deque</a:t>
            </a:r>
            <a:r>
              <a:rPr lang="en-IN" sz="1800" dirty="0" smtClean="0"/>
              <a:t> </a:t>
            </a:r>
            <a:r>
              <a:rPr lang="en-IN" sz="1800" dirty="0"/>
              <a:t>stands for a double-ended queue which enables us to perform the operations at both the ends.</a:t>
            </a:r>
          </a:p>
          <a:p>
            <a:pPr marL="0" indent="0">
              <a:buNone/>
            </a:pPr>
            <a:r>
              <a:rPr lang="en-IN" sz="1800" dirty="0" err="1" smtClean="0"/>
              <a:t>Deque</a:t>
            </a:r>
            <a:r>
              <a:rPr lang="en-IN" sz="1800" dirty="0" smtClean="0"/>
              <a:t> </a:t>
            </a:r>
            <a:r>
              <a:rPr lang="en-IN" sz="1800" dirty="0"/>
              <a:t>can be instantiated </a:t>
            </a:r>
            <a:r>
              <a:rPr lang="en-IN" sz="1800" dirty="0" smtClean="0"/>
              <a:t>as: </a:t>
            </a:r>
            <a:r>
              <a:rPr lang="en-IN" sz="1800" dirty="0" err="1" smtClean="0"/>
              <a:t>Deque</a:t>
            </a:r>
            <a:r>
              <a:rPr lang="en-IN" sz="1800" dirty="0" smtClean="0"/>
              <a:t> </a:t>
            </a:r>
            <a:r>
              <a:rPr lang="en-IN" sz="1800" dirty="0"/>
              <a:t>d = new </a:t>
            </a:r>
            <a:r>
              <a:rPr lang="en-IN" sz="1800" dirty="0" err="1"/>
              <a:t>ArrayDeque</a:t>
            </a:r>
            <a:r>
              <a:rPr lang="en-IN" sz="1800" dirty="0"/>
              <a:t>(); </a:t>
            </a:r>
            <a:endParaRPr lang="en-IN" sz="1800" dirty="0" smtClean="0"/>
          </a:p>
          <a:p>
            <a:pPr marL="0" indent="0">
              <a:buNone/>
            </a:pPr>
            <a:endParaRPr lang="en-IN" sz="1800" dirty="0"/>
          </a:p>
        </p:txBody>
      </p:sp>
      <p:sp>
        <p:nvSpPr>
          <p:cNvPr id="4" name="TextBox 3"/>
          <p:cNvSpPr txBox="1"/>
          <p:nvPr/>
        </p:nvSpPr>
        <p:spPr>
          <a:xfrm>
            <a:off x="6157915" y="0"/>
            <a:ext cx="6024130" cy="923330"/>
          </a:xfrm>
          <a:prstGeom prst="rect">
            <a:avLst/>
          </a:prstGeom>
          <a:noFill/>
        </p:spPr>
        <p:txBody>
          <a:bodyPr wrap="square" rtlCol="0">
            <a:spAutoFit/>
          </a:bodyPr>
          <a:lstStyle/>
          <a:p>
            <a:endParaRPr lang="en-US" dirty="0" smtClean="0"/>
          </a:p>
          <a:p>
            <a:endParaRPr lang="en-IN" dirty="0"/>
          </a:p>
          <a:p>
            <a:endParaRPr lang="en-IN" dirty="0"/>
          </a:p>
        </p:txBody>
      </p:sp>
      <p:pic>
        <p:nvPicPr>
          <p:cNvPr id="1026" name="Picture 2" descr="Hierarchy of Java Collection frame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5864" y="197265"/>
            <a:ext cx="5645150" cy="6343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191336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Java-Collections-Queue</a:t>
            </a:r>
            <a:endParaRPr lang="en-US" dirty="0"/>
          </a:p>
        </p:txBody>
      </p:sp>
      <p:sp>
        <p:nvSpPr>
          <p:cNvPr id="3" name="Content Placeholder 2"/>
          <p:cNvSpPr>
            <a:spLocks noGrp="1"/>
          </p:cNvSpPr>
          <p:nvPr>
            <p:ph sz="half" idx="1"/>
          </p:nvPr>
        </p:nvSpPr>
        <p:spPr>
          <a:xfrm>
            <a:off x="134816" y="394530"/>
            <a:ext cx="6400017" cy="6343895"/>
          </a:xfrm>
        </p:spPr>
        <p:txBody>
          <a:bodyPr>
            <a:noAutofit/>
          </a:bodyPr>
          <a:lstStyle/>
          <a:p>
            <a:pPr marL="0" indent="0">
              <a:buNone/>
            </a:pPr>
            <a:r>
              <a:rPr lang="en-IN" sz="1800" b="1" dirty="0" err="1"/>
              <a:t>ArrayDeque</a:t>
            </a:r>
            <a:endParaRPr lang="en-IN" sz="1800" b="1" dirty="0"/>
          </a:p>
          <a:p>
            <a:pPr marL="0" indent="0">
              <a:buNone/>
            </a:pPr>
            <a:r>
              <a:rPr lang="en-IN" sz="1800" dirty="0" err="1"/>
              <a:t>ArrayDeque</a:t>
            </a:r>
            <a:r>
              <a:rPr lang="en-IN" sz="1800" dirty="0"/>
              <a:t> class implements the </a:t>
            </a:r>
            <a:r>
              <a:rPr lang="en-IN" sz="1800" dirty="0" err="1"/>
              <a:t>Deque</a:t>
            </a:r>
            <a:r>
              <a:rPr lang="en-IN" sz="1800" dirty="0"/>
              <a:t> interface. </a:t>
            </a:r>
            <a:endParaRPr lang="en-IN" sz="1800" dirty="0" smtClean="0"/>
          </a:p>
          <a:p>
            <a:pPr marL="0" indent="0">
              <a:buNone/>
            </a:pPr>
            <a:r>
              <a:rPr lang="en-IN" sz="1800" dirty="0" smtClean="0"/>
              <a:t>It </a:t>
            </a:r>
            <a:r>
              <a:rPr lang="en-IN" sz="1800" dirty="0"/>
              <a:t>facilitates us to use the </a:t>
            </a:r>
            <a:r>
              <a:rPr lang="en-IN" sz="1800" dirty="0" err="1"/>
              <a:t>Deque</a:t>
            </a:r>
            <a:r>
              <a:rPr lang="en-IN" sz="1800" dirty="0"/>
              <a:t>. </a:t>
            </a:r>
            <a:endParaRPr lang="en-IN" sz="1800" dirty="0" smtClean="0"/>
          </a:p>
          <a:p>
            <a:pPr marL="0" indent="0">
              <a:buNone/>
            </a:pPr>
            <a:r>
              <a:rPr lang="en-IN" sz="1800" dirty="0" smtClean="0"/>
              <a:t>Unlike </a:t>
            </a:r>
            <a:r>
              <a:rPr lang="en-IN" sz="1800" dirty="0"/>
              <a:t>queue, we can add or delete the elements from both the ends.</a:t>
            </a:r>
          </a:p>
          <a:p>
            <a:pPr marL="0" indent="0">
              <a:buNone/>
            </a:pPr>
            <a:r>
              <a:rPr lang="en-IN" sz="1800" dirty="0" err="1" smtClean="0"/>
              <a:t>ArrayDeque</a:t>
            </a:r>
            <a:r>
              <a:rPr lang="en-IN" sz="1800" dirty="0" smtClean="0"/>
              <a:t> </a:t>
            </a:r>
            <a:r>
              <a:rPr lang="en-IN" sz="1800" dirty="0"/>
              <a:t>is faster than ArrayList and Stack and has no capacity restrictions</a:t>
            </a:r>
            <a:r>
              <a:rPr lang="en-IN" sz="1800" dirty="0" smtClean="0"/>
              <a:t>.</a:t>
            </a:r>
          </a:p>
          <a:p>
            <a:pPr marL="0" indent="0">
              <a:buNone/>
            </a:pPr>
            <a:r>
              <a:rPr lang="en-IN" sz="1800" b="1" dirty="0"/>
              <a:t>Set Interface</a:t>
            </a:r>
          </a:p>
          <a:p>
            <a:pPr marL="0" indent="0">
              <a:buNone/>
            </a:pPr>
            <a:r>
              <a:rPr lang="en-IN" sz="1800" dirty="0"/>
              <a:t>Set Interface in Java is present in </a:t>
            </a:r>
            <a:r>
              <a:rPr lang="en-IN" sz="1800" dirty="0" err="1"/>
              <a:t>java.util</a:t>
            </a:r>
            <a:r>
              <a:rPr lang="en-IN" sz="1800" dirty="0"/>
              <a:t> package. </a:t>
            </a:r>
            <a:endParaRPr lang="en-IN" sz="1800" dirty="0" smtClean="0"/>
          </a:p>
          <a:p>
            <a:pPr marL="0" indent="0">
              <a:buNone/>
            </a:pPr>
            <a:r>
              <a:rPr lang="en-IN" sz="1800" dirty="0" smtClean="0"/>
              <a:t>It </a:t>
            </a:r>
            <a:r>
              <a:rPr lang="en-IN" sz="1800" dirty="0"/>
              <a:t>extends the Collection interface. It represents the unordered set of elements which doesn't allow us to store the duplicate items. We can store at most one null value in Set. </a:t>
            </a:r>
            <a:endParaRPr lang="en-IN" sz="1800" dirty="0" smtClean="0"/>
          </a:p>
          <a:p>
            <a:pPr marL="0" indent="0">
              <a:buNone/>
            </a:pPr>
            <a:r>
              <a:rPr lang="en-IN" sz="1800" dirty="0" smtClean="0"/>
              <a:t>Set </a:t>
            </a:r>
            <a:r>
              <a:rPr lang="en-IN" sz="1800" dirty="0"/>
              <a:t>is implemented by </a:t>
            </a:r>
            <a:r>
              <a:rPr lang="en-IN" sz="1800" dirty="0" err="1"/>
              <a:t>HashSet</a:t>
            </a:r>
            <a:r>
              <a:rPr lang="en-IN" sz="1800" dirty="0"/>
              <a:t>, </a:t>
            </a:r>
            <a:r>
              <a:rPr lang="en-IN" sz="1800" dirty="0" err="1"/>
              <a:t>LinkedHashSet</a:t>
            </a:r>
            <a:r>
              <a:rPr lang="en-IN" sz="1800" dirty="0"/>
              <a:t>, and </a:t>
            </a:r>
            <a:r>
              <a:rPr lang="en-IN" sz="1800" dirty="0" err="1"/>
              <a:t>TreeSet</a:t>
            </a:r>
            <a:r>
              <a:rPr lang="en-IN" sz="1800" dirty="0" smtClean="0"/>
              <a:t>.</a:t>
            </a:r>
          </a:p>
          <a:p>
            <a:pPr marL="0" indent="0">
              <a:buNone/>
            </a:pPr>
            <a:r>
              <a:rPr lang="en-IN" sz="1800" dirty="0"/>
              <a:t>Set&lt;data-type&gt; s1 = new </a:t>
            </a:r>
            <a:r>
              <a:rPr lang="en-IN" sz="1800" dirty="0" err="1"/>
              <a:t>HashSet</a:t>
            </a:r>
            <a:r>
              <a:rPr lang="en-IN" sz="1800" dirty="0"/>
              <a:t>&lt;data-type&gt;();  </a:t>
            </a:r>
          </a:p>
          <a:p>
            <a:pPr marL="0" indent="0">
              <a:buNone/>
            </a:pPr>
            <a:r>
              <a:rPr lang="en-IN" sz="1800" dirty="0"/>
              <a:t>Set&lt;data-type&gt; s2 = new </a:t>
            </a:r>
            <a:r>
              <a:rPr lang="en-IN" sz="1800" dirty="0" err="1"/>
              <a:t>LinkedHashSet</a:t>
            </a:r>
            <a:r>
              <a:rPr lang="en-IN" sz="1800" dirty="0"/>
              <a:t>&lt;data-type&gt;();  </a:t>
            </a:r>
          </a:p>
          <a:p>
            <a:pPr marL="0" indent="0">
              <a:buNone/>
            </a:pPr>
            <a:r>
              <a:rPr lang="en-IN" sz="1800" dirty="0"/>
              <a:t>Set&lt;data-type&gt; s3 = new </a:t>
            </a:r>
            <a:r>
              <a:rPr lang="en-IN" sz="1800" dirty="0" err="1"/>
              <a:t>TreeSet</a:t>
            </a:r>
            <a:r>
              <a:rPr lang="en-IN" sz="1800" dirty="0"/>
              <a:t>&lt;data-type&gt;(); </a:t>
            </a:r>
            <a:endParaRPr lang="en-IN" sz="1800" dirty="0" smtClean="0"/>
          </a:p>
        </p:txBody>
      </p:sp>
      <p:sp>
        <p:nvSpPr>
          <p:cNvPr id="4" name="TextBox 3"/>
          <p:cNvSpPr txBox="1"/>
          <p:nvPr/>
        </p:nvSpPr>
        <p:spPr>
          <a:xfrm>
            <a:off x="6157915" y="0"/>
            <a:ext cx="6024130" cy="923330"/>
          </a:xfrm>
          <a:prstGeom prst="rect">
            <a:avLst/>
          </a:prstGeom>
          <a:noFill/>
        </p:spPr>
        <p:txBody>
          <a:bodyPr wrap="square" rtlCol="0">
            <a:spAutoFit/>
          </a:bodyPr>
          <a:lstStyle/>
          <a:p>
            <a:endParaRPr lang="en-US" dirty="0" smtClean="0"/>
          </a:p>
          <a:p>
            <a:endParaRPr lang="en-IN" dirty="0"/>
          </a:p>
          <a:p>
            <a:endParaRPr lang="en-IN" dirty="0"/>
          </a:p>
        </p:txBody>
      </p:sp>
      <p:sp>
        <p:nvSpPr>
          <p:cNvPr id="5" name="TextBox 4"/>
          <p:cNvSpPr txBox="1"/>
          <p:nvPr/>
        </p:nvSpPr>
        <p:spPr>
          <a:xfrm>
            <a:off x="6715125" y="394530"/>
            <a:ext cx="5286375" cy="4801314"/>
          </a:xfrm>
          <a:prstGeom prst="rect">
            <a:avLst/>
          </a:prstGeom>
          <a:noFill/>
        </p:spPr>
        <p:txBody>
          <a:bodyPr wrap="square" rtlCol="0">
            <a:spAutoFit/>
          </a:bodyPr>
          <a:lstStyle/>
          <a:p>
            <a:pPr algn="just"/>
            <a:r>
              <a:rPr lang="en-IN" b="1" dirty="0" err="1" smtClean="0"/>
              <a:t>HashSet</a:t>
            </a:r>
            <a:endParaRPr lang="en-IN" b="1" dirty="0" smtClean="0"/>
          </a:p>
          <a:p>
            <a:pPr algn="just"/>
            <a:endParaRPr lang="en-IN" b="1" dirty="0"/>
          </a:p>
          <a:p>
            <a:pPr algn="just"/>
            <a:r>
              <a:rPr lang="en-IN" dirty="0" err="1"/>
              <a:t>HashSet</a:t>
            </a:r>
            <a:r>
              <a:rPr lang="en-IN" dirty="0"/>
              <a:t> class implements Set Interface. </a:t>
            </a:r>
            <a:endParaRPr lang="en-IN" dirty="0" smtClean="0"/>
          </a:p>
          <a:p>
            <a:pPr algn="just"/>
            <a:r>
              <a:rPr lang="en-IN" dirty="0" smtClean="0"/>
              <a:t>It </a:t>
            </a:r>
            <a:r>
              <a:rPr lang="en-IN" dirty="0"/>
              <a:t>represents the collection that uses a hash table for storage. </a:t>
            </a:r>
            <a:endParaRPr lang="en-IN" dirty="0" smtClean="0"/>
          </a:p>
          <a:p>
            <a:pPr algn="just"/>
            <a:r>
              <a:rPr lang="en-IN" dirty="0" smtClean="0"/>
              <a:t>Hashing </a:t>
            </a:r>
            <a:r>
              <a:rPr lang="en-IN" dirty="0"/>
              <a:t>is used to store the elements in the </a:t>
            </a:r>
            <a:r>
              <a:rPr lang="en-IN" dirty="0" err="1"/>
              <a:t>HashSet</a:t>
            </a:r>
            <a:r>
              <a:rPr lang="en-IN" dirty="0"/>
              <a:t>. It contains unique items</a:t>
            </a:r>
            <a:r>
              <a:rPr lang="en-IN" dirty="0" smtClean="0"/>
              <a:t>.</a:t>
            </a:r>
          </a:p>
          <a:p>
            <a:pPr algn="just"/>
            <a:r>
              <a:rPr lang="en-IN" b="1" dirty="0" err="1" smtClean="0"/>
              <a:t>LinkedHashSet</a:t>
            </a:r>
            <a:endParaRPr lang="en-IN" b="1" dirty="0" smtClean="0"/>
          </a:p>
          <a:p>
            <a:pPr algn="just"/>
            <a:endParaRPr lang="en-IN" b="1" dirty="0"/>
          </a:p>
          <a:p>
            <a:pPr algn="just"/>
            <a:r>
              <a:rPr lang="en-IN" dirty="0" err="1"/>
              <a:t>LinkedHashSet</a:t>
            </a:r>
            <a:r>
              <a:rPr lang="en-IN" dirty="0"/>
              <a:t> class represents the LinkedList implementation of Set Interface</a:t>
            </a:r>
            <a:r>
              <a:rPr lang="en-IN" dirty="0" smtClean="0"/>
              <a:t>.</a:t>
            </a:r>
          </a:p>
          <a:p>
            <a:pPr algn="just"/>
            <a:r>
              <a:rPr lang="en-IN" dirty="0" smtClean="0"/>
              <a:t> </a:t>
            </a:r>
            <a:r>
              <a:rPr lang="en-IN" dirty="0"/>
              <a:t>It extends the </a:t>
            </a:r>
            <a:r>
              <a:rPr lang="en-IN" dirty="0" err="1"/>
              <a:t>HashSet</a:t>
            </a:r>
            <a:r>
              <a:rPr lang="en-IN" dirty="0"/>
              <a:t> class and implements Set interface. </a:t>
            </a:r>
            <a:endParaRPr lang="en-IN" dirty="0" smtClean="0"/>
          </a:p>
          <a:p>
            <a:pPr algn="just"/>
            <a:r>
              <a:rPr lang="en-IN" dirty="0" smtClean="0"/>
              <a:t>Like </a:t>
            </a:r>
            <a:r>
              <a:rPr lang="en-IN" dirty="0" err="1"/>
              <a:t>HashSet</a:t>
            </a:r>
            <a:r>
              <a:rPr lang="en-IN" dirty="0"/>
              <a:t>, It also contains unique elements. </a:t>
            </a:r>
            <a:endParaRPr lang="en-IN" dirty="0" smtClean="0"/>
          </a:p>
          <a:p>
            <a:pPr algn="just"/>
            <a:r>
              <a:rPr lang="en-IN" dirty="0" smtClean="0"/>
              <a:t>It </a:t>
            </a:r>
            <a:r>
              <a:rPr lang="en-IN" dirty="0"/>
              <a:t>maintains the insertion order and permits null elements</a:t>
            </a:r>
            <a:r>
              <a:rPr lang="en-IN" dirty="0" smtClean="0"/>
              <a:t>.</a:t>
            </a:r>
          </a:p>
          <a:p>
            <a:pPr algn="just"/>
            <a:endParaRPr lang="en-IN" dirty="0"/>
          </a:p>
        </p:txBody>
      </p:sp>
    </p:spTree>
    <p:extLst>
      <p:ext uri="{BB962C8B-B14F-4D97-AF65-F5344CB8AC3E}">
        <p14:creationId xmlns:p14="http://schemas.microsoft.com/office/powerpoint/2010/main" val="119171773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Java-Collections-Queue</a:t>
            </a:r>
            <a:endParaRPr lang="en-US" dirty="0"/>
          </a:p>
        </p:txBody>
      </p:sp>
      <p:sp>
        <p:nvSpPr>
          <p:cNvPr id="3" name="Content Placeholder 2"/>
          <p:cNvSpPr>
            <a:spLocks noGrp="1"/>
          </p:cNvSpPr>
          <p:nvPr>
            <p:ph sz="half" idx="1"/>
          </p:nvPr>
        </p:nvSpPr>
        <p:spPr>
          <a:xfrm>
            <a:off x="134817" y="394530"/>
            <a:ext cx="5022972" cy="6343895"/>
          </a:xfrm>
        </p:spPr>
        <p:txBody>
          <a:bodyPr>
            <a:noAutofit/>
          </a:bodyPr>
          <a:lstStyle/>
          <a:p>
            <a:pPr marL="0" indent="0">
              <a:buNone/>
            </a:pPr>
            <a:r>
              <a:rPr lang="en-IN" sz="1800" b="1" dirty="0" err="1"/>
              <a:t>SortedSet</a:t>
            </a:r>
            <a:r>
              <a:rPr lang="en-IN" sz="1800" b="1" dirty="0"/>
              <a:t> Interface</a:t>
            </a:r>
          </a:p>
          <a:p>
            <a:pPr marL="0" indent="0" algn="just">
              <a:buNone/>
            </a:pPr>
            <a:r>
              <a:rPr lang="en-IN" sz="1800" dirty="0" err="1"/>
              <a:t>SortedSet</a:t>
            </a:r>
            <a:r>
              <a:rPr lang="en-IN" sz="1800" dirty="0"/>
              <a:t> is the alternate of Set interface that provides a total ordering on its elements. </a:t>
            </a:r>
            <a:endParaRPr lang="en-IN" sz="1800" dirty="0" smtClean="0"/>
          </a:p>
          <a:p>
            <a:pPr marL="0" indent="0" algn="just">
              <a:buNone/>
            </a:pPr>
            <a:r>
              <a:rPr lang="en-IN" sz="1800" dirty="0" smtClean="0"/>
              <a:t>The </a:t>
            </a:r>
            <a:r>
              <a:rPr lang="en-IN" sz="1800" dirty="0"/>
              <a:t>elements of the </a:t>
            </a:r>
            <a:r>
              <a:rPr lang="en-IN" sz="1800" dirty="0" err="1"/>
              <a:t>SortedSet</a:t>
            </a:r>
            <a:r>
              <a:rPr lang="en-IN" sz="1800" dirty="0"/>
              <a:t> are arranged in the increasing (ascending) order. </a:t>
            </a:r>
            <a:endParaRPr lang="en-IN" sz="1800" dirty="0" smtClean="0"/>
          </a:p>
          <a:p>
            <a:pPr marL="0" indent="0" algn="just">
              <a:buNone/>
            </a:pPr>
            <a:r>
              <a:rPr lang="en-IN" sz="1800" dirty="0" smtClean="0"/>
              <a:t>The </a:t>
            </a:r>
            <a:r>
              <a:rPr lang="en-IN" sz="1800" dirty="0" err="1"/>
              <a:t>SortedSet</a:t>
            </a:r>
            <a:r>
              <a:rPr lang="en-IN" sz="1800" dirty="0"/>
              <a:t> provides the additional methods that inhibit the natural ordering of the elements.</a:t>
            </a:r>
          </a:p>
          <a:p>
            <a:pPr marL="0" indent="0">
              <a:buNone/>
            </a:pPr>
            <a:r>
              <a:rPr lang="en-IN" sz="1800" dirty="0" smtClean="0"/>
              <a:t>The </a:t>
            </a:r>
            <a:r>
              <a:rPr lang="en-IN" sz="1800" dirty="0" err="1"/>
              <a:t>SortedSet</a:t>
            </a:r>
            <a:r>
              <a:rPr lang="en-IN" sz="1800" dirty="0"/>
              <a:t> can be instantiated as:</a:t>
            </a:r>
          </a:p>
          <a:p>
            <a:pPr marL="0" indent="0">
              <a:buNone/>
            </a:pPr>
            <a:r>
              <a:rPr lang="en-IN" sz="1800" b="1" dirty="0" err="1" smtClean="0"/>
              <a:t>SortedSet</a:t>
            </a:r>
            <a:r>
              <a:rPr lang="en-IN" sz="1800" b="1" dirty="0" smtClean="0"/>
              <a:t>&lt;data-type</a:t>
            </a:r>
            <a:r>
              <a:rPr lang="en-IN" sz="1800" b="1" dirty="0"/>
              <a:t>&gt; set = new </a:t>
            </a:r>
            <a:r>
              <a:rPr lang="en-IN" sz="1800" b="1" dirty="0" err="1"/>
              <a:t>TreeSet</a:t>
            </a:r>
            <a:r>
              <a:rPr lang="en-IN" sz="1800" b="1" dirty="0"/>
              <a:t>();  </a:t>
            </a:r>
          </a:p>
          <a:p>
            <a:pPr marL="0" indent="0">
              <a:buNone/>
            </a:pPr>
            <a:r>
              <a:rPr lang="en-IN" sz="1800" b="1" dirty="0" err="1"/>
              <a:t>TreeSet</a:t>
            </a:r>
            <a:endParaRPr lang="en-IN" sz="1800" b="1" dirty="0"/>
          </a:p>
          <a:p>
            <a:pPr marL="0" indent="0">
              <a:buNone/>
            </a:pPr>
            <a:r>
              <a:rPr lang="en-IN" sz="1800" dirty="0"/>
              <a:t>Java </a:t>
            </a:r>
            <a:r>
              <a:rPr lang="en-IN" sz="1800" dirty="0" err="1"/>
              <a:t>TreeSet</a:t>
            </a:r>
            <a:r>
              <a:rPr lang="en-IN" sz="1800" dirty="0"/>
              <a:t> class implements the Set interface that uses a tree for storage. </a:t>
            </a:r>
            <a:endParaRPr lang="en-IN" sz="1800" dirty="0" smtClean="0"/>
          </a:p>
          <a:p>
            <a:pPr marL="0" indent="0">
              <a:buNone/>
            </a:pPr>
            <a:r>
              <a:rPr lang="en-IN" sz="1800" dirty="0" smtClean="0"/>
              <a:t>Like </a:t>
            </a:r>
            <a:r>
              <a:rPr lang="en-IN" sz="1800" dirty="0" err="1"/>
              <a:t>HashSet</a:t>
            </a:r>
            <a:r>
              <a:rPr lang="en-IN" sz="1800" dirty="0"/>
              <a:t>, </a:t>
            </a:r>
            <a:r>
              <a:rPr lang="en-IN" sz="1800" dirty="0" err="1"/>
              <a:t>TreeSet</a:t>
            </a:r>
            <a:r>
              <a:rPr lang="en-IN" sz="1800" dirty="0"/>
              <a:t> also contains unique elements</a:t>
            </a:r>
            <a:r>
              <a:rPr lang="en-IN" sz="1800" dirty="0" smtClean="0"/>
              <a:t>.</a:t>
            </a:r>
          </a:p>
          <a:p>
            <a:pPr marL="0" indent="0">
              <a:buNone/>
            </a:pPr>
            <a:r>
              <a:rPr lang="en-IN" sz="1800" dirty="0" smtClean="0"/>
              <a:t>However</a:t>
            </a:r>
            <a:r>
              <a:rPr lang="en-IN" sz="1800" dirty="0"/>
              <a:t>, the access and retrieval time of </a:t>
            </a:r>
            <a:r>
              <a:rPr lang="en-IN" sz="1800" dirty="0" err="1"/>
              <a:t>TreeSet</a:t>
            </a:r>
            <a:r>
              <a:rPr lang="en-IN" sz="1800" dirty="0"/>
              <a:t> is quite fast</a:t>
            </a:r>
            <a:r>
              <a:rPr lang="en-IN" sz="1800" dirty="0" smtClean="0"/>
              <a:t>.</a:t>
            </a:r>
          </a:p>
          <a:p>
            <a:pPr marL="0" indent="0">
              <a:buNone/>
            </a:pPr>
            <a:r>
              <a:rPr lang="en-IN" sz="1800" dirty="0" smtClean="0"/>
              <a:t> </a:t>
            </a:r>
            <a:r>
              <a:rPr lang="en-IN" sz="1800" dirty="0"/>
              <a:t>The elements in </a:t>
            </a:r>
            <a:r>
              <a:rPr lang="en-IN" sz="1800" dirty="0" err="1"/>
              <a:t>TreeSet</a:t>
            </a:r>
            <a:r>
              <a:rPr lang="en-IN" sz="1800" dirty="0"/>
              <a:t> stored in ascending order.</a:t>
            </a:r>
            <a:endParaRPr lang="en-IN" sz="1800" dirty="0" smtClean="0"/>
          </a:p>
        </p:txBody>
      </p:sp>
      <p:sp>
        <p:nvSpPr>
          <p:cNvPr id="4" name="TextBox 3"/>
          <p:cNvSpPr txBox="1"/>
          <p:nvPr/>
        </p:nvSpPr>
        <p:spPr>
          <a:xfrm>
            <a:off x="6157915" y="0"/>
            <a:ext cx="6024130" cy="923330"/>
          </a:xfrm>
          <a:prstGeom prst="rect">
            <a:avLst/>
          </a:prstGeom>
          <a:noFill/>
        </p:spPr>
        <p:txBody>
          <a:bodyPr wrap="square" rtlCol="0">
            <a:spAutoFit/>
          </a:bodyPr>
          <a:lstStyle/>
          <a:p>
            <a:endParaRPr lang="en-US" dirty="0" smtClean="0"/>
          </a:p>
          <a:p>
            <a:endParaRPr lang="en-IN" dirty="0"/>
          </a:p>
          <a:p>
            <a:endParaRPr lang="en-IN" dirty="0"/>
          </a:p>
        </p:txBody>
      </p:sp>
      <p:sp>
        <p:nvSpPr>
          <p:cNvPr id="5" name="TextBox 4"/>
          <p:cNvSpPr txBox="1"/>
          <p:nvPr/>
        </p:nvSpPr>
        <p:spPr>
          <a:xfrm>
            <a:off x="5672139" y="0"/>
            <a:ext cx="6329488" cy="7294305"/>
          </a:xfrm>
          <a:prstGeom prst="rect">
            <a:avLst/>
          </a:prstGeom>
          <a:noFill/>
        </p:spPr>
        <p:txBody>
          <a:bodyPr wrap="square" rtlCol="0">
            <a:spAutoFit/>
          </a:bodyPr>
          <a:lstStyle/>
          <a:p>
            <a:pPr algn="just"/>
            <a:r>
              <a:rPr lang="en-IN" b="1" dirty="0" err="1" smtClean="0"/>
              <a:t>HashMap</a:t>
            </a:r>
            <a:r>
              <a:rPr lang="en-IN" dirty="0" smtClean="0"/>
              <a:t> </a:t>
            </a:r>
            <a:r>
              <a:rPr lang="en-IN" dirty="0"/>
              <a:t>class implements the Map interface which allows us to store key and value pair, where keys should be unique. </a:t>
            </a:r>
            <a:endParaRPr lang="en-IN" dirty="0" smtClean="0"/>
          </a:p>
          <a:p>
            <a:pPr algn="just"/>
            <a:r>
              <a:rPr lang="en-IN" dirty="0" smtClean="0"/>
              <a:t>If </a:t>
            </a:r>
            <a:r>
              <a:rPr lang="en-IN" dirty="0"/>
              <a:t>you try to insert the duplicate key, it will replace the element of the corresponding key</a:t>
            </a:r>
            <a:r>
              <a:rPr lang="en-IN" dirty="0" smtClean="0"/>
              <a:t>.</a:t>
            </a:r>
          </a:p>
          <a:p>
            <a:pPr algn="just"/>
            <a:r>
              <a:rPr lang="en-IN" dirty="0" smtClean="0"/>
              <a:t> </a:t>
            </a:r>
            <a:r>
              <a:rPr lang="en-IN" dirty="0"/>
              <a:t>It is easy to perform operations using the key index like </a:t>
            </a:r>
            <a:r>
              <a:rPr lang="en-IN" dirty="0" err="1"/>
              <a:t>updation</a:t>
            </a:r>
            <a:r>
              <a:rPr lang="en-IN" dirty="0"/>
              <a:t>, deletion, etc. </a:t>
            </a:r>
            <a:r>
              <a:rPr lang="en-IN" dirty="0" err="1"/>
              <a:t>HashMap</a:t>
            </a:r>
            <a:r>
              <a:rPr lang="en-IN" dirty="0"/>
              <a:t> class is found in the </a:t>
            </a:r>
            <a:r>
              <a:rPr lang="en-IN" dirty="0" err="1"/>
              <a:t>java.util</a:t>
            </a:r>
            <a:r>
              <a:rPr lang="en-IN" dirty="0"/>
              <a:t> package.</a:t>
            </a:r>
          </a:p>
          <a:p>
            <a:pPr algn="just"/>
            <a:endParaRPr lang="en-IN" dirty="0"/>
          </a:p>
          <a:p>
            <a:pPr algn="just"/>
            <a:r>
              <a:rPr lang="en-IN" dirty="0" err="1"/>
              <a:t>HashMap</a:t>
            </a:r>
            <a:r>
              <a:rPr lang="en-IN" dirty="0"/>
              <a:t> in Java is like the legacy </a:t>
            </a:r>
            <a:r>
              <a:rPr lang="en-IN" dirty="0" err="1"/>
              <a:t>Hashtable</a:t>
            </a:r>
            <a:r>
              <a:rPr lang="en-IN" dirty="0"/>
              <a:t> class, but it is not synchronized. It allows us to store the null elements as well, but there should be only one null key. </a:t>
            </a:r>
            <a:endParaRPr lang="en-IN" dirty="0" smtClean="0"/>
          </a:p>
          <a:p>
            <a:pPr algn="just"/>
            <a:r>
              <a:rPr lang="en-IN" dirty="0" smtClean="0"/>
              <a:t>Since </a:t>
            </a:r>
            <a:r>
              <a:rPr lang="en-IN" dirty="0"/>
              <a:t>Java 5, it is denoted as </a:t>
            </a:r>
            <a:r>
              <a:rPr lang="en-IN" dirty="0" err="1"/>
              <a:t>HashMap</a:t>
            </a:r>
            <a:r>
              <a:rPr lang="en-IN" dirty="0"/>
              <a:t>&lt;K,V&gt;, where K stands for key and V for value. It inherits the </a:t>
            </a:r>
            <a:r>
              <a:rPr lang="en-IN" dirty="0" err="1"/>
              <a:t>AbstractMap</a:t>
            </a:r>
            <a:r>
              <a:rPr lang="en-IN" dirty="0"/>
              <a:t> class and implements the Map interface</a:t>
            </a:r>
            <a:r>
              <a:rPr lang="en-IN" dirty="0" smtClean="0"/>
              <a:t>.</a:t>
            </a:r>
          </a:p>
          <a:p>
            <a:r>
              <a:rPr lang="en-IN" b="1" dirty="0" err="1" smtClean="0"/>
              <a:t>Hashtable</a:t>
            </a:r>
            <a:r>
              <a:rPr lang="en-IN" dirty="0" smtClean="0"/>
              <a:t> </a:t>
            </a:r>
            <a:r>
              <a:rPr lang="en-IN" dirty="0"/>
              <a:t>class implements a </a:t>
            </a:r>
            <a:r>
              <a:rPr lang="en-IN" dirty="0" err="1"/>
              <a:t>hashtable</a:t>
            </a:r>
            <a:r>
              <a:rPr lang="en-IN" dirty="0"/>
              <a:t>, which maps keys to values. </a:t>
            </a:r>
            <a:endParaRPr lang="en-IN" dirty="0" smtClean="0"/>
          </a:p>
          <a:p>
            <a:r>
              <a:rPr lang="en-IN" dirty="0" smtClean="0"/>
              <a:t>It </a:t>
            </a:r>
            <a:r>
              <a:rPr lang="en-IN" dirty="0"/>
              <a:t>inherits Dictionary class and implements the Map interface</a:t>
            </a:r>
            <a:r>
              <a:rPr lang="en-IN" dirty="0" smtClean="0"/>
              <a:t>.</a:t>
            </a:r>
          </a:p>
          <a:p>
            <a:r>
              <a:rPr lang="en-IN" dirty="0" smtClean="0"/>
              <a:t>A </a:t>
            </a:r>
            <a:r>
              <a:rPr lang="en-IN" dirty="0" err="1"/>
              <a:t>Hashtable</a:t>
            </a:r>
            <a:r>
              <a:rPr lang="en-IN" dirty="0"/>
              <a:t> is an array of a list. Each list is known as a bucket. The position of the bucket is identified by calling the </a:t>
            </a:r>
            <a:r>
              <a:rPr lang="en-IN" dirty="0" err="1"/>
              <a:t>hashcode</a:t>
            </a:r>
            <a:r>
              <a:rPr lang="en-IN" dirty="0"/>
              <a:t>() method. </a:t>
            </a:r>
            <a:endParaRPr lang="en-IN" dirty="0" smtClean="0"/>
          </a:p>
          <a:p>
            <a:r>
              <a:rPr lang="en-IN" dirty="0" smtClean="0"/>
              <a:t>A </a:t>
            </a:r>
            <a:r>
              <a:rPr lang="en-IN" dirty="0" err="1"/>
              <a:t>Hashtable</a:t>
            </a:r>
            <a:r>
              <a:rPr lang="en-IN" dirty="0"/>
              <a:t> contains values based on the key.</a:t>
            </a:r>
          </a:p>
          <a:p>
            <a:r>
              <a:rPr lang="en-IN" dirty="0"/>
              <a:t>Java </a:t>
            </a:r>
            <a:r>
              <a:rPr lang="en-IN" dirty="0" err="1"/>
              <a:t>Hashtable</a:t>
            </a:r>
            <a:r>
              <a:rPr lang="en-IN" dirty="0"/>
              <a:t> class contains unique elements.</a:t>
            </a:r>
          </a:p>
          <a:p>
            <a:r>
              <a:rPr lang="en-IN" dirty="0"/>
              <a:t>Java </a:t>
            </a:r>
            <a:r>
              <a:rPr lang="en-IN" dirty="0" err="1"/>
              <a:t>Hashtable</a:t>
            </a:r>
            <a:r>
              <a:rPr lang="en-IN" dirty="0"/>
              <a:t> class doesn't allow null key or value.</a:t>
            </a:r>
          </a:p>
          <a:p>
            <a:r>
              <a:rPr lang="en-IN" dirty="0"/>
              <a:t>Java </a:t>
            </a:r>
            <a:r>
              <a:rPr lang="en-IN" dirty="0" err="1"/>
              <a:t>Hashtable</a:t>
            </a:r>
            <a:r>
              <a:rPr lang="en-IN" dirty="0"/>
              <a:t> class is synchronized.</a:t>
            </a:r>
          </a:p>
          <a:p>
            <a:r>
              <a:rPr lang="en-IN" dirty="0"/>
              <a:t>The initial default capacity of </a:t>
            </a:r>
            <a:r>
              <a:rPr lang="en-IN" dirty="0" err="1"/>
              <a:t>Hashtable</a:t>
            </a:r>
            <a:r>
              <a:rPr lang="en-IN" dirty="0"/>
              <a:t> class is 11</a:t>
            </a:r>
          </a:p>
          <a:p>
            <a:pPr algn="just"/>
            <a:endParaRPr lang="en-IN" dirty="0"/>
          </a:p>
        </p:txBody>
      </p:sp>
    </p:spTree>
    <p:extLst>
      <p:ext uri="{BB962C8B-B14F-4D97-AF65-F5344CB8AC3E}">
        <p14:creationId xmlns:p14="http://schemas.microsoft.com/office/powerpoint/2010/main" val="145581849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10515600" cy="394530"/>
          </a:xfrm>
        </p:spPr>
        <p:txBody>
          <a:bodyPr>
            <a:normAutofit fontScale="90000"/>
          </a:bodyPr>
          <a:lstStyle/>
          <a:p>
            <a:r>
              <a:rPr lang="en-US" dirty="0" smtClean="0"/>
              <a:t>Java-Collections-Queue</a:t>
            </a:r>
            <a:endParaRPr lang="en-US" dirty="0"/>
          </a:p>
        </p:txBody>
      </p:sp>
      <p:sp>
        <p:nvSpPr>
          <p:cNvPr id="3" name="Content Placeholder 2"/>
          <p:cNvSpPr>
            <a:spLocks noGrp="1"/>
          </p:cNvSpPr>
          <p:nvPr>
            <p:ph sz="half" idx="1"/>
          </p:nvPr>
        </p:nvSpPr>
        <p:spPr>
          <a:xfrm>
            <a:off x="134817" y="394530"/>
            <a:ext cx="5022972" cy="6343895"/>
          </a:xfrm>
        </p:spPr>
        <p:txBody>
          <a:bodyPr>
            <a:noAutofit/>
          </a:bodyPr>
          <a:lstStyle/>
          <a:p>
            <a:pPr marL="0" indent="0">
              <a:lnSpc>
                <a:spcPct val="100000"/>
              </a:lnSpc>
              <a:spcBef>
                <a:spcPts val="0"/>
              </a:spcBef>
              <a:buNone/>
            </a:pPr>
            <a:r>
              <a:rPr lang="en-IN" sz="1800" dirty="0"/>
              <a:t>class </a:t>
            </a:r>
            <a:r>
              <a:rPr lang="en-IN" sz="1800" dirty="0" err="1"/>
              <a:t>CollectionDemo</a:t>
            </a:r>
            <a:r>
              <a:rPr lang="en-IN" sz="1800" dirty="0"/>
              <a:t> {</a:t>
            </a:r>
          </a:p>
          <a:p>
            <a:pPr marL="0" indent="0">
              <a:lnSpc>
                <a:spcPct val="100000"/>
              </a:lnSpc>
              <a:spcBef>
                <a:spcPts val="0"/>
              </a:spcBef>
              <a:buNone/>
            </a:pPr>
            <a:endParaRPr lang="en-IN" sz="1800" dirty="0"/>
          </a:p>
          <a:p>
            <a:pPr marL="0" indent="0">
              <a:lnSpc>
                <a:spcPct val="100000"/>
              </a:lnSpc>
              <a:spcBef>
                <a:spcPts val="0"/>
              </a:spcBef>
              <a:buNone/>
            </a:pPr>
            <a:r>
              <a:rPr lang="en-IN" sz="1800" dirty="0"/>
              <a:t>	public static void main(String[] </a:t>
            </a:r>
            <a:r>
              <a:rPr lang="en-IN" sz="1800" dirty="0" err="1"/>
              <a:t>args</a:t>
            </a:r>
            <a:r>
              <a:rPr lang="en-IN" sz="1800" dirty="0"/>
              <a:t>)</a:t>
            </a:r>
          </a:p>
          <a:p>
            <a:pPr marL="0" indent="0">
              <a:lnSpc>
                <a:spcPct val="100000"/>
              </a:lnSpc>
              <a:spcBef>
                <a:spcPts val="0"/>
              </a:spcBef>
              <a:buNone/>
            </a:pPr>
            <a:r>
              <a:rPr lang="en-IN" sz="1800" dirty="0"/>
              <a:t>	{</a:t>
            </a:r>
          </a:p>
          <a:p>
            <a:pPr marL="0" indent="0">
              <a:lnSpc>
                <a:spcPct val="100000"/>
              </a:lnSpc>
              <a:spcBef>
                <a:spcPts val="0"/>
              </a:spcBef>
              <a:buNone/>
            </a:pPr>
            <a:r>
              <a:rPr lang="en-IN" sz="1800" dirty="0"/>
              <a:t>	</a:t>
            </a:r>
          </a:p>
          <a:p>
            <a:pPr marL="0" indent="0">
              <a:lnSpc>
                <a:spcPct val="100000"/>
              </a:lnSpc>
              <a:spcBef>
                <a:spcPts val="0"/>
              </a:spcBef>
              <a:buNone/>
            </a:pPr>
            <a:r>
              <a:rPr lang="en-IN" sz="1800" dirty="0"/>
              <a:t>	</a:t>
            </a:r>
            <a:r>
              <a:rPr lang="en-IN" sz="1800" dirty="0" err="1" smtClean="0"/>
              <a:t>int</a:t>
            </a:r>
            <a:r>
              <a:rPr lang="en-IN" sz="1800" dirty="0" smtClean="0"/>
              <a:t> </a:t>
            </a:r>
            <a:r>
              <a:rPr lang="en-IN" sz="1800" dirty="0" err="1"/>
              <a:t>arr</a:t>
            </a:r>
            <a:r>
              <a:rPr lang="en-IN" sz="1800" dirty="0"/>
              <a:t>[] = new </a:t>
            </a:r>
            <a:r>
              <a:rPr lang="en-IN" sz="1800" dirty="0" err="1"/>
              <a:t>int</a:t>
            </a:r>
            <a:r>
              <a:rPr lang="en-IN" sz="1800" dirty="0"/>
              <a:t>[] { 1, 2, 3, 4 };</a:t>
            </a:r>
          </a:p>
          <a:p>
            <a:pPr marL="0" indent="0">
              <a:lnSpc>
                <a:spcPct val="100000"/>
              </a:lnSpc>
              <a:spcBef>
                <a:spcPts val="0"/>
              </a:spcBef>
              <a:buNone/>
            </a:pPr>
            <a:r>
              <a:rPr lang="en-IN" sz="1800" dirty="0"/>
              <a:t>	</a:t>
            </a:r>
            <a:r>
              <a:rPr lang="en-IN" sz="1800" dirty="0" smtClean="0"/>
              <a:t>Vector&lt;Integer</a:t>
            </a:r>
            <a:r>
              <a:rPr lang="en-IN" sz="1800" dirty="0"/>
              <a:t>&gt; v = new Vector();</a:t>
            </a:r>
          </a:p>
          <a:p>
            <a:pPr marL="0" indent="0">
              <a:lnSpc>
                <a:spcPct val="100000"/>
              </a:lnSpc>
              <a:spcBef>
                <a:spcPts val="0"/>
              </a:spcBef>
              <a:buNone/>
            </a:pPr>
            <a:r>
              <a:rPr lang="en-IN" sz="1800" dirty="0"/>
              <a:t>	</a:t>
            </a:r>
            <a:r>
              <a:rPr lang="en-IN" sz="1800" dirty="0" err="1" smtClean="0"/>
              <a:t>Hashtable</a:t>
            </a:r>
            <a:r>
              <a:rPr lang="en-IN" sz="1800" dirty="0" smtClean="0"/>
              <a:t>&lt;Integer</a:t>
            </a:r>
            <a:r>
              <a:rPr lang="en-IN" sz="1800" dirty="0"/>
              <a:t>, String&gt; h = new </a:t>
            </a:r>
            <a:r>
              <a:rPr lang="en-IN" sz="1800" dirty="0" err="1"/>
              <a:t>Hashtable</a:t>
            </a:r>
            <a:r>
              <a:rPr lang="en-IN" sz="1800" dirty="0"/>
              <a:t>();</a:t>
            </a:r>
          </a:p>
          <a:p>
            <a:pPr marL="0" indent="0">
              <a:lnSpc>
                <a:spcPct val="100000"/>
              </a:lnSpc>
              <a:spcBef>
                <a:spcPts val="0"/>
              </a:spcBef>
              <a:buNone/>
            </a:pPr>
            <a:endParaRPr lang="en-IN" sz="1800" dirty="0"/>
          </a:p>
          <a:p>
            <a:pPr marL="0" indent="0">
              <a:lnSpc>
                <a:spcPct val="100000"/>
              </a:lnSpc>
              <a:spcBef>
                <a:spcPts val="0"/>
              </a:spcBef>
              <a:buNone/>
            </a:pPr>
            <a:r>
              <a:rPr lang="en-IN" sz="1800" dirty="0"/>
              <a:t>		</a:t>
            </a:r>
            <a:r>
              <a:rPr lang="en-IN" sz="1800" dirty="0" err="1"/>
              <a:t>v.addElement</a:t>
            </a:r>
            <a:r>
              <a:rPr lang="en-IN" sz="1800" dirty="0"/>
              <a:t>(1);</a:t>
            </a:r>
          </a:p>
          <a:p>
            <a:pPr marL="0" indent="0">
              <a:lnSpc>
                <a:spcPct val="100000"/>
              </a:lnSpc>
              <a:spcBef>
                <a:spcPts val="0"/>
              </a:spcBef>
              <a:buNone/>
            </a:pPr>
            <a:r>
              <a:rPr lang="en-IN" sz="1800" dirty="0"/>
              <a:t>		</a:t>
            </a:r>
            <a:r>
              <a:rPr lang="en-IN" sz="1800" dirty="0" err="1"/>
              <a:t>v.addElement</a:t>
            </a:r>
            <a:r>
              <a:rPr lang="en-IN" sz="1800" dirty="0"/>
              <a:t>(2);</a:t>
            </a:r>
          </a:p>
          <a:p>
            <a:pPr marL="0" indent="0">
              <a:lnSpc>
                <a:spcPct val="100000"/>
              </a:lnSpc>
              <a:spcBef>
                <a:spcPts val="0"/>
              </a:spcBef>
              <a:buNone/>
            </a:pPr>
            <a:endParaRPr lang="en-IN" sz="1800" dirty="0"/>
          </a:p>
          <a:p>
            <a:pPr marL="0" indent="0">
              <a:lnSpc>
                <a:spcPct val="100000"/>
              </a:lnSpc>
              <a:spcBef>
                <a:spcPts val="0"/>
              </a:spcBef>
              <a:buNone/>
            </a:pPr>
            <a:r>
              <a:rPr lang="en-IN" sz="1800" dirty="0"/>
              <a:t>		</a:t>
            </a:r>
            <a:r>
              <a:rPr lang="en-IN" sz="1800" dirty="0" err="1"/>
              <a:t>h.put</a:t>
            </a:r>
            <a:r>
              <a:rPr lang="en-IN" sz="1800" dirty="0"/>
              <a:t>(1, "IT </a:t>
            </a:r>
            <a:r>
              <a:rPr lang="en-IN" sz="1800" dirty="0" err="1"/>
              <a:t>dept</a:t>
            </a:r>
            <a:r>
              <a:rPr lang="en-IN" sz="1800" dirty="0"/>
              <a:t>");</a:t>
            </a:r>
          </a:p>
          <a:p>
            <a:pPr marL="0" indent="0">
              <a:lnSpc>
                <a:spcPct val="100000"/>
              </a:lnSpc>
              <a:spcBef>
                <a:spcPts val="0"/>
              </a:spcBef>
              <a:buNone/>
            </a:pPr>
            <a:r>
              <a:rPr lang="en-IN" sz="1800" dirty="0"/>
              <a:t>		</a:t>
            </a:r>
            <a:r>
              <a:rPr lang="en-IN" sz="1800" dirty="0" err="1"/>
              <a:t>h.put</a:t>
            </a:r>
            <a:r>
              <a:rPr lang="en-IN" sz="1800" dirty="0"/>
              <a:t>(2, "welcome");</a:t>
            </a:r>
          </a:p>
          <a:p>
            <a:pPr marL="0" indent="0">
              <a:lnSpc>
                <a:spcPct val="100000"/>
              </a:lnSpc>
              <a:spcBef>
                <a:spcPts val="0"/>
              </a:spcBef>
              <a:buNone/>
            </a:pPr>
            <a:endParaRPr lang="en-IN" sz="1800" dirty="0"/>
          </a:p>
          <a:p>
            <a:pPr marL="0" indent="0">
              <a:lnSpc>
                <a:spcPct val="100000"/>
              </a:lnSpc>
              <a:spcBef>
                <a:spcPts val="0"/>
              </a:spcBef>
              <a:buNone/>
            </a:pPr>
            <a:r>
              <a:rPr lang="en-IN" sz="1800" dirty="0"/>
              <a:t>		</a:t>
            </a:r>
            <a:r>
              <a:rPr lang="en-IN" sz="1800" dirty="0" err="1"/>
              <a:t>System.out.println</a:t>
            </a:r>
            <a:r>
              <a:rPr lang="en-IN" sz="1800" dirty="0"/>
              <a:t>(</a:t>
            </a:r>
            <a:r>
              <a:rPr lang="en-IN" sz="1800" dirty="0" err="1"/>
              <a:t>arr</a:t>
            </a:r>
            <a:r>
              <a:rPr lang="en-IN" sz="1800" dirty="0"/>
              <a:t>[0]);</a:t>
            </a:r>
          </a:p>
          <a:p>
            <a:pPr marL="0" indent="0">
              <a:lnSpc>
                <a:spcPct val="100000"/>
              </a:lnSpc>
              <a:spcBef>
                <a:spcPts val="0"/>
              </a:spcBef>
              <a:buNone/>
            </a:pPr>
            <a:r>
              <a:rPr lang="en-IN" sz="1800" dirty="0"/>
              <a:t>		</a:t>
            </a:r>
            <a:r>
              <a:rPr lang="en-IN" sz="1800" dirty="0" err="1"/>
              <a:t>System.out.println</a:t>
            </a:r>
            <a:r>
              <a:rPr lang="en-IN" sz="1800" dirty="0"/>
              <a:t>(</a:t>
            </a:r>
            <a:r>
              <a:rPr lang="en-IN" sz="1800" dirty="0" err="1"/>
              <a:t>v.elementAt</a:t>
            </a:r>
            <a:r>
              <a:rPr lang="en-IN" sz="1800" dirty="0"/>
              <a:t>(0));</a:t>
            </a:r>
          </a:p>
          <a:p>
            <a:pPr marL="0" indent="0">
              <a:lnSpc>
                <a:spcPct val="100000"/>
              </a:lnSpc>
              <a:spcBef>
                <a:spcPts val="0"/>
              </a:spcBef>
              <a:buNone/>
            </a:pPr>
            <a:r>
              <a:rPr lang="en-IN" sz="1800" dirty="0"/>
              <a:t>		</a:t>
            </a:r>
            <a:r>
              <a:rPr lang="en-IN" sz="1800" dirty="0" err="1"/>
              <a:t>System.out.println</a:t>
            </a:r>
            <a:r>
              <a:rPr lang="en-IN" sz="1800" dirty="0"/>
              <a:t>(</a:t>
            </a:r>
            <a:r>
              <a:rPr lang="en-IN" sz="1800" dirty="0" err="1"/>
              <a:t>h.get</a:t>
            </a:r>
            <a:r>
              <a:rPr lang="en-IN" sz="1800" dirty="0"/>
              <a:t>(1</a:t>
            </a:r>
            <a:r>
              <a:rPr lang="en-IN" sz="1800" dirty="0" smtClean="0"/>
              <a:t>));</a:t>
            </a:r>
            <a:r>
              <a:rPr lang="en-IN" sz="1800" dirty="0"/>
              <a:t>	</a:t>
            </a:r>
          </a:p>
          <a:p>
            <a:pPr marL="0" indent="0">
              <a:lnSpc>
                <a:spcPct val="100000"/>
              </a:lnSpc>
              <a:spcBef>
                <a:spcPts val="0"/>
              </a:spcBef>
              <a:buNone/>
            </a:pPr>
            <a:r>
              <a:rPr lang="en-IN" sz="1800" dirty="0"/>
              <a:t>	}</a:t>
            </a:r>
          </a:p>
          <a:p>
            <a:pPr marL="0" indent="0">
              <a:lnSpc>
                <a:spcPct val="100000"/>
              </a:lnSpc>
              <a:spcBef>
                <a:spcPts val="0"/>
              </a:spcBef>
              <a:buNone/>
            </a:pPr>
            <a:r>
              <a:rPr lang="en-IN" sz="1800" dirty="0"/>
              <a:t>}</a:t>
            </a:r>
            <a:endParaRPr lang="en-IN" sz="1800" dirty="0" smtClean="0"/>
          </a:p>
        </p:txBody>
      </p:sp>
      <p:sp>
        <p:nvSpPr>
          <p:cNvPr id="4" name="TextBox 3"/>
          <p:cNvSpPr txBox="1"/>
          <p:nvPr/>
        </p:nvSpPr>
        <p:spPr>
          <a:xfrm>
            <a:off x="6157915" y="0"/>
            <a:ext cx="6024130" cy="923330"/>
          </a:xfrm>
          <a:prstGeom prst="rect">
            <a:avLst/>
          </a:prstGeom>
          <a:noFill/>
        </p:spPr>
        <p:txBody>
          <a:bodyPr wrap="square" rtlCol="0">
            <a:spAutoFit/>
          </a:bodyPr>
          <a:lstStyle/>
          <a:p>
            <a:endParaRPr lang="en-US" dirty="0" smtClean="0"/>
          </a:p>
          <a:p>
            <a:endParaRPr lang="en-IN" dirty="0"/>
          </a:p>
          <a:p>
            <a:endParaRPr lang="en-IN" dirty="0"/>
          </a:p>
        </p:txBody>
      </p:sp>
      <p:pic>
        <p:nvPicPr>
          <p:cNvPr id="6" name="Picture 5"/>
          <p:cNvPicPr>
            <a:picLocks noChangeAspect="1"/>
          </p:cNvPicPr>
          <p:nvPr/>
        </p:nvPicPr>
        <p:blipFill>
          <a:blip r:embed="rId2"/>
          <a:stretch>
            <a:fillRect/>
          </a:stretch>
        </p:blipFill>
        <p:spPr>
          <a:xfrm>
            <a:off x="6157915" y="2166302"/>
            <a:ext cx="5557668" cy="1405573"/>
          </a:xfrm>
          <a:prstGeom prst="rect">
            <a:avLst/>
          </a:prstGeom>
        </p:spPr>
      </p:pic>
    </p:spTree>
    <p:extLst>
      <p:ext uri="{BB962C8B-B14F-4D97-AF65-F5344CB8AC3E}">
        <p14:creationId xmlns:p14="http://schemas.microsoft.com/office/powerpoint/2010/main" val="1779139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70526190A9D354ABAE5C4993AB91C3D" ma:contentTypeVersion="3" ma:contentTypeDescription="Create a new document." ma:contentTypeScope="" ma:versionID="eb6121235e628436244a47a5921cae66">
  <xsd:schema xmlns:xsd="http://www.w3.org/2001/XMLSchema" xmlns:xs="http://www.w3.org/2001/XMLSchema" xmlns:p="http://schemas.microsoft.com/office/2006/metadata/properties" xmlns:ns2="3b18218c-2a64-4339-8673-e6bef8ec8134" targetNamespace="http://schemas.microsoft.com/office/2006/metadata/properties" ma:root="true" ma:fieldsID="070aa6ae51c18259f89c556a4060e67e" ns2:_="">
    <xsd:import namespace="3b18218c-2a64-4339-8673-e6bef8ec8134"/>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18218c-2a64-4339-8673-e6bef8ec81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9EE541A-51E5-41A1-86A9-F5FC30B615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18218c-2a64-4339-8673-e6bef8ec81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AD4B6F9-BAF5-420D-9080-E788358C6CCD}">
  <ds:schemaRefs>
    <ds:schemaRef ds:uri="http://schemas.openxmlformats.org/package/2006/metadata/core-properties"/>
    <ds:schemaRef ds:uri="http://purl.org/dc/elements/1.1/"/>
    <ds:schemaRef ds:uri="http://schemas.microsoft.com/office/2006/documentManagement/types"/>
    <ds:schemaRef ds:uri="3b18218c-2a64-4339-8673-e6bef8ec8134"/>
    <ds:schemaRef ds:uri="http://schemas.microsoft.com/office/infopath/2007/PartnerControls"/>
    <ds:schemaRef ds:uri="http://purl.org/dc/term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9251A45C-9F2A-4824-A8F6-B4F1C4C9F2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5122</TotalTime>
  <Words>10287</Words>
  <Application>Microsoft Office PowerPoint</Application>
  <PresentationFormat>Widescreen</PresentationFormat>
  <Paragraphs>2000</Paragraphs>
  <Slides>80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80</vt:i4>
      </vt:variant>
    </vt:vector>
  </HeadingPairs>
  <TitlesOfParts>
    <vt:vector size="89" baseType="lpstr">
      <vt:lpstr>Arial</vt:lpstr>
      <vt:lpstr>Arial Unicode MS</vt:lpstr>
      <vt:lpstr>Calibri</vt:lpstr>
      <vt:lpstr>Calibri Light</vt:lpstr>
      <vt:lpstr>inter-bold</vt:lpstr>
      <vt:lpstr>inter-regular</vt:lpstr>
      <vt:lpstr>Times New Roman</vt:lpstr>
      <vt:lpstr>Wingdings</vt:lpstr>
      <vt:lpstr>Office Theme</vt:lpstr>
      <vt:lpstr>Web Technologies</vt:lpstr>
      <vt:lpstr>History of Java</vt:lpstr>
      <vt:lpstr>History of Java</vt:lpstr>
      <vt:lpstr>History of Java</vt:lpstr>
      <vt:lpstr>History of Java</vt:lpstr>
      <vt:lpstr>History of Java</vt:lpstr>
      <vt:lpstr>Applications</vt:lpstr>
      <vt:lpstr>Introduction to Java</vt:lpstr>
      <vt:lpstr>Introduction to Java</vt:lpstr>
      <vt:lpstr>PowerPoint Presentation</vt:lpstr>
      <vt:lpstr>PowerPoint Presentation</vt:lpstr>
      <vt:lpstr>Introduction to Java</vt:lpstr>
      <vt:lpstr>Introduction to Java</vt:lpstr>
      <vt:lpstr>Introduction to Java</vt:lpstr>
      <vt:lpstr>Introduction to Java</vt:lpstr>
      <vt:lpstr>Introduction to Java</vt:lpstr>
      <vt:lpstr>Introduction to Java</vt:lpstr>
      <vt:lpstr>Introduction to Java</vt:lpstr>
      <vt:lpstr>Introduction to Java</vt:lpstr>
      <vt:lpstr>Introduction to Java-Variables</vt:lpstr>
      <vt:lpstr>1. Scanner Class (Most Common) </vt:lpstr>
      <vt:lpstr>2. BufferedReader Class</vt:lpstr>
      <vt:lpstr>3. Console Class</vt:lpstr>
      <vt:lpstr>Introduction to Java-Variables</vt:lpstr>
      <vt:lpstr>Introduction to Java-Variables</vt:lpstr>
      <vt:lpstr>Introduction to Java-Variables</vt:lpstr>
      <vt:lpstr>Introduction to Java</vt:lpstr>
      <vt:lpstr>Operators in Java</vt:lpstr>
      <vt:lpstr>Introduction to Java</vt:lpstr>
      <vt:lpstr>Introduction to Java</vt:lpstr>
      <vt:lpstr>Introduction to Java</vt:lpstr>
      <vt:lpstr>Introduction to Java-Class and Object</vt:lpstr>
      <vt:lpstr>Introduction to Java-Class and Object</vt:lpstr>
      <vt:lpstr>Introduction to Java-Class and Object</vt:lpstr>
      <vt:lpstr>Java-Arrays</vt:lpstr>
      <vt:lpstr>Java-Arrays</vt:lpstr>
      <vt:lpstr>Java-Arrays</vt:lpstr>
      <vt:lpstr>Java-Arrays</vt:lpstr>
      <vt:lpstr>Java-Arrays</vt:lpstr>
      <vt:lpstr>Java-Arrays</vt:lpstr>
      <vt:lpstr>Java-Arrays</vt:lpstr>
      <vt:lpstr>Java-Methods</vt:lpstr>
      <vt:lpstr>Java-Methods</vt:lpstr>
      <vt:lpstr>Java-Constructors</vt:lpstr>
      <vt:lpstr>Java-Constructors</vt:lpstr>
      <vt:lpstr>Java-Constructors</vt:lpstr>
      <vt:lpstr>Java-Constructors</vt:lpstr>
      <vt:lpstr>Java-Constructors</vt:lpstr>
      <vt:lpstr>Java-this keyword</vt:lpstr>
      <vt:lpstr>Java-this keyword</vt:lpstr>
      <vt:lpstr>Java-this keyword</vt:lpstr>
      <vt:lpstr>Java-this keyword</vt:lpstr>
      <vt:lpstr>this keyword</vt:lpstr>
      <vt:lpstr>Why Call the Default Constructor Inside a Parameterized Constructor?</vt:lpstr>
      <vt:lpstr>Why Call a Parameterized Constructor from the Default Constructor?</vt:lpstr>
      <vt:lpstr>Array of Objects</vt:lpstr>
      <vt:lpstr>Java-Static Keyword</vt:lpstr>
      <vt:lpstr>Java-Static Keyword</vt:lpstr>
      <vt:lpstr>Java-Static Keyword</vt:lpstr>
      <vt:lpstr>A supermarket application needs to calculate the total bill by applying GST (Goods and Services Tax) or other common charges across all bills, but the tax rate is fixed and the logic doesn't depend on any specific customer's data.</vt:lpstr>
      <vt:lpstr>Java-Static Keyword</vt:lpstr>
      <vt:lpstr>Java-Method Overloading</vt:lpstr>
      <vt:lpstr>Java-Method Overloading</vt:lpstr>
      <vt:lpstr>Java-Method Overloading-Type Promotion</vt:lpstr>
      <vt:lpstr>Java-Method Overloading-Type Promotion</vt:lpstr>
      <vt:lpstr>Java-String</vt:lpstr>
      <vt:lpstr>Java-String</vt:lpstr>
      <vt:lpstr>Java-String</vt:lpstr>
      <vt:lpstr>Java-StringBuffer Class</vt:lpstr>
      <vt:lpstr>Java-StringBuilder Class</vt:lpstr>
      <vt:lpstr>Java-Collections</vt:lpstr>
      <vt:lpstr>Java-Collections</vt:lpstr>
      <vt:lpstr>Java-Collections</vt:lpstr>
      <vt:lpstr>Java-Collections</vt:lpstr>
      <vt:lpstr>Java-Collections-ArrayList</vt:lpstr>
      <vt:lpstr>Java-Collections-ArrayList</vt:lpstr>
      <vt:lpstr>Java-Collections-Queue</vt:lpstr>
      <vt:lpstr>Java-Collections-Queue</vt:lpstr>
      <vt:lpstr>Java-Collections-Queue</vt:lpstr>
      <vt:lpstr>Java-Collections-Queue</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dc:title>
  <dc:creator>Sherley</dc:creator>
  <cp:lastModifiedBy>admin</cp:lastModifiedBy>
  <cp:revision>244</cp:revision>
  <dcterms:created xsi:type="dcterms:W3CDTF">2021-09-01T14:41:24Z</dcterms:created>
  <dcterms:modified xsi:type="dcterms:W3CDTF">2026-07-01T06:55:19Z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0x010100770526190A9D354ABAE5C4993AB91C3D</vt:lpwstr>
  </property>
</Properties>
</file>